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sldIdLst>
    <p:sldId id="256" r:id="rId2"/>
    <p:sldId id="257" r:id="rId3"/>
    <p:sldId id="278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0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886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06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03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43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8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07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182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8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1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676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4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F5C168F-622A-477D-97B4-A89A95A9C3DB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6BC2A-9AFC-4AAC-BC57-F9148408033B}" type="slidenum">
              <a:rPr lang="ru-RU" smtClean="0"/>
              <a:t>‹#›</a:t>
            </a:fld>
            <a:endParaRPr lang="ru-RU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921948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://class-fizika.ru/10_12.html" TargetMode="External"/><Relationship Id="rId3" Type="http://schemas.openxmlformats.org/officeDocument/2006/relationships/hyperlink" Target="https://vk.com/@gc_titan-mineraly-kremnii" TargetMode="External"/><Relationship Id="rId7" Type="http://schemas.openxmlformats.org/officeDocument/2006/relationships/hyperlink" Target="https://interneturok.ru/lesson/physics/10-klass/elektricheskiy-tok-v-razlichnyh-sredah/elektricheskiy-tok-v-gazah" TargetMode="External"/><Relationship Id="rId2" Type="http://schemas.openxmlformats.org/officeDocument/2006/relationships/hyperlink" Target="https://physics.ru/courses/op25part2/content/chapter1/section/paragraph13/theory.html#.Y_GptXZByU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rofil.adu.by/mod/book/view.php?id=3239&amp;chapterid=9391" TargetMode="External"/><Relationship Id="rId5" Type="http://schemas.openxmlformats.org/officeDocument/2006/relationships/hyperlink" Target="https://obrazovaka.ru/fizika/elektricheskiy-tok-v-gazah-kratko.html" TargetMode="External"/><Relationship Id="rId4" Type="http://schemas.openxmlformats.org/officeDocument/2006/relationships/hyperlink" Target="http://profil.adu.by/mod/book/view.php?id=3239&amp;chapterid=939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000" dirty="0">
                <a:solidFill>
                  <a:srgbClr val="E1E3E6"/>
                </a:solidFill>
                <a:latin typeface="-apple-system"/>
              </a:rPr>
              <a:t>Электрический ток</a:t>
            </a:r>
            <a:r>
              <a:rPr lang="en-US" sz="4000" dirty="0">
                <a:solidFill>
                  <a:srgbClr val="E1E3E6"/>
                </a:solidFill>
                <a:latin typeface="-apple-system"/>
              </a:rPr>
              <a:t> </a:t>
            </a:r>
            <a:r>
              <a:rPr lang="ru-RU" sz="4000" dirty="0">
                <a:solidFill>
                  <a:srgbClr val="E1E3E6"/>
                </a:solidFill>
                <a:latin typeface="-apple-system"/>
              </a:rPr>
              <a:t>в полупроводниках, газах и жидкостях.</a:t>
            </a:r>
            <a:endParaRPr lang="ru-RU" sz="4000" dirty="0"/>
          </a:p>
        </p:txBody>
      </p:sp>
      <p:sp>
        <p:nvSpPr>
          <p:cNvPr id="4" name="TextBox 3"/>
          <p:cNvSpPr txBox="1"/>
          <p:nvPr/>
        </p:nvSpPr>
        <p:spPr>
          <a:xfrm>
            <a:off x="2523392" y="272562"/>
            <a:ext cx="4758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Ульяновский Авиационный колледж - МЦК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055250" y="5811715"/>
            <a:ext cx="3074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Выполнил: _____________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562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661747" y="1885285"/>
            <a:ext cx="6344044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smtClean="0"/>
              <a:t>Титульный лист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Содержание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Содержание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Электрический ток в </a:t>
            </a:r>
            <a:r>
              <a:rPr lang="ru-RU" dirty="0" smtClean="0"/>
              <a:t>полупроводниках</a:t>
            </a:r>
          </a:p>
          <a:p>
            <a:pPr marL="800100" lvl="1" indent="-342900">
              <a:buFont typeface="+mj-lt"/>
              <a:buAutoNum type="arabicPeriod" startAt="5"/>
            </a:pPr>
            <a:r>
              <a:rPr lang="ru-RU" dirty="0"/>
              <a:t>Отличие полупроводников от металлов </a:t>
            </a:r>
            <a:endParaRPr lang="ru-RU" dirty="0" smtClean="0"/>
          </a:p>
          <a:p>
            <a:pPr marL="800100" lvl="1" indent="-342900">
              <a:buFont typeface="+mj-lt"/>
              <a:buAutoNum type="arabicPeriod" startAt="5"/>
            </a:pPr>
            <a:r>
              <a:rPr lang="ru-RU" dirty="0"/>
              <a:t>Свободные электроны, дырки, </a:t>
            </a:r>
            <a:r>
              <a:rPr lang="ru-RU" dirty="0" smtClean="0"/>
              <a:t>рекомбинация</a:t>
            </a:r>
          </a:p>
          <a:p>
            <a:pPr marL="800100" lvl="1" indent="-342900">
              <a:buFont typeface="+mj-lt"/>
              <a:buAutoNum type="arabicPeriod" startAt="5"/>
            </a:pPr>
            <a:r>
              <a:rPr lang="ru-RU" dirty="0"/>
              <a:t>Примесная </a:t>
            </a:r>
            <a:r>
              <a:rPr lang="ru-RU" dirty="0" smtClean="0"/>
              <a:t>проводимость</a:t>
            </a:r>
          </a:p>
          <a:p>
            <a:pPr marL="800100" lvl="1" indent="-342900">
              <a:buFont typeface="+mj-lt"/>
              <a:buAutoNum type="arabicPeriod" startAt="5"/>
            </a:pPr>
            <a:r>
              <a:rPr lang="ru-RU" dirty="0"/>
              <a:t>Электронная </a:t>
            </a:r>
            <a:r>
              <a:rPr lang="ru-RU" dirty="0" smtClean="0"/>
              <a:t>проводимость</a:t>
            </a:r>
          </a:p>
          <a:p>
            <a:pPr marL="800100" lvl="1" indent="-342900">
              <a:buFont typeface="+mj-lt"/>
              <a:buAutoNum type="arabicPeriod" startAt="5"/>
            </a:pPr>
            <a:r>
              <a:rPr lang="ru-RU" dirty="0"/>
              <a:t>Дырочная </a:t>
            </a:r>
            <a:r>
              <a:rPr lang="ru-RU" dirty="0" smtClean="0"/>
              <a:t>проводимость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ru-RU" dirty="0"/>
              <a:t>Электрический ток в </a:t>
            </a:r>
            <a:r>
              <a:rPr lang="ru-RU" dirty="0" smtClean="0"/>
              <a:t>газе</a:t>
            </a:r>
          </a:p>
          <a:p>
            <a:pPr marL="800100" lvl="1" indent="-342900">
              <a:buFont typeface="+mj-lt"/>
              <a:buAutoNum type="arabicPeriod" startAt="11"/>
            </a:pPr>
            <a:r>
              <a:rPr lang="ru-RU" dirty="0"/>
              <a:t>Самостоятельные и несамостоятельные </a:t>
            </a:r>
            <a:r>
              <a:rPr lang="ru-RU" dirty="0" smtClean="0"/>
              <a:t>разряды</a:t>
            </a:r>
          </a:p>
          <a:p>
            <a:pPr marL="800100" lvl="1" indent="-342900">
              <a:buFont typeface="+mj-lt"/>
              <a:buAutoNum type="arabicPeriod" startAt="11"/>
            </a:pPr>
            <a:r>
              <a:rPr lang="ru-RU" dirty="0"/>
              <a:t>Самостоятельные </a:t>
            </a:r>
            <a:r>
              <a:rPr lang="ru-RU" dirty="0" smtClean="0"/>
              <a:t>разряды</a:t>
            </a:r>
          </a:p>
          <a:p>
            <a:pPr marL="800100" lvl="1" indent="-342900">
              <a:buFont typeface="+mj-lt"/>
              <a:buAutoNum type="arabicPeriod" startAt="11"/>
            </a:pPr>
            <a:r>
              <a:rPr lang="ru-RU" dirty="0"/>
              <a:t>Самостоятельные </a:t>
            </a:r>
            <a:r>
              <a:rPr lang="ru-RU" dirty="0" smtClean="0"/>
              <a:t>разряды</a:t>
            </a:r>
          </a:p>
          <a:p>
            <a:pPr marL="800100" lvl="1" indent="-342900">
              <a:buFont typeface="+mj-lt"/>
              <a:buAutoNum type="arabicPeriod" startAt="11"/>
            </a:pPr>
            <a:r>
              <a:rPr lang="ru-RU" dirty="0" smtClean="0"/>
              <a:t>Плазма</a:t>
            </a:r>
          </a:p>
          <a:p>
            <a:pPr marL="800100" lvl="1" indent="-342900">
              <a:buFont typeface="+mj-lt"/>
              <a:buAutoNum type="arabicPeriod" startAt="11"/>
            </a:pPr>
            <a:r>
              <a:rPr lang="ru-RU" dirty="0" smtClean="0"/>
              <a:t>Применение плазмы</a:t>
            </a:r>
          </a:p>
        </p:txBody>
      </p:sp>
    </p:spTree>
    <p:extLst>
      <p:ext uri="{BB962C8B-B14F-4D97-AF65-F5344CB8AC3E}">
        <p14:creationId xmlns:p14="http://schemas.microsoft.com/office/powerpoint/2010/main" val="429016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661747" y="1885285"/>
            <a:ext cx="736028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 startAt="16"/>
            </a:pPr>
            <a:r>
              <a:rPr lang="ru-RU" dirty="0"/>
              <a:t>Электрический ток в жидкостях</a:t>
            </a:r>
          </a:p>
          <a:p>
            <a:pPr marL="800100" lvl="1" indent="-342900">
              <a:buFont typeface="+mj-lt"/>
              <a:buAutoNum type="arabicPeriod" startAt="17"/>
            </a:pPr>
            <a:r>
              <a:rPr lang="ru-RU" dirty="0"/>
              <a:t>Ион, рекомбинация ионов, динамическое </a:t>
            </a:r>
            <a:r>
              <a:rPr lang="ru-RU" dirty="0" smtClean="0"/>
              <a:t>равновесие</a:t>
            </a:r>
          </a:p>
          <a:p>
            <a:pPr marL="800100" lvl="1" indent="-342900">
              <a:buFont typeface="+mj-lt"/>
              <a:buAutoNum type="arabicPeriod" startAt="17"/>
            </a:pPr>
            <a:r>
              <a:rPr lang="ru-RU" dirty="0"/>
              <a:t>Степень диссоциации, электропроводимость </a:t>
            </a:r>
            <a:r>
              <a:rPr lang="ru-RU" dirty="0" smtClean="0"/>
              <a:t>электролитов</a:t>
            </a:r>
          </a:p>
          <a:p>
            <a:pPr marL="800100" lvl="1" indent="-342900">
              <a:buFont typeface="+mj-lt"/>
              <a:buAutoNum type="arabicPeriod" startAt="17"/>
            </a:pPr>
            <a:r>
              <a:rPr lang="ru-RU" dirty="0"/>
              <a:t>Электронная проводимость </a:t>
            </a:r>
            <a:r>
              <a:rPr lang="ru-RU" dirty="0" smtClean="0"/>
              <a:t> </a:t>
            </a:r>
          </a:p>
          <a:p>
            <a:pPr marL="800100" lvl="1" indent="-342900">
              <a:buFont typeface="+mj-lt"/>
              <a:buAutoNum type="arabicPeriod" startAt="17"/>
            </a:pPr>
            <a:r>
              <a:rPr lang="ru-RU" dirty="0"/>
              <a:t>Зависимость сопротивления электролита от </a:t>
            </a:r>
            <a:r>
              <a:rPr lang="ru-RU" dirty="0" smtClean="0"/>
              <a:t>температуры</a:t>
            </a:r>
          </a:p>
          <a:p>
            <a:pPr marL="800100" lvl="1" indent="-342900">
              <a:buFont typeface="+mj-lt"/>
              <a:buAutoNum type="arabicPeriod" startAt="17"/>
            </a:pPr>
            <a:r>
              <a:rPr lang="ru-RU" dirty="0"/>
              <a:t>Закон электролиза </a:t>
            </a:r>
            <a:endParaRPr lang="ru-RU" dirty="0" smtClean="0"/>
          </a:p>
          <a:p>
            <a:pPr marL="800100" lvl="1" indent="-342900">
              <a:buFont typeface="+mj-lt"/>
              <a:buAutoNum type="arabicPeriod" startAt="17"/>
            </a:pPr>
            <a:r>
              <a:rPr lang="ru-RU" dirty="0" smtClean="0"/>
              <a:t>Применение электролиза </a:t>
            </a:r>
          </a:p>
          <a:p>
            <a:pPr marL="342900" indent="-342900">
              <a:buFont typeface="+mj-lt"/>
              <a:buAutoNum type="arabicPeriod" startAt="23"/>
            </a:pPr>
            <a:r>
              <a:rPr lang="ru-RU" dirty="0" smtClean="0"/>
              <a:t>Источники</a:t>
            </a:r>
          </a:p>
          <a:p>
            <a:pPr marL="800100" lvl="1" indent="-342900">
              <a:buFont typeface="+mj-lt"/>
              <a:buAutoNum type="arabicPeriod" startAt="17"/>
            </a:pP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077930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Электрический ток в полупроводниках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По значению удельного электрического сопротивления </a:t>
            </a:r>
            <a:r>
              <a:rPr lang="ru-RU" sz="1800" b="1" i="1" dirty="0"/>
              <a:t>полупроводники</a:t>
            </a:r>
            <a:r>
              <a:rPr lang="ru-RU" sz="1800" dirty="0"/>
              <a:t> занимают промежуточное положение между хорошими проводниками и диэлектриками. К числу полупроводников относятся многие химические элементы (германий, кремний, селен, теллур, мышьяк и др.), огромное количество сплавов и химических соединений. Почти все неорганические вещества окружающего нас мира – полупроводники. </a:t>
            </a:r>
            <a:endParaRPr lang="ru-RU" sz="1800" dirty="0" smtClean="0"/>
          </a:p>
          <a:p>
            <a:r>
              <a:rPr lang="ru-RU" sz="1800" dirty="0" smtClean="0"/>
              <a:t>Самым </a:t>
            </a:r>
            <a:r>
              <a:rPr lang="ru-RU" sz="1800" dirty="0"/>
              <a:t>распространенным в природе полупроводником является кремний, составляющий около 30 % земной коры.</a:t>
            </a:r>
          </a:p>
        </p:txBody>
      </p:sp>
      <p:pic>
        <p:nvPicPr>
          <p:cNvPr id="1026" name="Picture 2" descr="Минералы»: КРЕМНИЙ | ВКонтакте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27" y="2647931"/>
            <a:ext cx="2014855" cy="1633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53745" y="4281853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Кремний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310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Отличие </a:t>
            </a:r>
            <a:r>
              <a:rPr lang="ru-RU" dirty="0"/>
              <a:t>полупроводников от металлов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73599" y="1049792"/>
            <a:ext cx="7796540" cy="3997828"/>
          </a:xfrm>
        </p:spPr>
        <p:txBody>
          <a:bodyPr>
            <a:normAutofit/>
          </a:bodyPr>
          <a:lstStyle/>
          <a:p>
            <a:r>
              <a:rPr lang="ru-RU" sz="1800" dirty="0"/>
              <a:t>Качественное отличие полупроводников от металлов проявляется прежде всего в зависимости удельного сопротивления от температуры. </a:t>
            </a:r>
            <a:r>
              <a:rPr lang="ru-RU" sz="1800" dirty="0" smtClean="0"/>
              <a:t>У полупроводников с </a:t>
            </a:r>
            <a:r>
              <a:rPr lang="ru-RU" sz="1800" dirty="0"/>
              <a:t>понижением температуры сопротивление возрастает и вблизи абсолютного нуля они практически становятся изоляторами</a:t>
            </a:r>
          </a:p>
        </p:txBody>
      </p:sp>
      <p:pic>
        <p:nvPicPr>
          <p:cNvPr id="2050" name="Picture 2" descr="https://physics.ru/courses/op25part2/content/chapter1/section/paragraph13/images/1-13-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59" y="4371852"/>
            <a:ext cx="242887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77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Свободные электроны, дырки, рекомбинация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При повышении температуры некоторая часть валентных электронов может получить энергию, достаточную для разрыва ковалентных связей. Тогда в кристалле возникнут </a:t>
            </a:r>
            <a:r>
              <a:rPr lang="ru-RU" sz="1800" b="1" dirty="0"/>
              <a:t>свободные электроны</a:t>
            </a:r>
            <a:r>
              <a:rPr lang="ru-RU" sz="1800" dirty="0"/>
              <a:t> (электроны проводимости). Одновременно в местах разрыва связей образуются вакансии, которые не заняты электронами. Эти вакансии получили название </a:t>
            </a:r>
            <a:r>
              <a:rPr lang="ru-RU" sz="1800" b="1" i="1" dirty="0" smtClean="0"/>
              <a:t>дырок.</a:t>
            </a:r>
          </a:p>
          <a:p>
            <a:r>
              <a:rPr lang="ru-RU" sz="1800" dirty="0"/>
              <a:t>В то же время идет обратный процесс – при встрече свободного электрона с дыркой, восстанавливается электронная связь между атомами германия. Этот процесс называется </a:t>
            </a:r>
            <a:r>
              <a:rPr lang="ru-RU" sz="1800" b="1" i="1" dirty="0" smtClean="0"/>
              <a:t>рекомбинацией.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0142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Примесная проводимость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1800" dirty="0"/>
              <a:t>Необходимым условием резкого уменьшения удельного сопротивления полупроводника при введении примесей является отличие валентности атомов примеси от валентности основных атомов кристалла.</a:t>
            </a:r>
          </a:p>
          <a:p>
            <a:r>
              <a:rPr lang="ru-RU" sz="1800" dirty="0"/>
              <a:t>Проводимость полупроводников при наличии примесей называется </a:t>
            </a:r>
            <a:r>
              <a:rPr lang="ru-RU" sz="1800" b="1" i="1" dirty="0"/>
              <a:t>примесной проводимостью</a:t>
            </a:r>
            <a:r>
              <a:rPr lang="ru-RU" sz="1800" dirty="0"/>
              <a:t>. Различают два типа примесной проводимости – </a:t>
            </a:r>
            <a:r>
              <a:rPr lang="ru-RU" sz="1800" b="1" dirty="0"/>
              <a:t>электронную</a:t>
            </a:r>
            <a:r>
              <a:rPr lang="ru-RU" sz="1800" dirty="0"/>
              <a:t> и </a:t>
            </a:r>
            <a:r>
              <a:rPr lang="ru-RU" sz="1800" b="1" dirty="0"/>
              <a:t>дырочную</a:t>
            </a:r>
            <a:r>
              <a:rPr lang="ru-RU" sz="18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385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проводимость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11808" y="1548893"/>
            <a:ext cx="7796540" cy="3368290"/>
          </a:xfrm>
        </p:spPr>
        <p:txBody>
          <a:bodyPr>
            <a:noAutofit/>
          </a:bodyPr>
          <a:lstStyle/>
          <a:p>
            <a:r>
              <a:rPr lang="ru-RU" sz="1800" b="1" i="1" dirty="0"/>
              <a:t>Электронная проводимость</a:t>
            </a:r>
            <a:r>
              <a:rPr lang="ru-RU" sz="1800" dirty="0"/>
              <a:t> возникает, когда в кристалл германия с четырехвалентными атомами введены пятивалентные атомы (например, атомы мышьяка, </a:t>
            </a:r>
            <a:r>
              <a:rPr lang="ru-RU" sz="1800" dirty="0" err="1"/>
              <a:t>As</a:t>
            </a:r>
            <a:r>
              <a:rPr lang="ru-RU" sz="1800" dirty="0" smtClean="0"/>
              <a:t>).</a:t>
            </a:r>
          </a:p>
          <a:p>
            <a:r>
              <a:rPr lang="ru-RU" sz="1800" dirty="0"/>
              <a:t>Такая проводимость называется электронной, а полупроводник, обладающий электронной проводимостью, называется полупроводником </a:t>
            </a:r>
            <a:r>
              <a:rPr lang="ru-RU" sz="1800" b="1" dirty="0"/>
              <a:t>n-типа.</a:t>
            </a:r>
          </a:p>
          <a:p>
            <a:r>
              <a:rPr lang="ru-RU" sz="1800" dirty="0"/>
              <a:t>Примесь из атомов с валентностью, превышающей валентность основных атомов полупроводникового кристалла, называется </a:t>
            </a:r>
            <a:r>
              <a:rPr lang="ru-RU" sz="1800" b="1" i="1" dirty="0"/>
              <a:t>донорной </a:t>
            </a:r>
            <a:r>
              <a:rPr lang="ru-RU" sz="1800" b="1" i="1" dirty="0" smtClean="0"/>
              <a:t>примесью</a:t>
            </a:r>
            <a:endParaRPr lang="ru-RU" sz="1800" b="1" dirty="0"/>
          </a:p>
        </p:txBody>
      </p:sp>
      <p:pic>
        <p:nvPicPr>
          <p:cNvPr id="2050" name="Picture 2" descr="https://physics.ru/courses/op25part2/content/chapter1/section/paragraph13/images/1-13-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098" y="4678298"/>
            <a:ext cx="2514001" cy="195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674821" y="5361963"/>
            <a:ext cx="2569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Атом мышьяка в решетке германия. Полупроводник n-типа</a:t>
            </a:r>
          </a:p>
        </p:txBody>
      </p:sp>
    </p:spTree>
    <p:extLst>
      <p:ext uri="{BB962C8B-B14F-4D97-AF65-F5344CB8AC3E}">
        <p14:creationId xmlns:p14="http://schemas.microsoft.com/office/powerpoint/2010/main" val="3729274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Дырочная проводимость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73599" y="2052116"/>
            <a:ext cx="7796540" cy="2370415"/>
          </a:xfrm>
        </p:spPr>
        <p:txBody>
          <a:bodyPr>
            <a:noAutofit/>
          </a:bodyPr>
          <a:lstStyle/>
          <a:p>
            <a:r>
              <a:rPr lang="ru-RU" sz="1800" b="1" i="1" dirty="0"/>
              <a:t>Дырочная проводимость</a:t>
            </a:r>
            <a:r>
              <a:rPr lang="ru-RU" sz="1800" dirty="0"/>
              <a:t> возникает, когда в кристалл германия введены трехвалентные атомы (например, атомы </a:t>
            </a:r>
            <a:r>
              <a:rPr lang="ru-RU" sz="1800" dirty="0" smtClean="0"/>
              <a:t>индия</a:t>
            </a:r>
            <a:r>
              <a:rPr lang="ru-RU" sz="1800" dirty="0"/>
              <a:t>, </a:t>
            </a:r>
            <a:r>
              <a:rPr lang="ru-RU" sz="1800" dirty="0" err="1"/>
              <a:t>In</a:t>
            </a:r>
            <a:r>
              <a:rPr lang="ru-RU" sz="1800" dirty="0"/>
              <a:t>). </a:t>
            </a:r>
            <a:endParaRPr lang="ru-RU" sz="1800" dirty="0" smtClean="0"/>
          </a:p>
          <a:p>
            <a:r>
              <a:rPr lang="ru-RU" sz="1800" dirty="0"/>
              <a:t>Примесный полупроводник с дырочной проводимостью называется полупроводником </a:t>
            </a:r>
            <a:r>
              <a:rPr lang="ru-RU" sz="1800" b="1" dirty="0"/>
              <a:t>p-типа</a:t>
            </a:r>
            <a:r>
              <a:rPr lang="ru-RU" sz="1800" dirty="0"/>
              <a:t>. Основными носителями свободного заряда в полупроводниках p-типа являются дырки</a:t>
            </a:r>
            <a:r>
              <a:rPr lang="ru-RU" sz="1800" dirty="0" smtClean="0"/>
              <a:t>.</a:t>
            </a:r>
          </a:p>
          <a:p>
            <a:r>
              <a:rPr lang="ru-RU" sz="1800" dirty="0"/>
              <a:t>Примесь атомов, способных захватывать электроны, называется </a:t>
            </a:r>
            <a:r>
              <a:rPr lang="ru-RU" sz="1800" b="1" i="1" dirty="0"/>
              <a:t>акцепторной примесью</a:t>
            </a:r>
            <a:endParaRPr lang="ru-RU" sz="1800" dirty="0" smtClean="0"/>
          </a:p>
        </p:txBody>
      </p:sp>
      <p:pic>
        <p:nvPicPr>
          <p:cNvPr id="3076" name="Picture 4" descr="https://physics.ru/courses/op25part2/content/chapter1/section/paragraph13/images/1-13-4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291" y="4589362"/>
            <a:ext cx="2596416" cy="199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943601" y="4950068"/>
            <a:ext cx="3297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Атом индия в решетке германия. Полупроводник p-типа</a:t>
            </a:r>
          </a:p>
        </p:txBody>
      </p:sp>
    </p:spTree>
    <p:extLst>
      <p:ext uri="{BB962C8B-B14F-4D97-AF65-F5344CB8AC3E}">
        <p14:creationId xmlns:p14="http://schemas.microsoft.com/office/powerpoint/2010/main" val="406121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Электрический ток в газе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Молекулы газа в обычных условиях не проводят электрический ток. Они являются изоляторами (диэлектриками). Однако, если изменить условия окружающей среды, то газы могут стать проводниками электричества. В результате ионизации (при нагреве или под действием радиоактивного излучения) возникает электрический ток в газах, который часто заменяют термином «электрический разряд</a:t>
            </a:r>
            <a:r>
              <a:rPr lang="ru-RU" sz="1800" dirty="0" smtClean="0"/>
              <a:t>»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82531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Самостоятельные </a:t>
            </a:r>
            <a:r>
              <a:rPr lang="ru-RU" dirty="0"/>
              <a:t>и </a:t>
            </a:r>
            <a:r>
              <a:rPr lang="ru-RU" dirty="0" smtClean="0"/>
              <a:t>несамостоятельные разряды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Разряды в газе могут быть </a:t>
            </a:r>
            <a:r>
              <a:rPr lang="ru-RU" sz="1800" b="1" dirty="0"/>
              <a:t>самостоятельными</a:t>
            </a:r>
            <a:r>
              <a:rPr lang="ru-RU" sz="1800" dirty="0"/>
              <a:t> и </a:t>
            </a:r>
            <a:r>
              <a:rPr lang="ru-RU" sz="1800" b="1" dirty="0"/>
              <a:t>несамостоятельными</a:t>
            </a:r>
            <a:r>
              <a:rPr lang="ru-RU" sz="1800" dirty="0"/>
              <a:t>. Ток начинает существовать, когда появляются свободные заряды. </a:t>
            </a:r>
            <a:endParaRPr lang="ru-RU" sz="1800" dirty="0" smtClean="0"/>
          </a:p>
          <a:p>
            <a:r>
              <a:rPr lang="ru-RU" sz="1800" b="1" dirty="0" smtClean="0"/>
              <a:t>Несамостоятельные </a:t>
            </a:r>
            <a:r>
              <a:rPr lang="ru-RU" sz="1800" b="1" dirty="0"/>
              <a:t>разряды </a:t>
            </a:r>
            <a:r>
              <a:rPr lang="ru-RU" sz="1800" dirty="0"/>
              <a:t>существуют пока на него действует сила извне, то есть внешний ионизатор. То есть, если внешний ионизатор перестал действовать, то и ток прекращается.</a:t>
            </a:r>
          </a:p>
          <a:p>
            <a:r>
              <a:rPr lang="ru-RU" sz="1800" b="1" dirty="0"/>
              <a:t>Самостоятельный разряд </a:t>
            </a:r>
            <a:r>
              <a:rPr lang="ru-RU" sz="1800" dirty="0"/>
              <a:t>электрического тока в газах существует даже после прекращения действия внешнего ионизатора. Самостоятельные разряды в физике подразделяются на тихий, тлеющий, дуговой, искровой, коронный</a:t>
            </a:r>
            <a:r>
              <a:rPr lang="ru-RU" sz="1800" dirty="0" smtClean="0"/>
              <a:t>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053385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Самостоятельные </a:t>
            </a:r>
            <a:r>
              <a:rPr lang="ru-RU" dirty="0" smtClean="0"/>
              <a:t>разряды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76539" y="1678888"/>
            <a:ext cx="5543924" cy="4616209"/>
          </a:xfrm>
        </p:spPr>
        <p:txBody>
          <a:bodyPr>
            <a:noAutofit/>
          </a:bodyPr>
          <a:lstStyle/>
          <a:p>
            <a:r>
              <a:rPr lang="ru-RU" sz="1800" b="1" i="1" dirty="0"/>
              <a:t>Тихий </a:t>
            </a:r>
            <a:r>
              <a:rPr lang="ru-RU" sz="1800" dirty="0"/>
              <a:t>– самый слабый из самостоятельных разрядов. Сила тока в нем очень мала (не более 1 мА). Он не сопровождается звуковыми или световыми явлениями</a:t>
            </a:r>
            <a:r>
              <a:rPr lang="ru-RU" sz="1800" dirty="0" smtClean="0"/>
              <a:t>.</a:t>
            </a:r>
            <a:endParaRPr lang="ru-RU" sz="1800" b="1" i="1" dirty="0" smtClean="0"/>
          </a:p>
          <a:p>
            <a:r>
              <a:rPr lang="ru-RU" sz="1800" b="1" i="1" dirty="0" smtClean="0"/>
              <a:t>Тлеющий</a:t>
            </a:r>
            <a:r>
              <a:rPr lang="ru-RU" sz="1800" b="1" dirty="0"/>
              <a:t> разряд </a:t>
            </a:r>
            <a:r>
              <a:rPr lang="ru-RU" sz="1800" dirty="0"/>
              <a:t>характеризуется небольшой силой тока (десятки миллиампер), относительно высоким напряжением (десятки и сотни вольт), низким давлением газа </a:t>
            </a:r>
            <a:endParaRPr lang="ru-RU" sz="1800" dirty="0" smtClean="0"/>
          </a:p>
          <a:p>
            <a:r>
              <a:rPr lang="ru-RU" sz="1800" b="1" i="1" dirty="0"/>
              <a:t>Дуговой</a:t>
            </a:r>
            <a:r>
              <a:rPr lang="ru-RU" sz="1800" b="1" dirty="0"/>
              <a:t> разряд </a:t>
            </a:r>
            <a:r>
              <a:rPr lang="ru-RU" sz="1800" dirty="0"/>
              <a:t>представляет собой столб ярко светящегося </a:t>
            </a:r>
            <a:r>
              <a:rPr lang="ru-RU" sz="1800" dirty="0" smtClean="0"/>
              <a:t>газа. Он </a:t>
            </a:r>
            <a:r>
              <a:rPr lang="ru-RU" sz="1800" dirty="0"/>
              <a:t>характеризуется большой силой тока (десятки и сотни ампер) и сравнительно небольшим напряжением (несколько десятков вольт).</a:t>
            </a:r>
          </a:p>
        </p:txBody>
      </p:sp>
      <p:pic>
        <p:nvPicPr>
          <p:cNvPr id="4098" name="Picture 2" descr="Рис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5393" y="1678888"/>
            <a:ext cx="2876770" cy="194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Рис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458" y="4303294"/>
            <a:ext cx="2918639" cy="1765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520682" y="3720859"/>
            <a:ext cx="2006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Тлеющий разряд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8563949" y="6088463"/>
            <a:ext cx="1856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Дуговой разряд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1787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Самостоятельные разряды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1515" y="1762916"/>
            <a:ext cx="5728563" cy="4590421"/>
          </a:xfrm>
        </p:spPr>
        <p:txBody>
          <a:bodyPr>
            <a:noAutofit/>
          </a:bodyPr>
          <a:lstStyle/>
          <a:p>
            <a:r>
              <a:rPr lang="ru-RU" sz="1800" b="1" i="1" dirty="0"/>
              <a:t>Коронный</a:t>
            </a:r>
            <a:r>
              <a:rPr lang="ru-RU" sz="1800" b="1" dirty="0"/>
              <a:t> разряд </a:t>
            </a:r>
            <a:r>
              <a:rPr lang="ru-RU" sz="1800" dirty="0"/>
              <a:t>возникает вблизи заострённой части проводника при атмосферном давлении под действием сильно неоднородного электрического поля. Он сопровождается слабым свечением, напоминающим корону, и характерным потрескиванием </a:t>
            </a:r>
            <a:endParaRPr lang="ru-RU" sz="1800" dirty="0" smtClean="0"/>
          </a:p>
          <a:p>
            <a:r>
              <a:rPr lang="ru-RU" sz="1800" b="1" i="1" dirty="0"/>
              <a:t>Искровой разряд </a:t>
            </a:r>
            <a:r>
              <a:rPr lang="ru-RU" sz="1800" dirty="0"/>
              <a:t>наблюдают при высоком </a:t>
            </a:r>
            <a:r>
              <a:rPr lang="ru-RU" sz="1800" dirty="0" smtClean="0"/>
              <a:t>напряжении. Он </a:t>
            </a:r>
            <a:r>
              <a:rPr lang="ru-RU" sz="1800" dirty="0"/>
              <a:t>сопровождается ярким свечением газа, звуковым эффектом, который создаётся резким повышением давления воздуха. Примером искрового разряда в природе служит </a:t>
            </a:r>
            <a:r>
              <a:rPr lang="ru-RU" sz="1800" dirty="0" smtClean="0"/>
              <a:t>молния.</a:t>
            </a:r>
            <a:endParaRPr lang="ru-RU" sz="1800" dirty="0"/>
          </a:p>
        </p:txBody>
      </p:sp>
      <p:pic>
        <p:nvPicPr>
          <p:cNvPr id="5122" name="Picture 2" descr="Рис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371" y="1855079"/>
            <a:ext cx="2559337" cy="220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Рис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0370" y="4239005"/>
            <a:ext cx="2559337" cy="193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281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Плазма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42212" y="1621293"/>
            <a:ext cx="7073786" cy="4990522"/>
          </a:xfrm>
        </p:spPr>
        <p:txBody>
          <a:bodyPr>
            <a:noAutofit/>
          </a:bodyPr>
          <a:lstStyle/>
          <a:p>
            <a:pPr marL="285750" indent="-285750"/>
            <a:r>
              <a:rPr lang="ru-RU" sz="1800" b="1" u="sng" dirty="0"/>
              <a:t>Плазма</a:t>
            </a:r>
            <a:r>
              <a:rPr lang="ru-RU" sz="1800" dirty="0"/>
              <a:t> – состояние вещества, когда в целом оно электронейтрально, но содержит в свободном состоянии и положительно, и </a:t>
            </a:r>
            <a:r>
              <a:rPr lang="ru-RU" sz="1800" dirty="0" smtClean="0"/>
              <a:t>отрицательно </a:t>
            </a:r>
            <a:r>
              <a:rPr lang="ru-RU" sz="1800" dirty="0"/>
              <a:t>заряженные носители </a:t>
            </a:r>
            <a:r>
              <a:rPr lang="ru-RU" sz="1800" dirty="0" smtClean="0"/>
              <a:t>заряда.</a:t>
            </a:r>
          </a:p>
          <a:p>
            <a:pPr marL="285750" indent="-285750"/>
            <a:r>
              <a:rPr lang="ru-RU" sz="1800" dirty="0" smtClean="0"/>
              <a:t>В </a:t>
            </a:r>
            <a:r>
              <a:rPr lang="ru-RU" sz="1800" dirty="0"/>
              <a:t>зависимости от степени ионизации различают частично ионизованную и полностью ионизованную плазму. В зависимости от скорости теплового движения заряженных частиц различают низкотемпературную (&lt; 105 К) и высокотемпературную (&gt; 106 К) плазму.</a:t>
            </a:r>
          </a:p>
        </p:txBody>
      </p:sp>
      <p:pic>
        <p:nvPicPr>
          <p:cNvPr id="6146" name="Picture 2" descr="Рис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335" y="1781909"/>
            <a:ext cx="2219221" cy="216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4B99528-E658-427C-926A-47094DCE70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5998" y="4252432"/>
            <a:ext cx="2289558" cy="1963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511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 плазмы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35370" y="1661746"/>
            <a:ext cx="7016262" cy="4590421"/>
          </a:xfrm>
        </p:spPr>
        <p:txBody>
          <a:bodyPr>
            <a:normAutofit/>
          </a:bodyPr>
          <a:lstStyle/>
          <a:p>
            <a:pPr marL="285750" indent="-285750"/>
            <a:r>
              <a:rPr lang="ru-RU" sz="1800" dirty="0" smtClean="0">
                <a:latin typeface="+mj-lt"/>
              </a:rPr>
              <a:t>Плазма </a:t>
            </a:r>
            <a:r>
              <a:rPr lang="ru-RU" sz="1800" dirty="0">
                <a:latin typeface="+mj-lt"/>
              </a:rPr>
              <a:t>находит очень широкое применение в современной науке и технике. Низкотемпературная плазма используется в первую очередь в лампах рекламных вывесок</a:t>
            </a:r>
          </a:p>
          <a:p>
            <a:pPr marL="285750" indent="-285750"/>
            <a:r>
              <a:rPr lang="ru-RU" sz="1800" dirty="0">
                <a:latin typeface="+mj-lt"/>
              </a:rPr>
              <a:t>Высокотемпературная плазма применяется в таких устройствах, как магнитогидродинамический генератор, плазмотрон (для резки и сварки твердых материалов)</a:t>
            </a:r>
          </a:p>
          <a:p>
            <a:pPr marL="285750" indent="-285750"/>
            <a:r>
              <a:rPr lang="ru-RU" sz="1800" dirty="0">
                <a:latin typeface="+mj-lt"/>
              </a:rPr>
              <a:t>Также плазма используется в различных реактивных двигателях, так как с ее помощью можно достигать огромных реактивных скоростей порядка </a:t>
            </a:r>
            <a:r>
              <a:rPr lang="en-US" sz="1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n-US" sz="1800" baseline="30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м</a:t>
            </a:r>
            <a:r>
              <a:rPr lang="en-US" sz="18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/c. </a:t>
            </a:r>
            <a:r>
              <a:rPr lang="ru-RU" sz="1800" dirty="0">
                <a:latin typeface="+mj-lt"/>
              </a:rPr>
              <a:t>Благодаря высокой своей температуре, плазма используется как катализатор для некоторых химических реакций, протекающих только при такой температуре</a:t>
            </a:r>
            <a:r>
              <a:rPr lang="ru-RU" sz="1800" dirty="0" smtClean="0">
                <a:latin typeface="+mj-lt"/>
              </a:rPr>
              <a:t>.</a:t>
            </a:r>
            <a:endParaRPr lang="ru-RU" sz="1800" dirty="0">
              <a:latin typeface="+mj-lt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F01F910-7045-4DE0-94CA-080091A19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87" y="1441607"/>
            <a:ext cx="1661165" cy="1466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37646B-4DA4-41BD-9216-1833F4130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668" y="2974149"/>
            <a:ext cx="1932804" cy="146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7EF661E-560B-4793-B069-C2E81C9FC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1263" y="4567331"/>
            <a:ext cx="2023614" cy="1426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5494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Электрический ток </a:t>
            </a:r>
            <a:r>
              <a:rPr lang="ru-RU" dirty="0" smtClean="0"/>
              <a:t>в </a:t>
            </a:r>
            <a:r>
              <a:rPr lang="ru-RU" dirty="0"/>
              <a:t>жидкостях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73599" y="1497950"/>
            <a:ext cx="7796540" cy="4664489"/>
          </a:xfrm>
        </p:spPr>
        <p:txBody>
          <a:bodyPr>
            <a:noAutofit/>
          </a:bodyPr>
          <a:lstStyle/>
          <a:p>
            <a:r>
              <a:rPr lang="ru-RU" sz="1800" dirty="0"/>
              <a:t>Жидкости по степени электропроводности делятся на</a:t>
            </a:r>
            <a:r>
              <a:rPr lang="ru-RU" sz="1800" dirty="0" smtClean="0"/>
              <a:t>: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ru-RU" sz="1800" dirty="0" smtClean="0"/>
              <a:t>- </a:t>
            </a:r>
            <a:r>
              <a:rPr lang="ru-RU" sz="1800" dirty="0"/>
              <a:t>диэлектрики (например, дистиллированная вода</a:t>
            </a:r>
            <a:r>
              <a:rPr lang="ru-RU" sz="1800" dirty="0" smtClean="0"/>
              <a:t>),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ru-RU" sz="1800" dirty="0"/>
              <a:t>- проводники (например, электролиты</a:t>
            </a:r>
            <a:r>
              <a:rPr lang="ru-RU" sz="1800" dirty="0" smtClean="0"/>
              <a:t>),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ru-RU" sz="1800" dirty="0"/>
              <a:t>- полупроводники (например, расплавленный селен</a:t>
            </a:r>
            <a:r>
              <a:rPr lang="ru-RU" sz="1800" dirty="0" smtClean="0"/>
              <a:t>)</a:t>
            </a:r>
            <a:r>
              <a:rPr lang="en-US" sz="1800" dirty="0" smtClean="0"/>
              <a:t>.</a:t>
            </a:r>
          </a:p>
          <a:p>
            <a:r>
              <a:rPr lang="ru-RU" sz="1800" b="1" dirty="0" smtClean="0"/>
              <a:t>Электролит </a:t>
            </a:r>
            <a:r>
              <a:rPr lang="ru-RU" sz="1800" dirty="0" smtClean="0"/>
              <a:t>- </a:t>
            </a:r>
            <a:r>
              <a:rPr lang="ru-RU" sz="1800" dirty="0"/>
              <a:t>это проводящая жидкость (растворы кислот , щелочей, солей и расплавленные соли</a:t>
            </a:r>
            <a:r>
              <a:rPr lang="ru-RU" sz="1800" dirty="0" smtClean="0"/>
              <a:t>).</a:t>
            </a:r>
          </a:p>
          <a:p>
            <a:r>
              <a:rPr lang="ru-RU" sz="1800" b="1" dirty="0"/>
              <a:t>Электролитическая диссоциация</a:t>
            </a:r>
            <a:r>
              <a:rPr lang="ru-RU" sz="1800" dirty="0"/>
              <a:t> (разъединение</a:t>
            </a:r>
            <a:r>
              <a:rPr lang="ru-RU" sz="1800" dirty="0" smtClean="0"/>
              <a:t>) - </a:t>
            </a:r>
            <a:r>
              <a:rPr lang="ru-RU" sz="1800" dirty="0"/>
              <a:t>- при растворении в результате теплового движения происходят столкновения молекул растворителя и нейтральных молекул электролита</a:t>
            </a:r>
            <a:r>
              <a:rPr lang="ru-RU" sz="1800" dirty="0" smtClean="0"/>
              <a:t>. </a:t>
            </a:r>
            <a:r>
              <a:rPr lang="ru-RU" sz="1800" dirty="0"/>
              <a:t>Молекулы распадаются на положительные и отрицательные ионы</a:t>
            </a:r>
            <a:r>
              <a:rPr lang="ru-RU" sz="1800" dirty="0" smtClean="0"/>
              <a:t>. </a:t>
            </a:r>
            <a:r>
              <a:rPr lang="ru-RU" sz="1800" dirty="0"/>
              <a:t>Например, растворение медного купороса в воде.</a:t>
            </a:r>
            <a:endParaRPr lang="ru-RU" sz="1800" dirty="0"/>
          </a:p>
        </p:txBody>
      </p:sp>
      <p:pic>
        <p:nvPicPr>
          <p:cNvPr id="1026" name="Picture 2" descr="Электролитическая диссоциаци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2439" y="5783896"/>
            <a:ext cx="3333750" cy="93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1551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Ион</a:t>
            </a:r>
            <a:r>
              <a:rPr lang="ru-RU" dirty="0"/>
              <a:t>, рекомбинация ионов, динамическое равновесие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smtClean="0"/>
              <a:t>Ион</a:t>
            </a:r>
            <a:r>
              <a:rPr lang="ru-RU" dirty="0" smtClean="0"/>
              <a:t> - </a:t>
            </a:r>
            <a:r>
              <a:rPr lang="ru-RU" dirty="0"/>
              <a:t>это атом или молекула, потерявшая или присоединившая к себе один или несколько электронов</a:t>
            </a:r>
            <a:r>
              <a:rPr lang="ru-RU" dirty="0" smtClean="0"/>
              <a:t>.</a:t>
            </a:r>
          </a:p>
          <a:p>
            <a:r>
              <a:rPr lang="ru-RU" b="1" dirty="0"/>
              <a:t>Рекомбинация </a:t>
            </a:r>
            <a:r>
              <a:rPr lang="ru-RU" b="1" dirty="0" smtClean="0"/>
              <a:t>ионов</a:t>
            </a:r>
            <a:r>
              <a:rPr lang="ru-RU" dirty="0" smtClean="0"/>
              <a:t>. </a:t>
            </a:r>
            <a:r>
              <a:rPr lang="ru-RU" dirty="0"/>
              <a:t>Наряду с диссоциацией в электролите одновременно может происходить процесс восстановления ионов в нейтральные молекулы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Между процессами электролитической диссоциации и рекомбинации при неизменных условиях устанавливается </a:t>
            </a:r>
            <a:r>
              <a:rPr lang="ru-RU" b="1" dirty="0" smtClean="0"/>
              <a:t>динамическое равновесие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1496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Степень диссоциации, </a:t>
            </a:r>
            <a:r>
              <a:rPr lang="ru-RU" dirty="0" smtClean="0"/>
              <a:t>электропроводимость </a:t>
            </a:r>
            <a:r>
              <a:rPr lang="ru-RU" dirty="0"/>
              <a:t>электролитов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Степень диссоциации </a:t>
            </a:r>
            <a:r>
              <a:rPr lang="ru-RU" dirty="0"/>
              <a:t>- это доля молекул, распавшихся на ионы</a:t>
            </a:r>
            <a:r>
              <a:rPr lang="ru-RU" dirty="0"/>
              <a:t>. </a:t>
            </a:r>
            <a:r>
              <a:rPr lang="ru-RU" dirty="0" smtClean="0"/>
              <a:t>Степень диссоциации </a:t>
            </a:r>
            <a:r>
              <a:rPr lang="ru-RU" dirty="0"/>
              <a:t>возрастает с увеличением температуры и зависит от концентрации раствора и от электрических свойств растворителя</a:t>
            </a:r>
            <a:r>
              <a:rPr lang="ru-RU" dirty="0" smtClean="0"/>
              <a:t>.</a:t>
            </a:r>
          </a:p>
          <a:p>
            <a:r>
              <a:rPr lang="ru-RU" b="1" dirty="0"/>
              <a:t>Электропроводимость </a:t>
            </a:r>
            <a:r>
              <a:rPr lang="ru-RU" b="1" dirty="0" smtClean="0"/>
              <a:t>электролитов.</a:t>
            </a:r>
            <a:br>
              <a:rPr lang="ru-RU" b="1" dirty="0" smtClean="0"/>
            </a:br>
            <a:r>
              <a:rPr lang="ru-RU" dirty="0"/>
              <a:t>Ионная </a:t>
            </a:r>
            <a:r>
              <a:rPr lang="ru-RU" dirty="0" smtClean="0"/>
              <a:t>проводимость - </a:t>
            </a:r>
            <a:r>
              <a:rPr lang="ru-RU" dirty="0"/>
              <a:t>это упорядоченное движение ионов под действием внешнего электрического поля</a:t>
            </a:r>
            <a:r>
              <a:rPr lang="ru-RU" dirty="0"/>
              <a:t>. </a:t>
            </a:r>
            <a:br>
              <a:rPr lang="ru-RU" dirty="0"/>
            </a:br>
            <a:r>
              <a:rPr lang="ru-RU" dirty="0"/>
              <a:t>Ионная проводимость существует в электролитах, где прохождение электрического тока связано с переносом вещества.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54744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проводимость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Электронная </a:t>
            </a:r>
            <a:r>
              <a:rPr lang="ru-RU" b="1" dirty="0" smtClean="0"/>
              <a:t>проводимость </a:t>
            </a:r>
            <a:r>
              <a:rPr lang="ru-RU" dirty="0" smtClean="0"/>
              <a:t>- </a:t>
            </a:r>
            <a:r>
              <a:rPr lang="ru-RU" dirty="0"/>
              <a:t>это также в небольшой мере присутствует в электролитах, но в основном характеризует электропроводимость жидких металлов</a:t>
            </a:r>
            <a:r>
              <a:rPr lang="ru-RU" dirty="0"/>
              <a:t>. </a:t>
            </a:r>
            <a:br>
              <a:rPr lang="ru-RU" dirty="0"/>
            </a:br>
            <a:r>
              <a:rPr lang="ru-RU" dirty="0"/>
              <a:t>Ионы в электролите движутся хаотически до тех пор, пока в жидкость не опускаются электроды, между которыми существует разность потенциалов. 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Тогда на хаотическое движение ионов накладывается их упорядоченное движение к соответствующим электродам и в электролите возникает электрический ток.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5038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сопротивления электролита от температуры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160" indent="0">
              <a:buNone/>
            </a:pPr>
            <a:r>
              <a:rPr lang="ru-RU" sz="1800" dirty="0" smtClean="0"/>
              <a:t>Температурная </a:t>
            </a:r>
            <a:r>
              <a:rPr lang="ru-RU" sz="1800" dirty="0"/>
              <a:t>зависимость сопротивления электролита объясняется в основном изменением удельного сопротивления</a:t>
            </a:r>
            <a:r>
              <a:rPr lang="ru-RU" sz="1800" dirty="0" smtClean="0"/>
              <a:t>.</a:t>
            </a:r>
          </a:p>
          <a:p>
            <a:pPr marL="6160" indent="0">
              <a:buNone/>
            </a:pPr>
            <a:endParaRPr lang="ru-RU" sz="1800" dirty="0" smtClean="0"/>
          </a:p>
          <a:p>
            <a:pPr marL="6160" indent="0">
              <a:buNone/>
            </a:pPr>
            <a:r>
              <a:rPr lang="ru-RU" sz="1800" dirty="0"/>
              <a:t>где альфа - температурный коэффициент сопротивления</a:t>
            </a:r>
            <a:r>
              <a:rPr lang="ru-RU" sz="1800" dirty="0" smtClean="0"/>
              <a:t>.</a:t>
            </a: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Для электролитов </a:t>
            </a:r>
            <a:r>
              <a:rPr lang="ru-RU" sz="1800" dirty="0" smtClean="0"/>
              <a:t>всегда </a:t>
            </a:r>
            <a:r>
              <a:rPr lang="en-US" sz="1800" dirty="0" smtClean="0"/>
              <a:t>a &lt; 0, </a:t>
            </a:r>
            <a:r>
              <a:rPr lang="ru-RU" sz="1800" dirty="0" smtClean="0"/>
              <a:t>поэтому</a:t>
            </a:r>
          </a:p>
          <a:p>
            <a:pPr marL="6160" indent="0">
              <a:buNone/>
            </a:pPr>
            <a:endParaRPr lang="ru-RU" sz="1800" dirty="0" smtClean="0"/>
          </a:p>
          <a:p>
            <a:pPr marL="6160" indent="0">
              <a:buNone/>
            </a:pPr>
            <a:endParaRPr lang="ru-RU" sz="1800" dirty="0"/>
          </a:p>
          <a:p>
            <a:pPr marL="6160" indent="0">
              <a:buNone/>
            </a:pPr>
            <a:r>
              <a:rPr lang="ru-RU" sz="1800" dirty="0" smtClean="0"/>
              <a:t>Сопротивление </a:t>
            </a:r>
            <a:r>
              <a:rPr lang="ru-RU" sz="1800" dirty="0"/>
              <a:t>электролита можно рассчитать по формуле:</a:t>
            </a:r>
            <a:endParaRPr lang="ru-RU" sz="1800" dirty="0" smtClean="0"/>
          </a:p>
          <a:p>
            <a:pPr marL="6160" indent="0">
              <a:buNone/>
            </a:pPr>
            <a:endParaRPr lang="ru-RU" dirty="0"/>
          </a:p>
        </p:txBody>
      </p:sp>
      <p:pic>
        <p:nvPicPr>
          <p:cNvPr id="3074" name="Picture 2" descr="Температурная зависимость сопротивления электролит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2816946"/>
            <a:ext cx="1905000" cy="54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графи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0299" y="3898630"/>
            <a:ext cx="1619250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сопротивление электролит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8775" y="5731000"/>
            <a:ext cx="1428750" cy="4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4350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Закон электролиза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ru-RU" sz="1800" b="1" dirty="0" smtClean="0"/>
              <a:t>Закон </a:t>
            </a:r>
            <a:r>
              <a:rPr lang="ru-RU" sz="1800" b="1" dirty="0"/>
              <a:t>электролиза </a:t>
            </a:r>
            <a:r>
              <a:rPr lang="ru-RU" sz="1800" dirty="0"/>
              <a:t>был открыт в 1833году </a:t>
            </a:r>
            <a:r>
              <a:rPr lang="ru-RU" sz="1800" dirty="0" smtClean="0"/>
              <a:t>Майклом </a:t>
            </a:r>
            <a:r>
              <a:rPr lang="ru-RU" sz="1800" dirty="0"/>
              <a:t>Фарадеем</a:t>
            </a:r>
            <a:r>
              <a:rPr lang="ru-RU" sz="1800" dirty="0" smtClean="0"/>
              <a:t>.</a:t>
            </a:r>
          </a:p>
          <a:p>
            <a:endParaRPr lang="ru-RU" sz="1800" dirty="0" smtClean="0"/>
          </a:p>
          <a:p>
            <a:endParaRPr lang="ru-RU" sz="1800" dirty="0"/>
          </a:p>
          <a:p>
            <a:endParaRPr lang="ru-RU" sz="1800" dirty="0" smtClean="0"/>
          </a:p>
          <a:p>
            <a:r>
              <a:rPr lang="ru-RU" sz="1800" dirty="0"/>
              <a:t>Закон электролиза определяет массу вещества, выделяемого на электроде при электролизе за время прохождения электрического тока</a:t>
            </a:r>
            <a:r>
              <a:rPr lang="ru-RU" sz="1800" dirty="0" smtClean="0"/>
              <a:t>.</a:t>
            </a:r>
          </a:p>
          <a:p>
            <a:endParaRPr lang="ru-RU" sz="1800" dirty="0"/>
          </a:p>
          <a:p>
            <a:r>
              <a:rPr lang="ru-RU" sz="1800" dirty="0"/>
              <a:t>k - электрохимический эквивалент вещества, численно равный массе вещества, выделившегося на электроде при прохождении через электролит заряда в 1 Кл</a:t>
            </a:r>
            <a:r>
              <a:rPr lang="ru-RU" sz="1800" dirty="0" smtClean="0"/>
              <a:t>.</a:t>
            </a:r>
            <a:endParaRPr lang="ru-RU" sz="1800" dirty="0"/>
          </a:p>
        </p:txBody>
      </p:sp>
      <p:pic>
        <p:nvPicPr>
          <p:cNvPr id="4098" name="Picture 2" descr="Закон электролиз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130" y="2363980"/>
            <a:ext cx="4264025" cy="119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Электрохимический эквивалент вещества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580" y="4412371"/>
            <a:ext cx="1477562" cy="78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776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 электролиза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36580" y="1670537"/>
            <a:ext cx="8108785" cy="4343401"/>
          </a:xfrm>
        </p:spPr>
        <p:txBody>
          <a:bodyPr>
            <a:noAutofit/>
          </a:bodyPr>
          <a:lstStyle/>
          <a:p>
            <a:r>
              <a:rPr lang="ru-RU" sz="1800" dirty="0"/>
              <a:t>Зная массу выделившегося вещества, можно определить заряд электрона.</a:t>
            </a:r>
          </a:p>
          <a:p>
            <a:pPr marL="6160" indent="0">
              <a:buNone/>
            </a:pPr>
            <a:endParaRPr lang="ru-RU" sz="1800" dirty="0"/>
          </a:p>
          <a:p>
            <a:pPr marL="6160" indent="0">
              <a:buNone/>
            </a:pPr>
            <a:endParaRPr lang="ru-RU" sz="1800" dirty="0" smtClean="0"/>
          </a:p>
          <a:p>
            <a:pPr marL="6160" indent="0">
              <a:buNone/>
            </a:pPr>
            <a:endParaRPr lang="ru-RU" sz="1800" dirty="0" smtClean="0"/>
          </a:p>
          <a:p>
            <a:r>
              <a:rPr lang="ru-RU" sz="1800" dirty="0"/>
              <a:t>Применение электролиза</a:t>
            </a:r>
            <a:r>
              <a:rPr lang="ru-RU" sz="1800" dirty="0" smtClean="0"/>
              <a:t>:</a:t>
            </a:r>
            <a:br>
              <a:rPr lang="ru-RU" sz="1800" dirty="0" smtClean="0"/>
            </a:br>
            <a:r>
              <a:rPr lang="ru-RU" sz="1800" dirty="0" smtClean="0"/>
              <a:t>- </a:t>
            </a:r>
            <a:r>
              <a:rPr lang="ru-RU" sz="1800" dirty="0"/>
              <a:t>получение чистых металлов (очистка от примесей</a:t>
            </a:r>
            <a:r>
              <a:rPr lang="ru-RU" sz="1800" dirty="0"/>
              <a:t>); </a:t>
            </a:r>
            <a:br>
              <a:rPr lang="ru-RU" sz="1800" dirty="0"/>
            </a:br>
            <a:r>
              <a:rPr lang="ru-RU" sz="1800" dirty="0"/>
              <a:t>- гальваностегия, т.е. получение покрытий на металле (никелирование, хромирование и т.д. </a:t>
            </a:r>
            <a:r>
              <a:rPr lang="ru-RU" sz="1800" dirty="0"/>
              <a:t>); </a:t>
            </a:r>
            <a:br>
              <a:rPr lang="ru-RU" sz="1800" dirty="0"/>
            </a:br>
            <a:r>
              <a:rPr lang="ru-RU" sz="1800" dirty="0"/>
              <a:t>- гальванопластика, т.е. получение отслаиваемых покрытий (рельефных копий).</a:t>
            </a:r>
            <a:endParaRPr lang="ru-RU" sz="1800" dirty="0"/>
          </a:p>
        </p:txBody>
      </p:sp>
      <p:pic>
        <p:nvPicPr>
          <p:cNvPr id="5122" name="Picture 2" descr="Заряд электрон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710" y="2134526"/>
            <a:ext cx="3238788" cy="208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1420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Источники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63360" indent="-457200">
              <a:buFont typeface="+mj-lt"/>
              <a:buAutoNum type="arabicPeriod"/>
            </a:pPr>
            <a:r>
              <a:rPr lang="en-US" sz="1800" dirty="0">
                <a:hlinkClick r:id="rId2"/>
              </a:rPr>
              <a:t>https://physics.ru/courses/op25part2/content/chapter1/section/paragraph13/theory.html#.</a:t>
            </a:r>
            <a:r>
              <a:rPr lang="en-US" sz="1800" dirty="0" smtClean="0">
                <a:hlinkClick r:id="rId2"/>
              </a:rPr>
              <a:t>Y_GptXZByUl</a:t>
            </a:r>
            <a:endParaRPr lang="ru-RU" sz="1800" dirty="0" smtClean="0"/>
          </a:p>
          <a:p>
            <a:pPr marL="463360" indent="-457200">
              <a:buFont typeface="+mj-lt"/>
              <a:buAutoNum type="arabicPeriod"/>
            </a:pPr>
            <a:r>
              <a:rPr lang="en-US" sz="1800" dirty="0">
                <a:hlinkClick r:id="rId3"/>
              </a:rPr>
              <a:t>https://vk.com/@</a:t>
            </a:r>
            <a:r>
              <a:rPr lang="en-US" sz="1800" dirty="0" smtClean="0">
                <a:hlinkClick r:id="rId3"/>
              </a:rPr>
              <a:t>gc_titan-mineraly-kremnii</a:t>
            </a:r>
            <a:endParaRPr lang="ru-RU" sz="1800" dirty="0" smtClean="0"/>
          </a:p>
          <a:p>
            <a:pPr marL="463360" indent="-457200">
              <a:buFont typeface="+mj-lt"/>
              <a:buAutoNum type="arabicPeriod"/>
            </a:pPr>
            <a:r>
              <a:rPr lang="en-US" sz="1800" dirty="0">
                <a:hlinkClick r:id="rId4"/>
              </a:rPr>
              <a:t>http://profil.adu.by/mod/book/view.php?id=3239&amp;chapterid=9392</a:t>
            </a:r>
            <a:endParaRPr lang="ru-RU" sz="1800" dirty="0" smtClean="0"/>
          </a:p>
          <a:p>
            <a:pPr marL="463360" indent="-457200">
              <a:buFont typeface="+mj-lt"/>
              <a:buAutoNum type="arabicPeriod"/>
            </a:pPr>
            <a:r>
              <a:rPr lang="ru-RU" sz="1800" dirty="0">
                <a:hlinkClick r:id="rId5"/>
              </a:rPr>
              <a:t>https://</a:t>
            </a:r>
            <a:r>
              <a:rPr lang="ru-RU" sz="1800" dirty="0" smtClean="0">
                <a:hlinkClick r:id="rId5"/>
              </a:rPr>
              <a:t>obrazovaka.ru/fizika/elektricheskiy-tok-v-gazah-kratko.html</a:t>
            </a:r>
            <a:endParaRPr lang="ru-RU" sz="1800" dirty="0" smtClean="0"/>
          </a:p>
          <a:p>
            <a:pPr marL="463360" indent="-457200">
              <a:buFont typeface="+mj-lt"/>
              <a:buAutoNum type="arabicPeriod"/>
            </a:pPr>
            <a:r>
              <a:rPr lang="en-US" sz="1800" dirty="0" smtClean="0">
                <a:hlinkClick r:id="rId6"/>
              </a:rPr>
              <a:t>http</a:t>
            </a:r>
            <a:r>
              <a:rPr lang="en-US" sz="1800" dirty="0">
                <a:hlinkClick r:id="rId6"/>
              </a:rPr>
              <a:t>://</a:t>
            </a:r>
            <a:r>
              <a:rPr lang="en-US" sz="1800" dirty="0" smtClean="0">
                <a:hlinkClick r:id="rId6"/>
              </a:rPr>
              <a:t>profil.adu.by/mod/book/view.php?id=3239&amp;chapterid=9391</a:t>
            </a:r>
            <a:endParaRPr lang="ru-RU" sz="1800" dirty="0" smtClean="0"/>
          </a:p>
          <a:p>
            <a:pPr marL="463360" indent="-457200">
              <a:buFont typeface="+mj-lt"/>
              <a:buAutoNum type="arabicPeriod"/>
            </a:pPr>
            <a:r>
              <a:rPr lang="en-US" dirty="0">
                <a:hlinkClick r:id="rId7"/>
              </a:rPr>
              <a:t>https://</a:t>
            </a:r>
            <a:r>
              <a:rPr lang="en-US" dirty="0" smtClean="0">
                <a:hlinkClick r:id="rId7"/>
              </a:rPr>
              <a:t>interneturok.ru/lesson/physics/10-klass/elektricheskiy-tok-v-razlichnyh-sredah/elektricheskiy-tok-v-gazah</a:t>
            </a:r>
            <a:endParaRPr lang="ru-RU" dirty="0" smtClean="0"/>
          </a:p>
          <a:p>
            <a:pPr marL="463360" indent="-457200">
              <a:buFont typeface="+mj-lt"/>
              <a:buAutoNum type="arabicPeriod"/>
            </a:pPr>
            <a:r>
              <a:rPr lang="en-US" dirty="0">
                <a:hlinkClick r:id="rId8"/>
              </a:rPr>
              <a:t>http://class-fizika.ru/10_12.html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69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82E"/>
      </a:dk2>
      <a:lt2>
        <a:srgbClr val="C2F5FC"/>
      </a:lt2>
      <a:accent1>
        <a:srgbClr val="4091F3"/>
      </a:accent1>
      <a:accent2>
        <a:srgbClr val="8BBCF1"/>
      </a:accent2>
      <a:accent3>
        <a:srgbClr val="CB6A6A"/>
      </a:accent3>
      <a:accent4>
        <a:srgbClr val="C567AF"/>
      </a:accent4>
      <a:accent5>
        <a:srgbClr val="A684F9"/>
      </a:accent5>
      <a:accent6>
        <a:srgbClr val="A9ACEE"/>
      </a:accent6>
      <a:hlink>
        <a:srgbClr val="6D9CC5"/>
      </a:hlink>
      <a:folHlink>
        <a:srgbClr val="6D82A0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Мэдисон</Template>
  <TotalTime>107</TotalTime>
  <Words>771</Words>
  <Application>Microsoft Office PowerPoint</Application>
  <PresentationFormat>Широкоэкранный</PresentationFormat>
  <Paragraphs>114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1" baseType="lpstr">
      <vt:lpstr>-apple-system</vt:lpstr>
      <vt:lpstr>Arial</vt:lpstr>
      <vt:lpstr>Calibri</vt:lpstr>
      <vt:lpstr>MS Shell Dlg 2</vt:lpstr>
      <vt:lpstr>Times New Roman</vt:lpstr>
      <vt:lpstr>Wingdings</vt:lpstr>
      <vt:lpstr>Wingdings 3</vt:lpstr>
      <vt:lpstr>Madison</vt:lpstr>
      <vt:lpstr>Электрический ток в полупроводниках, газах и жидкостях.</vt:lpstr>
      <vt:lpstr>Содержание</vt:lpstr>
      <vt:lpstr>Содержание</vt:lpstr>
      <vt:lpstr>Электрический ток в полупроводниках </vt:lpstr>
      <vt:lpstr>Отличие полупроводников от металлов </vt:lpstr>
      <vt:lpstr>Свободные электроны, дырки, рекомбинация</vt:lpstr>
      <vt:lpstr>Примесная проводимость</vt:lpstr>
      <vt:lpstr>Электронная проводимость</vt:lpstr>
      <vt:lpstr>Дырочная проводимость </vt:lpstr>
      <vt:lpstr>Электрический ток в газе</vt:lpstr>
      <vt:lpstr>Самостоятельные и несамостоятельные разряды</vt:lpstr>
      <vt:lpstr>Самостоятельные разряды</vt:lpstr>
      <vt:lpstr>Самостоятельные разряды</vt:lpstr>
      <vt:lpstr>Плазма</vt:lpstr>
      <vt:lpstr>Применение плазмы</vt:lpstr>
      <vt:lpstr>Электрический ток в жидкостях</vt:lpstr>
      <vt:lpstr>Ион, рекомбинация ионов, динамическое равновесие</vt:lpstr>
      <vt:lpstr>Степень диссоциации, электропроводимость электролитов </vt:lpstr>
      <vt:lpstr>Электронная проводимость </vt:lpstr>
      <vt:lpstr>Зависимость сопротивления электролита от температуры</vt:lpstr>
      <vt:lpstr>Закон электролиза </vt:lpstr>
      <vt:lpstr>Применение электролиза </vt:lpstr>
      <vt:lpstr>Источники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Электрический ток в полупроводниках, газах и жидкостях.</dc:title>
  <dc:creator>Admin</dc:creator>
  <cp:lastModifiedBy>Admin</cp:lastModifiedBy>
  <cp:revision>95</cp:revision>
  <dcterms:created xsi:type="dcterms:W3CDTF">2023-02-18T15:13:44Z</dcterms:created>
  <dcterms:modified xsi:type="dcterms:W3CDTF">2023-02-20T07:29:50Z</dcterms:modified>
</cp:coreProperties>
</file>
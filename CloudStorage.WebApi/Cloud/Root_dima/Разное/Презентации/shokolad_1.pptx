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5"/>
  </p:notesMasterIdLst>
  <p:sldIdLst>
    <p:sldId id="256" r:id="rId2"/>
    <p:sldId id="257" r:id="rId3"/>
    <p:sldId id="258" r:id="rId4"/>
    <p:sldId id="259"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92"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Lst>
  <p:sldSz cx="9144000" cy="6858000" type="screen4x3"/>
  <p:notesSz cx="6858000" cy="9144000"/>
  <p:defaultTextStyle>
    <a:defPPr>
      <a:defRPr lang="en-GB"/>
    </a:defPPr>
    <a:lvl1pPr algn="l" defTabSz="449263" rtl="0" eaLnBrk="0" fontAlgn="base" hangingPunct="0">
      <a:spcBef>
        <a:spcPct val="0"/>
      </a:spcBef>
      <a:spcAft>
        <a:spcPct val="0"/>
      </a:spcAft>
      <a:defRPr kern="1200">
        <a:solidFill>
          <a:schemeClr val="bg1"/>
        </a:solidFill>
        <a:latin typeface="Arial" panose="020B0604020202020204" pitchFamily="34" charset="0"/>
        <a:ea typeface="+mn-ea"/>
        <a:cs typeface="Arial" panose="020B0604020202020204" pitchFamily="34" charset="0"/>
      </a:defRPr>
    </a:lvl1pPr>
    <a:lvl2pPr marL="742950" indent="-285750" algn="l" defTabSz="449263" rtl="0" eaLnBrk="0" fontAlgn="base" hangingPunct="0">
      <a:spcBef>
        <a:spcPct val="0"/>
      </a:spcBef>
      <a:spcAft>
        <a:spcPct val="0"/>
      </a:spcAft>
      <a:defRPr kern="1200">
        <a:solidFill>
          <a:schemeClr val="bg1"/>
        </a:solidFill>
        <a:latin typeface="Arial" panose="020B0604020202020204" pitchFamily="34" charset="0"/>
        <a:ea typeface="+mn-ea"/>
        <a:cs typeface="Arial" panose="020B0604020202020204" pitchFamily="34" charset="0"/>
      </a:defRPr>
    </a:lvl2pPr>
    <a:lvl3pPr marL="1143000" indent="-228600" algn="l" defTabSz="449263" rtl="0" eaLnBrk="0" fontAlgn="base" hangingPunct="0">
      <a:spcBef>
        <a:spcPct val="0"/>
      </a:spcBef>
      <a:spcAft>
        <a:spcPct val="0"/>
      </a:spcAft>
      <a:defRPr kern="1200">
        <a:solidFill>
          <a:schemeClr val="bg1"/>
        </a:solidFill>
        <a:latin typeface="Arial" panose="020B0604020202020204" pitchFamily="34" charset="0"/>
        <a:ea typeface="+mn-ea"/>
        <a:cs typeface="Arial" panose="020B0604020202020204" pitchFamily="34" charset="0"/>
      </a:defRPr>
    </a:lvl3pPr>
    <a:lvl4pPr marL="1600200" indent="-228600" algn="l" defTabSz="449263" rtl="0" eaLnBrk="0" fontAlgn="base" hangingPunct="0">
      <a:spcBef>
        <a:spcPct val="0"/>
      </a:spcBef>
      <a:spcAft>
        <a:spcPct val="0"/>
      </a:spcAft>
      <a:defRPr kern="1200">
        <a:solidFill>
          <a:schemeClr val="bg1"/>
        </a:solidFill>
        <a:latin typeface="Arial" panose="020B0604020202020204" pitchFamily="34" charset="0"/>
        <a:ea typeface="+mn-ea"/>
        <a:cs typeface="Arial" panose="020B0604020202020204" pitchFamily="34" charset="0"/>
      </a:defRPr>
    </a:lvl4pPr>
    <a:lvl5pPr marL="2057400" indent="-228600" algn="l" defTabSz="449263" rtl="0" eaLnBrk="0" fontAlgn="base" hangingPunct="0">
      <a:spcBef>
        <a:spcPct val="0"/>
      </a:spcBef>
      <a:spcAft>
        <a:spcPct val="0"/>
      </a:spcAft>
      <a:defRPr kern="1200">
        <a:solidFill>
          <a:schemeClr val="bg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8" d="100"/>
          <a:sy n="98" d="100"/>
        </p:scale>
        <p:origin x="72" y="21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_____Microsoft_Excel.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Microsoft_Excel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Microsoft_Excel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_____Microsoft_Excel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ru-RU"/>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2916666666666665E-2"/>
          <c:y val="0.14190625000000001"/>
          <c:w val="0.95416666666666672"/>
          <c:h val="0.75735506889763782"/>
        </c:manualLayout>
      </c:layout>
      <c:pie3DChart>
        <c:varyColors val="1"/>
        <c:ser>
          <c:idx val="0"/>
          <c:order val="0"/>
          <c:tx>
            <c:strRef>
              <c:f>Лист1!$B$1</c:f>
              <c:strCache>
                <c:ptCount val="1"/>
                <c:pt idx="0">
                  <c:v>Как часто вы употребляете шоколад?</c:v>
                </c:pt>
              </c:strCache>
            </c:strRef>
          </c:tx>
          <c:dPt>
            <c:idx val="0"/>
            <c:bubble3D val="0"/>
            <c:spPr>
              <a:solidFill>
                <a:srgbClr val="00B0F0"/>
              </a:solidFill>
              <a:ln w="25400">
                <a:noFill/>
              </a:ln>
              <a:effectLst/>
              <a:sp3d/>
            </c:spPr>
            <c:extLst>
              <c:ext xmlns:c16="http://schemas.microsoft.com/office/drawing/2014/chart" uri="{C3380CC4-5D6E-409C-BE32-E72D297353CC}">
                <c16:uniqueId val="{00000001-C702-43B3-9A01-C067004673AE}"/>
              </c:ext>
            </c:extLst>
          </c:dPt>
          <c:dPt>
            <c:idx val="1"/>
            <c:bubble3D val="0"/>
            <c:spPr>
              <a:solidFill>
                <a:srgbClr val="92D050"/>
              </a:solidFill>
              <a:ln w="25400">
                <a:noFill/>
              </a:ln>
              <a:effectLst/>
              <a:sp3d/>
            </c:spPr>
            <c:extLst>
              <c:ext xmlns:c16="http://schemas.microsoft.com/office/drawing/2014/chart" uri="{C3380CC4-5D6E-409C-BE32-E72D297353CC}">
                <c16:uniqueId val="{00000002-C702-43B3-9A01-C067004673AE}"/>
              </c:ext>
            </c:extLst>
          </c:dPt>
          <c:dPt>
            <c:idx val="2"/>
            <c:bubble3D val="0"/>
            <c:spPr>
              <a:solidFill>
                <a:srgbClr val="FFFF00"/>
              </a:solidFill>
              <a:ln w="25400">
                <a:noFill/>
              </a:ln>
              <a:effectLst/>
              <a:sp3d/>
            </c:spPr>
            <c:extLst>
              <c:ext xmlns:c16="http://schemas.microsoft.com/office/drawing/2014/chart" uri="{C3380CC4-5D6E-409C-BE32-E72D297353CC}">
                <c16:uniqueId val="{00000003-C702-43B3-9A01-C067004673AE}"/>
              </c:ext>
            </c:extLst>
          </c:dPt>
          <c:dPt>
            <c:idx val="3"/>
            <c:bubble3D val="0"/>
            <c:spPr>
              <a:solidFill>
                <a:srgbClr val="FFC000"/>
              </a:solidFill>
              <a:ln w="25400">
                <a:noFill/>
              </a:ln>
              <a:effectLst/>
              <a:sp3d/>
            </c:spPr>
            <c:extLst>
              <c:ext xmlns:c16="http://schemas.microsoft.com/office/drawing/2014/chart" uri="{C3380CC4-5D6E-409C-BE32-E72D297353CC}">
                <c16:uniqueId val="{00000004-C702-43B3-9A01-C067004673A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ln>
                      <a:noFill/>
                    </a:ln>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Каждый день</c:v>
                </c:pt>
                <c:pt idx="1">
                  <c:v>Один раз в неделю</c:v>
                </c:pt>
                <c:pt idx="2">
                  <c:v>По праздникам</c:v>
                </c:pt>
                <c:pt idx="3">
                  <c:v>Другое</c:v>
                </c:pt>
              </c:strCache>
            </c:strRef>
          </c:cat>
          <c:val>
            <c:numRef>
              <c:f>Лист1!$B$2:$B$5</c:f>
              <c:numCache>
                <c:formatCode>0%</c:formatCode>
                <c:ptCount val="4"/>
                <c:pt idx="0">
                  <c:v>0.1</c:v>
                </c:pt>
                <c:pt idx="1">
                  <c:v>0.35</c:v>
                </c:pt>
                <c:pt idx="2">
                  <c:v>0.15</c:v>
                </c:pt>
                <c:pt idx="3">
                  <c:v>0.4</c:v>
                </c:pt>
              </c:numCache>
            </c:numRef>
          </c:val>
          <c:extLst>
            <c:ext xmlns:c16="http://schemas.microsoft.com/office/drawing/2014/chart" uri="{C3380CC4-5D6E-409C-BE32-E72D297353CC}">
              <c16:uniqueId val="{00000000-C702-43B3-9A01-C067004673AE}"/>
            </c:ext>
          </c:extLst>
        </c:ser>
        <c:dLbls>
          <c:dLblPos val="ctr"/>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ru-RU"/>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2916666666666665E-2"/>
          <c:y val="0.14190625000000001"/>
          <c:w val="0.95416666666666672"/>
          <c:h val="0.75735506889763782"/>
        </c:manualLayout>
      </c:layout>
      <c:pie3DChart>
        <c:varyColors val="1"/>
        <c:ser>
          <c:idx val="0"/>
          <c:order val="0"/>
          <c:tx>
            <c:strRef>
              <c:f>Лист1!$B$1</c:f>
              <c:strCache>
                <c:ptCount val="1"/>
                <c:pt idx="0">
                  <c:v>Как влияет шоколад на Ваше настроение?</c:v>
                </c:pt>
              </c:strCache>
            </c:strRef>
          </c:tx>
          <c:dPt>
            <c:idx val="0"/>
            <c:bubble3D val="0"/>
            <c:spPr>
              <a:solidFill>
                <a:srgbClr val="00B0F0"/>
              </a:solidFill>
              <a:ln w="25400">
                <a:noFill/>
              </a:ln>
              <a:effectLst/>
              <a:sp3d/>
            </c:spPr>
            <c:extLst>
              <c:ext xmlns:c16="http://schemas.microsoft.com/office/drawing/2014/chart" uri="{C3380CC4-5D6E-409C-BE32-E72D297353CC}">
                <c16:uniqueId val="{00000001-23F8-4F6B-B118-98ADF7C3F0A7}"/>
              </c:ext>
            </c:extLst>
          </c:dPt>
          <c:dPt>
            <c:idx val="1"/>
            <c:bubble3D val="0"/>
            <c:spPr>
              <a:solidFill>
                <a:srgbClr val="92D050"/>
              </a:solidFill>
              <a:ln w="25400">
                <a:noFill/>
              </a:ln>
              <a:effectLst/>
              <a:sp3d/>
            </c:spPr>
            <c:extLst>
              <c:ext xmlns:c16="http://schemas.microsoft.com/office/drawing/2014/chart" uri="{C3380CC4-5D6E-409C-BE32-E72D297353CC}">
                <c16:uniqueId val="{00000003-23F8-4F6B-B118-98ADF7C3F0A7}"/>
              </c:ext>
            </c:extLst>
          </c:dPt>
          <c:dPt>
            <c:idx val="2"/>
            <c:bubble3D val="0"/>
            <c:spPr>
              <a:solidFill>
                <a:srgbClr val="FFC000"/>
              </a:solidFill>
              <a:ln w="25400">
                <a:noFill/>
              </a:ln>
              <a:effectLst/>
              <a:sp3d/>
            </c:spPr>
            <c:extLst>
              <c:ext xmlns:c16="http://schemas.microsoft.com/office/drawing/2014/chart" uri="{C3380CC4-5D6E-409C-BE32-E72D297353CC}">
                <c16:uniqueId val="{00000005-23F8-4F6B-B118-98ADF7C3F0A7}"/>
              </c:ext>
            </c:extLst>
          </c:dPt>
          <c:dPt>
            <c:idx val="3"/>
            <c:bubble3D val="0"/>
            <c:spPr>
              <a:solidFill>
                <a:schemeClr val="accent6">
                  <a:lumMod val="20000"/>
                  <a:lumOff val="80000"/>
                </a:schemeClr>
              </a:solidFill>
              <a:ln w="25400">
                <a:noFill/>
              </a:ln>
              <a:effectLst/>
              <a:sp3d/>
            </c:spPr>
            <c:extLst>
              <c:ext xmlns:c16="http://schemas.microsoft.com/office/drawing/2014/chart" uri="{C3380CC4-5D6E-409C-BE32-E72D297353CC}">
                <c16:uniqueId val="{00000007-23F8-4F6B-B118-98ADF7C3F0A7}"/>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ln>
                      <a:noFill/>
                    </a:ln>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Улучшает</c:v>
                </c:pt>
                <c:pt idx="1">
                  <c:v>Ухудшает</c:v>
                </c:pt>
                <c:pt idx="2">
                  <c:v>Другое</c:v>
                </c:pt>
              </c:strCache>
            </c:strRef>
          </c:cat>
          <c:val>
            <c:numRef>
              <c:f>Лист1!$B$2:$B$4</c:f>
              <c:numCache>
                <c:formatCode>0%</c:formatCode>
                <c:ptCount val="3"/>
                <c:pt idx="0">
                  <c:v>0.74</c:v>
                </c:pt>
                <c:pt idx="1">
                  <c:v>0</c:v>
                </c:pt>
                <c:pt idx="2">
                  <c:v>0.26</c:v>
                </c:pt>
              </c:numCache>
            </c:numRef>
          </c:val>
          <c:extLst>
            <c:ext xmlns:c16="http://schemas.microsoft.com/office/drawing/2014/chart" uri="{C3380CC4-5D6E-409C-BE32-E72D297353CC}">
              <c16:uniqueId val="{00000008-23F8-4F6B-B118-98ADF7C3F0A7}"/>
            </c:ext>
          </c:extLst>
        </c:ser>
        <c:dLbls>
          <c:dLblPos val="ctr"/>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ru-RU"/>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2916666666666665E-2"/>
          <c:y val="0.14190625000000001"/>
          <c:w val="0.95416666666666672"/>
          <c:h val="0.75735506889763782"/>
        </c:manualLayout>
      </c:layout>
      <c:pie3DChart>
        <c:varyColors val="1"/>
        <c:ser>
          <c:idx val="0"/>
          <c:order val="0"/>
          <c:tx>
            <c:strRef>
              <c:f>Лист1!$B$1</c:f>
              <c:strCache>
                <c:ptCount val="1"/>
                <c:pt idx="0">
                  <c:v>Как Вы считаете полезен ли шоколад для человека?</c:v>
                </c:pt>
              </c:strCache>
            </c:strRef>
          </c:tx>
          <c:dPt>
            <c:idx val="0"/>
            <c:bubble3D val="0"/>
            <c:spPr>
              <a:solidFill>
                <a:srgbClr val="00B0F0"/>
              </a:solidFill>
              <a:ln w="25400">
                <a:noFill/>
              </a:ln>
              <a:effectLst/>
              <a:sp3d/>
            </c:spPr>
            <c:extLst>
              <c:ext xmlns:c16="http://schemas.microsoft.com/office/drawing/2014/chart" uri="{C3380CC4-5D6E-409C-BE32-E72D297353CC}">
                <c16:uniqueId val="{00000001-A173-4581-BEC1-68451ADBA46E}"/>
              </c:ext>
            </c:extLst>
          </c:dPt>
          <c:dPt>
            <c:idx val="1"/>
            <c:bubble3D val="0"/>
            <c:spPr>
              <a:solidFill>
                <a:srgbClr val="92D050"/>
              </a:solidFill>
              <a:ln w="25400">
                <a:noFill/>
              </a:ln>
              <a:effectLst/>
              <a:sp3d/>
            </c:spPr>
            <c:extLst>
              <c:ext xmlns:c16="http://schemas.microsoft.com/office/drawing/2014/chart" uri="{C3380CC4-5D6E-409C-BE32-E72D297353CC}">
                <c16:uniqueId val="{00000003-A173-4581-BEC1-68451ADBA46E}"/>
              </c:ext>
            </c:extLst>
          </c:dPt>
          <c:dPt>
            <c:idx val="2"/>
            <c:bubble3D val="0"/>
            <c:spPr>
              <a:solidFill>
                <a:srgbClr val="FFFF00"/>
              </a:solidFill>
              <a:ln w="25400">
                <a:noFill/>
              </a:ln>
              <a:effectLst/>
              <a:sp3d/>
            </c:spPr>
            <c:extLst>
              <c:ext xmlns:c16="http://schemas.microsoft.com/office/drawing/2014/chart" uri="{C3380CC4-5D6E-409C-BE32-E72D297353CC}">
                <c16:uniqueId val="{00000005-A173-4581-BEC1-68451ADBA46E}"/>
              </c:ext>
            </c:extLst>
          </c:dPt>
          <c:dPt>
            <c:idx val="3"/>
            <c:bubble3D val="0"/>
            <c:spPr>
              <a:solidFill>
                <a:schemeClr val="accent6">
                  <a:lumMod val="20000"/>
                  <a:lumOff val="80000"/>
                </a:schemeClr>
              </a:solidFill>
              <a:ln w="25400">
                <a:noFill/>
              </a:ln>
              <a:effectLst/>
              <a:sp3d/>
            </c:spPr>
            <c:extLst>
              <c:ext xmlns:c16="http://schemas.microsoft.com/office/drawing/2014/chart" uri="{C3380CC4-5D6E-409C-BE32-E72D297353CC}">
                <c16:uniqueId val="{00000007-A173-4581-BEC1-68451ADBA46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ln>
                      <a:noFill/>
                    </a:ln>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Лист1!$A$2:$A$4</c:f>
              <c:strCache>
                <c:ptCount val="3"/>
                <c:pt idx="0">
                  <c:v>Да</c:v>
                </c:pt>
                <c:pt idx="1">
                  <c:v>Нет</c:v>
                </c:pt>
                <c:pt idx="2">
                  <c:v>Другое</c:v>
                </c:pt>
              </c:strCache>
            </c:strRef>
          </c:cat>
          <c:val>
            <c:numRef>
              <c:f>Лист1!$B$2:$B$4</c:f>
              <c:numCache>
                <c:formatCode>0%</c:formatCode>
                <c:ptCount val="3"/>
                <c:pt idx="0">
                  <c:v>0.74</c:v>
                </c:pt>
                <c:pt idx="1">
                  <c:v>0.05</c:v>
                </c:pt>
                <c:pt idx="2">
                  <c:v>0.21</c:v>
                </c:pt>
              </c:numCache>
            </c:numRef>
          </c:val>
          <c:extLst>
            <c:ext xmlns:c16="http://schemas.microsoft.com/office/drawing/2014/chart" uri="{C3380CC4-5D6E-409C-BE32-E72D297353CC}">
              <c16:uniqueId val="{00000008-A173-4581-BEC1-68451ADBA46E}"/>
            </c:ext>
          </c:extLst>
        </c:ser>
        <c:dLbls>
          <c:dLblPos val="ctr"/>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ru-RU"/>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2916666666666665E-2"/>
          <c:y val="0.14190625000000001"/>
          <c:w val="0.95416666666666672"/>
          <c:h val="0.75735506889763782"/>
        </c:manualLayout>
      </c:layout>
      <c:pie3DChart>
        <c:varyColors val="1"/>
        <c:ser>
          <c:idx val="0"/>
          <c:order val="0"/>
          <c:tx>
            <c:strRef>
              <c:f>Лист1!$B$1</c:f>
              <c:strCache>
                <c:ptCount val="1"/>
                <c:pt idx="0">
                  <c:v>Как препочитаете шоколад?</c:v>
                </c:pt>
              </c:strCache>
            </c:strRef>
          </c:tx>
          <c:dPt>
            <c:idx val="0"/>
            <c:bubble3D val="0"/>
            <c:spPr>
              <a:solidFill>
                <a:srgbClr val="00B0F0"/>
              </a:solidFill>
              <a:ln w="25400">
                <a:noFill/>
              </a:ln>
              <a:effectLst/>
              <a:sp3d/>
            </c:spPr>
            <c:extLst>
              <c:ext xmlns:c16="http://schemas.microsoft.com/office/drawing/2014/chart" uri="{C3380CC4-5D6E-409C-BE32-E72D297353CC}">
                <c16:uniqueId val="{00000001-D102-4B1F-94F5-AAE128D98FC6}"/>
              </c:ext>
            </c:extLst>
          </c:dPt>
          <c:dPt>
            <c:idx val="1"/>
            <c:bubble3D val="0"/>
            <c:spPr>
              <a:solidFill>
                <a:srgbClr val="92D050"/>
              </a:solidFill>
              <a:ln w="25400">
                <a:noFill/>
              </a:ln>
              <a:effectLst/>
              <a:sp3d/>
            </c:spPr>
            <c:extLst>
              <c:ext xmlns:c16="http://schemas.microsoft.com/office/drawing/2014/chart" uri="{C3380CC4-5D6E-409C-BE32-E72D297353CC}">
                <c16:uniqueId val="{00000003-D102-4B1F-94F5-AAE128D98FC6}"/>
              </c:ext>
            </c:extLst>
          </c:dPt>
          <c:dPt>
            <c:idx val="2"/>
            <c:bubble3D val="0"/>
            <c:spPr>
              <a:solidFill>
                <a:srgbClr val="FFFF00"/>
              </a:solidFill>
              <a:ln w="25400">
                <a:noFill/>
              </a:ln>
              <a:effectLst/>
              <a:sp3d/>
            </c:spPr>
            <c:extLst>
              <c:ext xmlns:c16="http://schemas.microsoft.com/office/drawing/2014/chart" uri="{C3380CC4-5D6E-409C-BE32-E72D297353CC}">
                <c16:uniqueId val="{00000005-D102-4B1F-94F5-AAE128D98FC6}"/>
              </c:ext>
            </c:extLst>
          </c:dPt>
          <c:dPt>
            <c:idx val="3"/>
            <c:bubble3D val="0"/>
            <c:spPr>
              <a:solidFill>
                <a:srgbClr val="FFC000"/>
              </a:solidFill>
              <a:ln w="25400">
                <a:noFill/>
              </a:ln>
              <a:effectLst/>
              <a:sp3d/>
            </c:spPr>
            <c:extLst>
              <c:ext xmlns:c16="http://schemas.microsoft.com/office/drawing/2014/chart" uri="{C3380CC4-5D6E-409C-BE32-E72D297353CC}">
                <c16:uniqueId val="{00000007-D102-4B1F-94F5-AAE128D98FC6}"/>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ln>
                      <a:noFill/>
                    </a:ln>
                    <a:solidFill>
                      <a:schemeClr val="tx1"/>
                    </a:solidFill>
                    <a:latin typeface="+mn-lt"/>
                    <a:ea typeface="+mn-ea"/>
                    <a:cs typeface="+mn-cs"/>
                  </a:defRPr>
                </a:pPr>
                <a:endParaRPr lang="ru-RU"/>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Лист1!$A$2:$A$5</c:f>
              <c:strCache>
                <c:ptCount val="4"/>
                <c:pt idx="0">
                  <c:v>Молочный</c:v>
                </c:pt>
                <c:pt idx="1">
                  <c:v>Белый</c:v>
                </c:pt>
                <c:pt idx="2">
                  <c:v>Горький</c:v>
                </c:pt>
                <c:pt idx="3">
                  <c:v>Темный</c:v>
                </c:pt>
              </c:strCache>
            </c:strRef>
          </c:cat>
          <c:val>
            <c:numRef>
              <c:f>Лист1!$B$2:$B$5</c:f>
              <c:numCache>
                <c:formatCode>0%</c:formatCode>
                <c:ptCount val="4"/>
                <c:pt idx="0">
                  <c:v>0.65</c:v>
                </c:pt>
                <c:pt idx="1">
                  <c:v>0.11</c:v>
                </c:pt>
                <c:pt idx="2">
                  <c:v>0.24</c:v>
                </c:pt>
                <c:pt idx="3">
                  <c:v>0</c:v>
                </c:pt>
              </c:numCache>
            </c:numRef>
          </c:val>
          <c:extLst>
            <c:ext xmlns:c16="http://schemas.microsoft.com/office/drawing/2014/chart" uri="{C3380CC4-5D6E-409C-BE32-E72D297353CC}">
              <c16:uniqueId val="{00000008-D102-4B1F-94F5-AAE128D98FC6}"/>
            </c:ext>
          </c:extLst>
        </c:ser>
        <c:dLbls>
          <c:dLblPos val="ctr"/>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ru-RU"/>
        </a:p>
      </c:txPr>
    </c:legend>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p:cNvSpPr>
            <a:spLocks noGrp="1" noRot="1" noChangeAspect="1" noChangeArrowheads="1"/>
          </p:cNvSpPr>
          <p:nvPr>
            <p:ph type="sldImg"/>
          </p:nvPr>
        </p:nvSpPr>
        <p:spPr bwMode="auto">
          <a:xfrm>
            <a:off x="0" y="695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2" name="Rectangle 2"/>
          <p:cNvSpPr>
            <a:spLocks noGrp="1" noChangeArrowheads="1"/>
          </p:cNvSpPr>
          <p:nvPr>
            <p:ph type="body"/>
          </p:nvPr>
        </p:nvSpPr>
        <p:spPr bwMode="auto">
          <a:xfrm>
            <a:off x="685800" y="4343400"/>
            <a:ext cx="5484813" cy="4113213"/>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p>
            <a:pPr lvl="0"/>
            <a:endParaRPr lang="ru-RU" noProof="0" smtClean="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4099"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6147"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8195"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10243"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12291"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14339"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16387"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18435"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20483"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22531"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24579"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26627"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28675"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30723"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32771"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34819"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36867"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38915"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40963"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43011"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45059"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47107"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49155"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51203"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53251"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55299"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57347"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59395"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61443"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63491"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65539"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67587"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headEnd/>
            <a:tailEnd/>
          </a:ln>
        </p:spPr>
      </p:sp>
      <p:sp>
        <p:nvSpPr>
          <p:cNvPr id="69635"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ru-RU" altLang="ru-RU" smtClean="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smtClean="0"/>
              <a:t>Образец подзаголовка</a:t>
            </a:r>
            <a:endParaRPr lang="ru-RU"/>
          </a:p>
        </p:txBody>
      </p:sp>
      <p:sp>
        <p:nvSpPr>
          <p:cNvPr id="4" name="Rectangle 5"/>
          <p:cNvSpPr>
            <a:spLocks noGrp="1" noChangeArrowheads="1"/>
          </p:cNvSpPr>
          <p:nvPr>
            <p:ph type="sldNum" idx="10"/>
          </p:nvPr>
        </p:nvSpPr>
        <p:spPr>
          <a:ln/>
        </p:spPr>
        <p:txBody>
          <a:bodyPr/>
          <a:lstStyle>
            <a:lvl1pPr>
              <a:defRPr/>
            </a:lvl1pPr>
          </a:lstStyle>
          <a:p>
            <a:pPr>
              <a:defRPr/>
            </a:pPr>
            <a:fld id="{EE90F822-90DD-46A6-9D93-E754C793B1DD}" type="slidenum">
              <a:rPr lang="ru-RU" altLang="ru-RU"/>
              <a:pPr>
                <a:defRPr/>
              </a:pPr>
              <a:t>‹#›</a:t>
            </a:fld>
            <a:endParaRPr lang="ru-RU" altLang="ru-RU"/>
          </a:p>
        </p:txBody>
      </p:sp>
    </p:spTree>
    <p:extLst>
      <p:ext uri="{BB962C8B-B14F-4D97-AF65-F5344CB8AC3E}">
        <p14:creationId xmlns:p14="http://schemas.microsoft.com/office/powerpoint/2010/main" val="346650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5"/>
          <p:cNvSpPr>
            <a:spLocks noGrp="1" noChangeArrowheads="1"/>
          </p:cNvSpPr>
          <p:nvPr>
            <p:ph type="sldNum" idx="10"/>
          </p:nvPr>
        </p:nvSpPr>
        <p:spPr>
          <a:ln/>
        </p:spPr>
        <p:txBody>
          <a:bodyPr/>
          <a:lstStyle>
            <a:lvl1pPr>
              <a:defRPr/>
            </a:lvl1pPr>
          </a:lstStyle>
          <a:p>
            <a:pPr>
              <a:defRPr/>
            </a:pPr>
            <a:fld id="{95AACC61-E612-4C9A-8385-21EEF436F351}" type="slidenum">
              <a:rPr lang="ru-RU" altLang="ru-RU"/>
              <a:pPr>
                <a:defRPr/>
              </a:pPr>
              <a:t>‹#›</a:t>
            </a:fld>
            <a:endParaRPr lang="ru-RU" altLang="ru-RU"/>
          </a:p>
        </p:txBody>
      </p:sp>
    </p:spTree>
    <p:extLst>
      <p:ext uri="{BB962C8B-B14F-4D97-AF65-F5344CB8AC3E}">
        <p14:creationId xmlns:p14="http://schemas.microsoft.com/office/powerpoint/2010/main" val="204532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smtClean="0"/>
              <a:t>Образец текста</a:t>
            </a:r>
          </a:p>
        </p:txBody>
      </p:sp>
      <p:sp>
        <p:nvSpPr>
          <p:cNvPr id="4" name="Rectangle 5"/>
          <p:cNvSpPr>
            <a:spLocks noGrp="1" noChangeArrowheads="1"/>
          </p:cNvSpPr>
          <p:nvPr>
            <p:ph type="sldNum" idx="10"/>
          </p:nvPr>
        </p:nvSpPr>
        <p:spPr>
          <a:ln/>
        </p:spPr>
        <p:txBody>
          <a:bodyPr/>
          <a:lstStyle>
            <a:lvl1pPr>
              <a:defRPr/>
            </a:lvl1pPr>
          </a:lstStyle>
          <a:p>
            <a:pPr>
              <a:defRPr/>
            </a:pPr>
            <a:fld id="{C58F6EBA-C598-4C2D-9297-A76A0D3BBFE0}" type="slidenum">
              <a:rPr lang="ru-RU" altLang="ru-RU"/>
              <a:pPr>
                <a:defRPr/>
              </a:pPr>
              <a:t>‹#›</a:t>
            </a:fld>
            <a:endParaRPr lang="ru-RU" altLang="ru-RU"/>
          </a:p>
        </p:txBody>
      </p:sp>
    </p:spTree>
    <p:extLst>
      <p:ext uri="{BB962C8B-B14F-4D97-AF65-F5344CB8AC3E}">
        <p14:creationId xmlns:p14="http://schemas.microsoft.com/office/powerpoint/2010/main" val="3552853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6613" y="1600200"/>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5"/>
          <p:cNvSpPr>
            <a:spLocks noGrp="1" noChangeArrowheads="1"/>
          </p:cNvSpPr>
          <p:nvPr>
            <p:ph type="sldNum" idx="10"/>
          </p:nvPr>
        </p:nvSpPr>
        <p:spPr>
          <a:ln/>
        </p:spPr>
        <p:txBody>
          <a:bodyPr/>
          <a:lstStyle>
            <a:lvl1pPr>
              <a:defRPr/>
            </a:lvl1pPr>
          </a:lstStyle>
          <a:p>
            <a:pPr>
              <a:defRPr/>
            </a:pPr>
            <a:fld id="{C5A22EBD-45E6-48D0-BD1E-956F61AEA6F2}" type="slidenum">
              <a:rPr lang="ru-RU" altLang="ru-RU"/>
              <a:pPr>
                <a:defRPr/>
              </a:pPr>
              <a:t>‹#›</a:t>
            </a:fld>
            <a:endParaRPr lang="ru-RU" altLang="ru-RU"/>
          </a:p>
        </p:txBody>
      </p:sp>
    </p:spTree>
    <p:extLst>
      <p:ext uri="{BB962C8B-B14F-4D97-AF65-F5344CB8AC3E}">
        <p14:creationId xmlns:p14="http://schemas.microsoft.com/office/powerpoint/2010/main" val="353936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Rectangle 5"/>
          <p:cNvSpPr>
            <a:spLocks noGrp="1" noChangeArrowheads="1"/>
          </p:cNvSpPr>
          <p:nvPr>
            <p:ph type="sldNum" idx="10"/>
          </p:nvPr>
        </p:nvSpPr>
        <p:spPr>
          <a:ln/>
        </p:spPr>
        <p:txBody>
          <a:bodyPr/>
          <a:lstStyle>
            <a:lvl1pPr>
              <a:defRPr/>
            </a:lvl1pPr>
          </a:lstStyle>
          <a:p>
            <a:pPr>
              <a:defRPr/>
            </a:pPr>
            <a:fld id="{999611F5-4084-4C6B-8B8C-8CBB0BBCEE1A}" type="slidenum">
              <a:rPr lang="ru-RU" altLang="ru-RU"/>
              <a:pPr>
                <a:defRPr/>
              </a:pPr>
              <a:t>‹#›</a:t>
            </a:fld>
            <a:endParaRPr lang="ru-RU" altLang="ru-RU"/>
          </a:p>
        </p:txBody>
      </p:sp>
    </p:spTree>
    <p:extLst>
      <p:ext uri="{BB962C8B-B14F-4D97-AF65-F5344CB8AC3E}">
        <p14:creationId xmlns:p14="http://schemas.microsoft.com/office/powerpoint/2010/main" val="17073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Rectangle 5"/>
          <p:cNvSpPr>
            <a:spLocks noGrp="1" noChangeArrowheads="1"/>
          </p:cNvSpPr>
          <p:nvPr>
            <p:ph type="sldNum" idx="10"/>
          </p:nvPr>
        </p:nvSpPr>
        <p:spPr>
          <a:ln/>
        </p:spPr>
        <p:txBody>
          <a:bodyPr/>
          <a:lstStyle>
            <a:lvl1pPr>
              <a:defRPr/>
            </a:lvl1pPr>
          </a:lstStyle>
          <a:p>
            <a:pPr>
              <a:defRPr/>
            </a:pPr>
            <a:fld id="{0A3F0E55-0525-4558-9C14-90C8CE145B9E}" type="slidenum">
              <a:rPr lang="ru-RU" altLang="ru-RU"/>
              <a:pPr>
                <a:defRPr/>
              </a:pPr>
              <a:t>‹#›</a:t>
            </a:fld>
            <a:endParaRPr lang="ru-RU" altLang="ru-RU"/>
          </a:p>
        </p:txBody>
      </p:sp>
    </p:spTree>
    <p:extLst>
      <p:ext uri="{BB962C8B-B14F-4D97-AF65-F5344CB8AC3E}">
        <p14:creationId xmlns:p14="http://schemas.microsoft.com/office/powerpoint/2010/main" val="3795653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5"/>
          <p:cNvSpPr>
            <a:spLocks noGrp="1" noChangeArrowheads="1"/>
          </p:cNvSpPr>
          <p:nvPr>
            <p:ph type="sldNum" idx="10"/>
          </p:nvPr>
        </p:nvSpPr>
        <p:spPr>
          <a:ln/>
        </p:spPr>
        <p:txBody>
          <a:bodyPr/>
          <a:lstStyle>
            <a:lvl1pPr>
              <a:defRPr/>
            </a:lvl1pPr>
          </a:lstStyle>
          <a:p>
            <a:pPr>
              <a:defRPr/>
            </a:pPr>
            <a:fld id="{791761F3-181F-4A57-A5D4-9A980DC0F7AE}" type="slidenum">
              <a:rPr lang="ru-RU" altLang="ru-RU"/>
              <a:pPr>
                <a:defRPr/>
              </a:pPr>
              <a:t>‹#›</a:t>
            </a:fld>
            <a:endParaRPr lang="ru-RU" altLang="ru-RU"/>
          </a:p>
        </p:txBody>
      </p:sp>
    </p:spTree>
    <p:extLst>
      <p:ext uri="{BB962C8B-B14F-4D97-AF65-F5344CB8AC3E}">
        <p14:creationId xmlns:p14="http://schemas.microsoft.com/office/powerpoint/2010/main" val="4173876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5"/>
          <p:cNvSpPr>
            <a:spLocks noGrp="1" noChangeArrowheads="1"/>
          </p:cNvSpPr>
          <p:nvPr>
            <p:ph type="sldNum" idx="10"/>
          </p:nvPr>
        </p:nvSpPr>
        <p:spPr>
          <a:ln/>
        </p:spPr>
        <p:txBody>
          <a:bodyPr/>
          <a:lstStyle>
            <a:lvl1pPr>
              <a:defRPr/>
            </a:lvl1pPr>
          </a:lstStyle>
          <a:p>
            <a:pPr>
              <a:defRPr/>
            </a:pPr>
            <a:fld id="{8235F67C-BDFD-4203-BD3B-9AF36EFC00F7}" type="slidenum">
              <a:rPr lang="ru-RU" altLang="ru-RU"/>
              <a:pPr>
                <a:defRPr/>
              </a:pPr>
              <a:t>‹#›</a:t>
            </a:fld>
            <a:endParaRPr lang="ru-RU" altLang="ru-RU"/>
          </a:p>
        </p:txBody>
      </p:sp>
    </p:spTree>
    <p:extLst>
      <p:ext uri="{BB962C8B-B14F-4D97-AF65-F5344CB8AC3E}">
        <p14:creationId xmlns:p14="http://schemas.microsoft.com/office/powerpoint/2010/main" val="2019290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smtClean="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5"/>
          <p:cNvSpPr>
            <a:spLocks noGrp="1" noChangeArrowheads="1"/>
          </p:cNvSpPr>
          <p:nvPr>
            <p:ph type="sldNum" idx="10"/>
          </p:nvPr>
        </p:nvSpPr>
        <p:spPr>
          <a:ln/>
        </p:spPr>
        <p:txBody>
          <a:bodyPr/>
          <a:lstStyle>
            <a:lvl1pPr>
              <a:defRPr/>
            </a:lvl1pPr>
          </a:lstStyle>
          <a:p>
            <a:pPr>
              <a:defRPr/>
            </a:pPr>
            <a:fld id="{C40CBBDD-2B85-445C-9331-075C4F63EB34}" type="slidenum">
              <a:rPr lang="ru-RU" altLang="ru-RU"/>
              <a:pPr>
                <a:defRPr/>
              </a:pPr>
              <a:t>‹#›</a:t>
            </a:fld>
            <a:endParaRPr lang="ru-RU" altLang="ru-RU"/>
          </a:p>
        </p:txBody>
      </p:sp>
    </p:spTree>
    <p:extLst>
      <p:ext uri="{BB962C8B-B14F-4D97-AF65-F5344CB8AC3E}">
        <p14:creationId xmlns:p14="http://schemas.microsoft.com/office/powerpoint/2010/main" val="3898747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5"/>
          <p:cNvSpPr>
            <a:spLocks noGrp="1" noChangeArrowheads="1"/>
          </p:cNvSpPr>
          <p:nvPr>
            <p:ph type="sldNum" idx="10"/>
          </p:nvPr>
        </p:nvSpPr>
        <p:spPr>
          <a:ln/>
        </p:spPr>
        <p:txBody>
          <a:bodyPr/>
          <a:lstStyle>
            <a:lvl1pPr>
              <a:defRPr/>
            </a:lvl1pPr>
          </a:lstStyle>
          <a:p>
            <a:pPr>
              <a:defRPr/>
            </a:pPr>
            <a:fld id="{0C2A3F93-49DD-43AB-B32E-D8EE9C853FF9}" type="slidenum">
              <a:rPr lang="ru-RU" altLang="ru-RU"/>
              <a:pPr>
                <a:defRPr/>
              </a:pPr>
              <a:t>‹#›</a:t>
            </a:fld>
            <a:endParaRPr lang="ru-RU" altLang="ru-RU"/>
          </a:p>
        </p:txBody>
      </p:sp>
    </p:spTree>
    <p:extLst>
      <p:ext uri="{BB962C8B-B14F-4D97-AF65-F5344CB8AC3E}">
        <p14:creationId xmlns:p14="http://schemas.microsoft.com/office/powerpoint/2010/main" val="1923369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5813" cy="5849937"/>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49937"/>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5"/>
          <p:cNvSpPr>
            <a:spLocks noGrp="1" noChangeArrowheads="1"/>
          </p:cNvSpPr>
          <p:nvPr>
            <p:ph type="sldNum" idx="10"/>
          </p:nvPr>
        </p:nvSpPr>
        <p:spPr>
          <a:ln/>
        </p:spPr>
        <p:txBody>
          <a:bodyPr/>
          <a:lstStyle>
            <a:lvl1pPr>
              <a:defRPr/>
            </a:lvl1pPr>
          </a:lstStyle>
          <a:p>
            <a:pPr>
              <a:defRPr/>
            </a:pPr>
            <a:fld id="{FB1FA680-34E7-4A85-A6D9-0F7808DCACA9}" type="slidenum">
              <a:rPr lang="ru-RU" altLang="ru-RU"/>
              <a:pPr>
                <a:defRPr/>
              </a:pPr>
              <a:t>‹#›</a:t>
            </a:fld>
            <a:endParaRPr lang="ru-RU" altLang="ru-RU"/>
          </a:p>
        </p:txBody>
      </p:sp>
    </p:spTree>
    <p:extLst>
      <p:ext uri="{BB962C8B-B14F-4D97-AF65-F5344CB8AC3E}">
        <p14:creationId xmlns:p14="http://schemas.microsoft.com/office/powerpoint/2010/main" val="3799678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57200" y="274638"/>
            <a:ext cx="8228013" cy="114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ctr" anchorCtr="0" compatLnSpc="1">
            <a:prstTxWarp prst="textNoShape">
              <a:avLst/>
            </a:prstTxWarp>
          </a:bodyPr>
          <a:lstStyle/>
          <a:p>
            <a:pPr lvl="0"/>
            <a:r>
              <a:rPr lang="en-GB" altLang="ru-RU" smtClean="0"/>
              <a:t>Для правки текста заголовка щёлкните мышью</a:t>
            </a:r>
          </a:p>
        </p:txBody>
      </p:sp>
      <p:sp>
        <p:nvSpPr>
          <p:cNvPr id="1027" name="Rectangle 2"/>
          <p:cNvSpPr>
            <a:spLocks noGrp="1" noChangeArrowheads="1"/>
          </p:cNvSpPr>
          <p:nvPr>
            <p:ph type="body" idx="1"/>
          </p:nvPr>
        </p:nvSpPr>
        <p:spPr bwMode="auto">
          <a:xfrm>
            <a:off x="457200" y="1600200"/>
            <a:ext cx="82280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altLang="ru-RU" smtClean="0"/>
              <a:t>Для правки структуры щёлкните мышью</a:t>
            </a:r>
          </a:p>
          <a:p>
            <a:pPr lvl="1"/>
            <a:r>
              <a:rPr lang="en-GB" altLang="ru-RU" smtClean="0"/>
              <a:t>Второй уровень структуры</a:t>
            </a:r>
          </a:p>
          <a:p>
            <a:pPr lvl="2"/>
            <a:r>
              <a:rPr lang="en-GB" altLang="ru-RU" smtClean="0"/>
              <a:t>Третий уровень структуры</a:t>
            </a:r>
          </a:p>
          <a:p>
            <a:pPr lvl="3"/>
            <a:r>
              <a:rPr lang="en-GB" altLang="ru-RU" smtClean="0"/>
              <a:t>Четвёртый уровень структуры</a:t>
            </a:r>
          </a:p>
          <a:p>
            <a:pPr lvl="4"/>
            <a:r>
              <a:rPr lang="en-GB" altLang="ru-RU" smtClean="0"/>
              <a:t>Пятый уровень структуры</a:t>
            </a:r>
          </a:p>
          <a:p>
            <a:pPr lvl="4"/>
            <a:r>
              <a:rPr lang="en-GB" altLang="ru-RU" smtClean="0"/>
              <a:t>Шестой уровень структуры</a:t>
            </a:r>
          </a:p>
          <a:p>
            <a:pPr lvl="4"/>
            <a:r>
              <a:rPr lang="en-GB" altLang="ru-RU" smtClean="0"/>
              <a:t>Седьмой уровень структуры</a:t>
            </a:r>
          </a:p>
        </p:txBody>
      </p:sp>
      <p:sp>
        <p:nvSpPr>
          <p:cNvPr id="1028" name="Text Box 3"/>
          <p:cNvSpPr txBox="1">
            <a:spLocks noChangeArrowheads="1"/>
          </p:cNvSpPr>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ru-RU" altLang="ru-RU"/>
          </a:p>
        </p:txBody>
      </p:sp>
      <p:sp>
        <p:nvSpPr>
          <p:cNvPr id="1029" name="Text Box 4"/>
          <p:cNvSpPr txBox="1">
            <a:spLocks noChangeArrowheads="1"/>
          </p:cNvSpPr>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ru-RU" altLang="ru-RU"/>
          </a:p>
        </p:txBody>
      </p:sp>
      <p:sp>
        <p:nvSpPr>
          <p:cNvPr id="2" name="Rectangle 5"/>
          <p:cNvSpPr>
            <a:spLocks noGrp="1" noChangeArrowheads="1"/>
          </p:cNvSpPr>
          <p:nvPr>
            <p:ph type="sldNum"/>
          </p:nvPr>
        </p:nvSpPr>
        <p:spPr bwMode="auto">
          <a:xfrm>
            <a:off x="6553200" y="6245225"/>
            <a:ext cx="2132013" cy="474663"/>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lvl1pPr algn="r" eaLnBrk="1" hangingPunct="1">
              <a:buClrTx/>
              <a:buSzPct val="100000"/>
              <a:buFontTx/>
              <a:buNone/>
              <a:defRPr sz="1400" smtClean="0">
                <a:solidFill>
                  <a:srgbClr val="000000"/>
                </a:solidFill>
              </a:defRPr>
            </a:lvl1pPr>
          </a:lstStyle>
          <a:p>
            <a:pPr>
              <a:defRPr/>
            </a:pPr>
            <a:fld id="{9268EFC1-4382-4C5F-8DEC-B379C8E390C5}" type="slidenum">
              <a:rPr lang="ru-RU" altLang="ru-RU"/>
              <a:pPr>
                <a:defRPr/>
              </a:pPr>
              <a:t>‹#›</a:t>
            </a:fld>
            <a:endParaRPr lang="ru-RU" alt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cs typeface="Arial" charset="0"/>
        </a:defRPr>
      </a:lvl2pPr>
      <a:lvl3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cs typeface="Arial" charset="0"/>
        </a:defRPr>
      </a:lvl3pPr>
      <a:lvl4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cs typeface="Arial" charset="0"/>
        </a:defRPr>
      </a:lvl4pPr>
      <a:lvl5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cs typeface="Arial" charset="0"/>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cs typeface="Arial" charset="0"/>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cs typeface="Arial" charset="0"/>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cs typeface="Arial" charset="0"/>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cs typeface="Arial" charset="0"/>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anose="02020603050405020304" pitchFamily="18" charset="0"/>
        <a:defRPr sz="3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anose="02020603050405020304" pitchFamily="18" charset="0"/>
        <a:defRPr sz="2800">
          <a:solidFill>
            <a:srgbClr val="000000"/>
          </a:solidFill>
          <a:latin typeface="+mn-lt"/>
          <a:cs typeface="+mn-cs"/>
        </a:defRPr>
      </a:lvl2pPr>
      <a:lvl3pPr marL="1143000" indent="-228600" algn="l" defTabSz="449263" rtl="0" eaLnBrk="0" fontAlgn="base" hangingPunct="0">
        <a:spcBef>
          <a:spcPts val="600"/>
        </a:spcBef>
        <a:spcAft>
          <a:spcPct val="0"/>
        </a:spcAft>
        <a:buClr>
          <a:srgbClr val="000000"/>
        </a:buClr>
        <a:buSzPct val="100000"/>
        <a:buFont typeface="Times New Roman" panose="02020603050405020304" pitchFamily="18" charset="0"/>
        <a:defRPr sz="2400">
          <a:solidFill>
            <a:srgbClr val="000000"/>
          </a:solidFill>
          <a:latin typeface="+mn-lt"/>
          <a:cs typeface="+mn-cs"/>
        </a:defRPr>
      </a:lvl3pPr>
      <a:lvl4pPr marL="16002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4pPr>
      <a:lvl5pPr marL="20574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4932040" y="4458023"/>
            <a:ext cx="4320480" cy="157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lnSpc>
                <a:spcPct val="80000"/>
              </a:lnSpc>
              <a:spcBef>
                <a:spcPts val="450"/>
              </a:spcBef>
              <a:buClrTx/>
              <a:buFontTx/>
              <a:buNone/>
            </a:pPr>
            <a:r>
              <a:rPr lang="ru-RU" altLang="ru-RU" sz="1800" dirty="0" smtClean="0">
                <a:solidFill>
                  <a:srgbClr val="FFFFFF"/>
                </a:solidFill>
                <a:latin typeface="Times New Roman" panose="02020603050405020304" pitchFamily="18" charset="0"/>
                <a:cs typeface="Times New Roman" panose="02020603050405020304" pitchFamily="18" charset="0"/>
              </a:rPr>
              <a:t>Выполнил студент</a:t>
            </a:r>
            <a:br>
              <a:rPr lang="ru-RU" altLang="ru-RU" sz="1800" dirty="0" smtClean="0">
                <a:solidFill>
                  <a:srgbClr val="FFFFFF"/>
                </a:solidFill>
                <a:latin typeface="Times New Roman" panose="02020603050405020304" pitchFamily="18" charset="0"/>
                <a:cs typeface="Times New Roman" panose="02020603050405020304" pitchFamily="18" charset="0"/>
              </a:rPr>
            </a:br>
            <a:r>
              <a:rPr lang="ru-RU" altLang="ru-RU" sz="1800" dirty="0" smtClean="0">
                <a:solidFill>
                  <a:srgbClr val="FFFFFF"/>
                </a:solidFill>
                <a:latin typeface="Times New Roman" panose="02020603050405020304" pitchFamily="18" charset="0"/>
                <a:cs typeface="Times New Roman" panose="02020603050405020304" pitchFamily="18" charset="0"/>
              </a:rPr>
              <a:t>группы 21ис5 </a:t>
            </a:r>
          </a:p>
          <a:p>
            <a:pPr algn="ctr" eaLnBrk="1" hangingPunct="1">
              <a:lnSpc>
                <a:spcPct val="80000"/>
              </a:lnSpc>
              <a:spcBef>
                <a:spcPts val="450"/>
              </a:spcBef>
              <a:buClrTx/>
              <a:buFontTx/>
              <a:buNone/>
            </a:pPr>
            <a:r>
              <a:rPr lang="ru-RU" altLang="ru-RU" sz="1800" dirty="0" smtClean="0">
                <a:solidFill>
                  <a:srgbClr val="FFFFFF"/>
                </a:solidFill>
                <a:latin typeface="Times New Roman" panose="02020603050405020304" pitchFamily="18" charset="0"/>
                <a:cs typeface="Times New Roman" panose="02020603050405020304" pitchFamily="18" charset="0"/>
              </a:rPr>
              <a:t>Сорокин Дмитрий</a:t>
            </a:r>
          </a:p>
          <a:p>
            <a:pPr algn="ctr" eaLnBrk="1" hangingPunct="1">
              <a:lnSpc>
                <a:spcPct val="80000"/>
              </a:lnSpc>
              <a:spcBef>
                <a:spcPts val="450"/>
              </a:spcBef>
              <a:buClrTx/>
              <a:buFontTx/>
              <a:buNone/>
            </a:pPr>
            <a:r>
              <a:rPr lang="ru-RU" altLang="ru-RU" sz="1800" dirty="0" smtClean="0">
                <a:solidFill>
                  <a:srgbClr val="FFFFFF"/>
                </a:solidFill>
                <a:latin typeface="Times New Roman" panose="02020603050405020304" pitchFamily="18" charset="0"/>
                <a:cs typeface="Times New Roman" panose="02020603050405020304" pitchFamily="18" charset="0"/>
              </a:rPr>
              <a:t/>
            </a:r>
            <a:br>
              <a:rPr lang="ru-RU" altLang="ru-RU" sz="1800" dirty="0" smtClean="0">
                <a:solidFill>
                  <a:srgbClr val="FFFFFF"/>
                </a:solidFill>
                <a:latin typeface="Times New Roman" panose="02020603050405020304" pitchFamily="18" charset="0"/>
                <a:cs typeface="Times New Roman" panose="02020603050405020304" pitchFamily="18" charset="0"/>
              </a:rPr>
            </a:br>
            <a:r>
              <a:rPr lang="ru-RU" altLang="ru-RU" sz="1800" dirty="0" smtClean="0">
                <a:solidFill>
                  <a:srgbClr val="FFFFFF"/>
                </a:solidFill>
                <a:latin typeface="Times New Roman" panose="02020603050405020304" pitchFamily="18" charset="0"/>
                <a:cs typeface="Times New Roman" panose="02020603050405020304" pitchFamily="18" charset="0"/>
              </a:rPr>
              <a:t>Руководитель:</a:t>
            </a:r>
            <a:br>
              <a:rPr lang="ru-RU" altLang="ru-RU" sz="1800" dirty="0" smtClean="0">
                <a:solidFill>
                  <a:srgbClr val="FFFFFF"/>
                </a:solidFill>
                <a:latin typeface="Times New Roman" panose="02020603050405020304" pitchFamily="18" charset="0"/>
                <a:cs typeface="Times New Roman" panose="02020603050405020304" pitchFamily="18" charset="0"/>
              </a:rPr>
            </a:br>
            <a:r>
              <a:rPr lang="ru-RU" altLang="ru-RU" sz="1800" dirty="0" smtClean="0">
                <a:solidFill>
                  <a:srgbClr val="FFFFFF"/>
                </a:solidFill>
                <a:latin typeface="Times New Roman" panose="02020603050405020304" pitchFamily="18" charset="0"/>
                <a:cs typeface="Times New Roman" panose="02020603050405020304" pitchFamily="18" charset="0"/>
              </a:rPr>
              <a:t>преподаватель по химии</a:t>
            </a:r>
            <a:br>
              <a:rPr lang="ru-RU" altLang="ru-RU" sz="1800" dirty="0" smtClean="0">
                <a:solidFill>
                  <a:srgbClr val="FFFFFF"/>
                </a:solidFill>
                <a:latin typeface="Times New Roman" panose="02020603050405020304" pitchFamily="18" charset="0"/>
                <a:cs typeface="Times New Roman" panose="02020603050405020304" pitchFamily="18" charset="0"/>
              </a:rPr>
            </a:br>
            <a:r>
              <a:rPr lang="ru-RU" altLang="ru-RU" sz="1800" dirty="0" smtClean="0">
                <a:solidFill>
                  <a:srgbClr val="FFFFFF"/>
                </a:solidFill>
                <a:latin typeface="Times New Roman" panose="02020603050405020304" pitchFamily="18" charset="0"/>
                <a:cs typeface="Times New Roman" panose="02020603050405020304" pitchFamily="18" charset="0"/>
              </a:rPr>
              <a:t> </a:t>
            </a:r>
            <a:r>
              <a:rPr lang="ru-RU" altLang="ru-RU" sz="1800" dirty="0" err="1" smtClean="0">
                <a:solidFill>
                  <a:srgbClr val="FFFFFF"/>
                </a:solidFill>
                <a:latin typeface="Times New Roman" panose="02020603050405020304" pitchFamily="18" charset="0"/>
                <a:cs typeface="Times New Roman" panose="02020603050405020304" pitchFamily="18" charset="0"/>
              </a:rPr>
              <a:t>Солуянова</a:t>
            </a:r>
            <a:r>
              <a:rPr lang="ru-RU" altLang="ru-RU" sz="1800" dirty="0" smtClean="0">
                <a:solidFill>
                  <a:srgbClr val="FFFFFF"/>
                </a:solidFill>
                <a:latin typeface="Times New Roman" panose="02020603050405020304" pitchFamily="18" charset="0"/>
                <a:cs typeface="Times New Roman" panose="02020603050405020304" pitchFamily="18" charset="0"/>
              </a:rPr>
              <a:t> Л. П.</a:t>
            </a:r>
            <a:endParaRPr lang="ru-RU" altLang="ru-RU" sz="1800" dirty="0">
              <a:solidFill>
                <a:srgbClr val="FFFFFF"/>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3635896" y="116632"/>
            <a:ext cx="1408655" cy="338554"/>
          </a:xfrm>
          <a:prstGeom prst="rect">
            <a:avLst/>
          </a:prstGeom>
          <a:noFill/>
        </p:spPr>
        <p:txBody>
          <a:bodyPr wrap="none" rtlCol="0">
            <a:spAutoFit/>
          </a:bodyPr>
          <a:lstStyle/>
          <a:p>
            <a:r>
              <a:rPr lang="ru-RU" sz="1600" dirty="0" err="1" smtClean="0">
                <a:latin typeface="Times New Roman" panose="02020603050405020304" pitchFamily="18" charset="0"/>
                <a:cs typeface="Times New Roman" panose="02020603050405020304" pitchFamily="18" charset="0"/>
              </a:rPr>
              <a:t>УАвиаК</a:t>
            </a:r>
            <a:r>
              <a:rPr lang="ru-RU" sz="1600" dirty="0" smtClean="0">
                <a:latin typeface="Times New Roman" panose="02020603050405020304" pitchFamily="18" charset="0"/>
                <a:cs typeface="Times New Roman" panose="02020603050405020304" pitchFamily="18" charset="0"/>
              </a:rPr>
              <a:t>-МЦК</a:t>
            </a:r>
            <a:endParaRPr lang="ru-RU" sz="16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370146" y="1844824"/>
            <a:ext cx="5940152" cy="1815882"/>
          </a:xfrm>
          <a:prstGeom prst="rect">
            <a:avLst/>
          </a:prstGeom>
          <a:noFill/>
        </p:spPr>
        <p:txBody>
          <a:bodyPr wrap="square" rtlCol="0">
            <a:spAutoFit/>
          </a:bodyPr>
          <a:lstStyle/>
          <a:p>
            <a:pPr algn="ctr"/>
            <a:r>
              <a:rPr lang="ru-RU" sz="2800" dirty="0" smtClean="0">
                <a:latin typeface="Times New Roman" panose="02020603050405020304" pitchFamily="18" charset="0"/>
                <a:cs typeface="Times New Roman" panose="02020603050405020304" pitchFamily="18" charset="0"/>
              </a:rPr>
              <a:t>Творческая работа</a:t>
            </a:r>
            <a:br>
              <a:rPr lang="ru-RU" sz="2800" dirty="0" smtClean="0">
                <a:latin typeface="Times New Roman" panose="02020603050405020304" pitchFamily="18" charset="0"/>
                <a:cs typeface="Times New Roman" panose="02020603050405020304" pitchFamily="18" charset="0"/>
              </a:rPr>
            </a:br>
            <a:r>
              <a:rPr lang="ru-RU" sz="2800" dirty="0" smtClean="0">
                <a:latin typeface="Times New Roman" panose="02020603050405020304" pitchFamily="18" charset="0"/>
                <a:cs typeface="Times New Roman" panose="02020603050405020304" pitchFamily="18" charset="0"/>
              </a:rPr>
              <a:t>по теме: «</a:t>
            </a:r>
            <a:r>
              <a:rPr lang="ru-RU" altLang="ru-RU" sz="2800" b="1" i="1" dirty="0">
                <a:solidFill>
                  <a:srgbClr val="FFFFFF"/>
                </a:solidFill>
                <a:latin typeface="Times New Roman" panose="02020603050405020304" pitchFamily="18" charset="0"/>
                <a:cs typeface="Times New Roman" panose="02020603050405020304" pitchFamily="18" charset="0"/>
              </a:rPr>
              <a:t>Химический анализ состава шоколада и его влияния на здоровье </a:t>
            </a:r>
            <a:r>
              <a:rPr lang="ru-RU" altLang="ru-RU" sz="2800" b="1" i="1" dirty="0" smtClean="0">
                <a:solidFill>
                  <a:srgbClr val="FFFFFF"/>
                </a:solidFill>
                <a:latin typeface="Times New Roman" panose="02020603050405020304" pitchFamily="18" charset="0"/>
                <a:cs typeface="Times New Roman" panose="02020603050405020304" pitchFamily="18" charset="0"/>
              </a:rPr>
              <a:t>человека</a:t>
            </a:r>
            <a:r>
              <a:rPr lang="ru-RU" sz="2800" dirty="0" smtClean="0">
                <a:latin typeface="Times New Roman" panose="02020603050405020304" pitchFamily="18" charset="0"/>
                <a:cs typeface="Times New Roman" panose="02020603050405020304" pitchFamily="18" charset="0"/>
              </a:rPr>
              <a:t>» </a:t>
            </a:r>
            <a:endParaRPr lang="ru-RU"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986151" y="6453336"/>
            <a:ext cx="708143" cy="338554"/>
          </a:xfrm>
          <a:prstGeom prst="rect">
            <a:avLst/>
          </a:prstGeom>
          <a:noFill/>
        </p:spPr>
        <p:txBody>
          <a:bodyPr wrap="none" rtlCol="0">
            <a:spAutoFit/>
          </a:bodyPr>
          <a:lstStyle/>
          <a:p>
            <a:r>
              <a:rPr lang="ru-RU" sz="1600" dirty="0" smtClean="0">
                <a:latin typeface="Times New Roman" panose="02020603050405020304" pitchFamily="18" charset="0"/>
                <a:cs typeface="Times New Roman" panose="02020603050405020304" pitchFamily="18" charset="0"/>
              </a:rPr>
              <a:t>2022г.</a:t>
            </a:r>
            <a:endParaRPr lang="ru-RU" sz="1600" dirty="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457200" y="274638"/>
            <a:ext cx="8229600" cy="1143000"/>
          </a:xfrm>
          <a:prstGeom prst="rect">
            <a:avLst/>
          </a:prstGeom>
          <a:noFill/>
          <a:ln w="9525" cap="flat">
            <a:noFill/>
            <a:round/>
            <a:headEnd/>
            <a:tailEnd/>
          </a:ln>
          <a:effectLst/>
        </p:spPr>
        <p:txBody>
          <a:bodyPr anchor="ctr"/>
          <a:lstStyle/>
          <a:p>
            <a:pPr algn="ctr" eaLnBrk="1" hangingPunct="1">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5400">
                <a:solidFill>
                  <a:srgbClr val="FFFFFF"/>
                </a:solidFill>
                <a:effectLst>
                  <a:outerShdw blurRad="38100" dist="38100" dir="2700000" algn="tl">
                    <a:srgbClr val="C0C0C0"/>
                  </a:outerShdw>
                </a:effectLst>
                <a:latin typeface="Times New Roman" pitchFamily="16" charset="0"/>
                <a:cs typeface="Times New Roman" pitchFamily="16" charset="0"/>
              </a:rPr>
              <a:t>Цель проекта:</a:t>
            </a:r>
            <a:r>
              <a:rPr lang="ru-RU" sz="4400">
                <a:solidFill>
                  <a:srgbClr val="000000"/>
                </a:solidFill>
                <a:latin typeface="Arial" charset="0"/>
                <a:cs typeface="Arial" charset="0"/>
              </a:rPr>
              <a:t> </a:t>
            </a:r>
          </a:p>
        </p:txBody>
      </p:sp>
      <p:sp>
        <p:nvSpPr>
          <p:cNvPr id="5123" name="Text Box 2"/>
          <p:cNvSpPr txBox="1">
            <a:spLocks noChangeArrowheads="1"/>
          </p:cNvSpPr>
          <p:nvPr/>
        </p:nvSpPr>
        <p:spPr bwMode="auto">
          <a:xfrm>
            <a:off x="457200" y="1905000"/>
            <a:ext cx="8229600" cy="422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ts val="1100"/>
              </a:spcBef>
              <a:buClrTx/>
              <a:buFontTx/>
              <a:buNone/>
            </a:pPr>
            <a:r>
              <a:rPr lang="ru-RU" altLang="ru-RU" sz="4400">
                <a:solidFill>
                  <a:srgbClr val="FFFFFF"/>
                </a:solidFill>
                <a:latin typeface="Times New Roman" panose="02020603050405020304" pitchFamily="18" charset="0"/>
                <a:cs typeface="Times New Roman" panose="02020603050405020304" pitchFamily="18" charset="0"/>
              </a:rPr>
              <a:t>Исследовать химический состав и свойства  шоколада разных сортов и изучить его влияние на здоровье человека.</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1"/>
          <p:cNvSpPr txBox="1">
            <a:spLocks noChangeArrowheads="1"/>
          </p:cNvSpPr>
          <p:nvPr/>
        </p:nvSpPr>
        <p:spPr bwMode="auto">
          <a:xfrm>
            <a:off x="533400" y="152400"/>
            <a:ext cx="82296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400" b="1">
                <a:solidFill>
                  <a:srgbClr val="FFFFFF"/>
                </a:solidFill>
                <a:latin typeface="Times New Roman" panose="02020603050405020304" pitchFamily="18" charset="0"/>
                <a:cs typeface="Times New Roman" panose="02020603050405020304" pitchFamily="18" charset="0"/>
              </a:rPr>
              <a:t>Задачи исследования:</a:t>
            </a:r>
            <a:r>
              <a:rPr lang="ru-RU" altLang="ru-RU" sz="4400" b="1">
                <a:solidFill>
                  <a:srgbClr val="FFFFFF"/>
                </a:solidFill>
              </a:rPr>
              <a:t> </a:t>
            </a:r>
          </a:p>
        </p:txBody>
      </p:sp>
      <p:sp>
        <p:nvSpPr>
          <p:cNvPr id="7171" name="Text Box 2"/>
          <p:cNvSpPr txBox="1">
            <a:spLocks noChangeArrowheads="1"/>
          </p:cNvSpPr>
          <p:nvPr/>
        </p:nvSpPr>
        <p:spPr bwMode="auto">
          <a:xfrm>
            <a:off x="228600" y="990600"/>
            <a:ext cx="86868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indent="177800">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Найти и изучить теоретический материал по данной теме.</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Познакомиться с разными сортами шоколада.</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Выявить наиболее популярные сорта шоколада.</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Определить качество шоколада согласно ГОСТу.</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Изучить химический состав шоколада разных сортов.</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Провести качественный анализ исследуемых образцов шоколадкой продукции и сравнить их химический состав.</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Изучить влияние шоколада на здоровье человека.</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Провести опрос среди учащихся о вреде и пользе шоколада.</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Выяснить, как в настоящее время используется шоколад в медицине и косметологии.</a:t>
            </a:r>
          </a:p>
          <a:p>
            <a:pPr algn="just" eaLnBrk="1" hangingPunct="1">
              <a:lnSpc>
                <a:spcPct val="114000"/>
              </a:lnSpc>
              <a:spcBef>
                <a:spcPct val="0"/>
              </a:spcBef>
              <a:buClr>
                <a:srgbClr val="FFFFFF"/>
              </a:buClr>
              <a:buFont typeface="Times New Roman" panose="02020603050405020304" pitchFamily="18" charset="0"/>
              <a:buAutoNum type="arabicPeriod"/>
            </a:pPr>
            <a:r>
              <a:rPr lang="ru-RU" altLang="ru-RU" sz="2400">
                <a:solidFill>
                  <a:srgbClr val="FFFFFF"/>
                </a:solidFill>
                <a:latin typeface="Times New Roman" panose="02020603050405020304" pitchFamily="18" charset="0"/>
                <a:cs typeface="Times New Roman" panose="02020603050405020304" pitchFamily="18" charset="0"/>
              </a:rPr>
              <a:t> Выработать рекомендации по оценке качеств шоколада (по внешним признакам) и его использовании для рядового покупателя.</a:t>
            </a:r>
          </a:p>
          <a:p>
            <a:pPr eaLnBrk="1" hangingPunct="1">
              <a:spcBef>
                <a:spcPts val="600"/>
              </a:spcBef>
              <a:buClr>
                <a:srgbClr val="FFFFFF"/>
              </a:buClr>
            </a:pPr>
            <a:endParaRPr lang="ru-RU" altLang="ru-RU" sz="240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1"/>
          <p:cNvSpPr txBox="1">
            <a:spLocks noChangeArrowheads="1"/>
          </p:cNvSpPr>
          <p:nvPr/>
        </p:nvSpPr>
        <p:spPr bwMode="auto">
          <a:xfrm>
            <a:off x="457200" y="9906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ts val="1000"/>
              </a:spcBef>
              <a:buClrTx/>
              <a:buFontTx/>
              <a:buNone/>
            </a:pPr>
            <a:r>
              <a:rPr lang="ru-RU" altLang="ru-RU" sz="4000" b="1">
                <a:solidFill>
                  <a:srgbClr val="FFFFFF"/>
                </a:solidFill>
                <a:latin typeface="Times New Roman" panose="02020603050405020304" pitchFamily="18" charset="0"/>
                <a:cs typeface="Times New Roman" panose="02020603050405020304" pitchFamily="18" charset="0"/>
              </a:rPr>
              <a:t>Предмет исследования-</a:t>
            </a:r>
            <a:r>
              <a:rPr lang="ru-RU" altLang="ru-RU" sz="4000">
                <a:solidFill>
                  <a:srgbClr val="FFFFFF"/>
                </a:solidFill>
                <a:latin typeface="Times New Roman" panose="02020603050405020304" pitchFamily="18" charset="0"/>
                <a:cs typeface="Times New Roman" panose="02020603050405020304" pitchFamily="18" charset="0"/>
              </a:rPr>
              <a:t> шоколад.</a:t>
            </a:r>
          </a:p>
          <a:p>
            <a:pPr algn="ctr" eaLnBrk="1" hangingPunct="1">
              <a:spcBef>
                <a:spcPts val="1000"/>
              </a:spcBef>
              <a:buClrTx/>
              <a:buFontTx/>
              <a:buNone/>
            </a:pPr>
            <a:endParaRPr lang="ru-RU" altLang="ru-RU" sz="4000" b="1">
              <a:solidFill>
                <a:srgbClr val="FFFFFF"/>
              </a:solidFill>
              <a:latin typeface="Times New Roman" panose="02020603050405020304" pitchFamily="18" charset="0"/>
              <a:cs typeface="Times New Roman" panose="02020603050405020304" pitchFamily="18" charset="0"/>
            </a:endParaRPr>
          </a:p>
          <a:p>
            <a:pPr algn="ctr" eaLnBrk="1" hangingPunct="1">
              <a:spcBef>
                <a:spcPts val="1000"/>
              </a:spcBef>
              <a:buClrTx/>
              <a:buFontTx/>
              <a:buNone/>
            </a:pPr>
            <a:r>
              <a:rPr lang="ru-RU" altLang="ru-RU" sz="4000" b="1">
                <a:solidFill>
                  <a:srgbClr val="FFFFFF"/>
                </a:solidFill>
                <a:latin typeface="Times New Roman" panose="02020603050405020304" pitchFamily="18" charset="0"/>
                <a:cs typeface="Times New Roman" panose="02020603050405020304" pitchFamily="18" charset="0"/>
              </a:rPr>
              <a:t>Объект исследования-</a:t>
            </a:r>
            <a:r>
              <a:rPr lang="ru-RU" altLang="ru-RU" sz="4000">
                <a:solidFill>
                  <a:srgbClr val="FFFFFF"/>
                </a:solidFill>
                <a:latin typeface="Times New Roman" panose="02020603050405020304" pitchFamily="18" charset="0"/>
                <a:cs typeface="Times New Roman" panose="02020603050405020304" pitchFamily="18" charset="0"/>
              </a:rPr>
              <a:t> химический состав шоколада, выяснение его качества согласно ГОСТу.</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
          <p:cNvSpPr txBox="1">
            <a:spLocks noChangeArrowheads="1"/>
          </p:cNvSpPr>
          <p:nvPr/>
        </p:nvSpPr>
        <p:spPr bwMode="auto">
          <a:xfrm>
            <a:off x="457200" y="228600"/>
            <a:ext cx="8229600" cy="1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3600" b="1" i="1">
                <a:solidFill>
                  <a:srgbClr val="FFFFFF"/>
                </a:solidFill>
                <a:latin typeface="Times New Roman" panose="02020603050405020304" pitchFamily="18" charset="0"/>
                <a:cs typeface="Times New Roman" panose="02020603050405020304" pitchFamily="18" charset="0"/>
              </a:rPr>
              <a:t>Странное иноземное слово «Шоколад».</a:t>
            </a:r>
          </a:p>
        </p:txBody>
      </p:sp>
      <p:sp>
        <p:nvSpPr>
          <p:cNvPr id="11267" name="Text Box 2"/>
          <p:cNvSpPr txBox="1">
            <a:spLocks noChangeArrowheads="1"/>
          </p:cNvSpPr>
          <p:nvPr/>
        </p:nvSpPr>
        <p:spPr bwMode="auto">
          <a:xfrm>
            <a:off x="457200" y="1981200"/>
            <a:ext cx="82296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ts val="1000"/>
              </a:spcBef>
              <a:buClrTx/>
              <a:buFontTx/>
              <a:buNone/>
            </a:pPr>
            <a:r>
              <a:rPr lang="ru-RU" altLang="ru-RU" sz="4000" b="1" i="1">
                <a:solidFill>
                  <a:srgbClr val="FFFFFF"/>
                </a:solidFill>
                <a:latin typeface="Times New Roman" panose="02020603050405020304" pitchFamily="18" charset="0"/>
                <a:cs typeface="Times New Roman" panose="02020603050405020304" pitchFamily="18" charset="0"/>
              </a:rPr>
              <a:t>Шоколад он везде – шоколад, равно как и в Европе, Азии, Австралии, Америке и Антарктиде и Африке.</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ext Box 1"/>
          <p:cNvSpPr txBox="1">
            <a:spLocks noChangeArrowheads="1"/>
          </p:cNvSpPr>
          <p:nvPr/>
        </p:nvSpPr>
        <p:spPr bwMode="auto">
          <a:xfrm>
            <a:off x="457200" y="304800"/>
            <a:ext cx="5181600" cy="6324600"/>
          </a:xfrm>
          <a:prstGeom prst="rect">
            <a:avLst/>
          </a:prstGeom>
          <a:noFill/>
          <a:ln w="9525" cap="flat">
            <a:noFill/>
            <a:round/>
            <a:headEnd/>
            <a:tailEnd/>
          </a:ln>
          <a:effectLst/>
        </p:spPr>
        <p:txBody>
          <a:bodyPr/>
          <a:lstStyle/>
          <a:p>
            <a:pPr algn="ctr" eaLnBrk="1" hangingPunct="1">
              <a:lnSpc>
                <a:spcPct val="114000"/>
              </a:lnSpc>
              <a:buSzPct val="100000"/>
              <a:tabLst>
                <a:tab pos="569913" algn="l"/>
                <a:tab pos="1484313" algn="l"/>
                <a:tab pos="2398713" algn="l"/>
                <a:tab pos="3313113" algn="l"/>
                <a:tab pos="4227513" algn="l"/>
                <a:tab pos="5141913" algn="l"/>
                <a:tab pos="6056313" algn="l"/>
                <a:tab pos="6970713" algn="l"/>
                <a:tab pos="7885113" algn="l"/>
                <a:tab pos="8799513" algn="l"/>
                <a:tab pos="9713913" algn="l"/>
              </a:tabLst>
              <a:defRPr/>
            </a:pPr>
            <a:r>
              <a:rPr lang="ru-RU" sz="2400" b="1">
                <a:solidFill>
                  <a:srgbClr val="FFFFFF"/>
                </a:solidFill>
                <a:latin typeface="Arial" charset="0"/>
                <a:cs typeface="Arial" charset="0"/>
              </a:rPr>
              <a:t>   </a:t>
            </a:r>
            <a:r>
              <a:rPr lang="ru-RU" sz="2400">
                <a:solidFill>
                  <a:srgbClr val="FFFFFF"/>
                </a:solidFill>
                <a:effectLst>
                  <a:outerShdw blurRad="38100" dist="38100" dir="2700000" algn="tl">
                    <a:srgbClr val="C0C0C0"/>
                  </a:outerShdw>
                </a:effectLst>
                <a:latin typeface="Times New Roman" pitchFamily="16" charset="0"/>
                <a:cs typeface="Times New Roman" pitchFamily="16" charset="0"/>
              </a:rPr>
              <a:t>Современный период в истории шоколада открыл голландец Конрад ван Гутен , запатентовавший в 1828 году недорогой способ выжимки масла какао из какао тёртого. Это открытие позволило создавать твёрдый шоколад, который постепенно вытеснил из рациона европейцев шоколад жидкий. Принято считать, что первый плиточный шоколад был произведён в 1847 году в Лондоне, однако годом ранее французский кондитер Жан Пьетре уже получил твёрдый шоколад.</a:t>
            </a:r>
          </a:p>
        </p:txBody>
      </p:sp>
      <p:pic>
        <p:nvPicPr>
          <p:cNvPr id="133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7063" y="1066800"/>
            <a:ext cx="343693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000" b="1" i="1">
                <a:solidFill>
                  <a:srgbClr val="FFFFFF"/>
                </a:solidFill>
                <a:latin typeface="Times New Roman" panose="02020603050405020304" pitchFamily="18" charset="0"/>
                <a:cs typeface="Times New Roman" panose="02020603050405020304" pitchFamily="18" charset="0"/>
              </a:rPr>
              <a:t>Классификация видов шоколада</a:t>
            </a:r>
          </a:p>
        </p:txBody>
      </p:sp>
      <p:sp>
        <p:nvSpPr>
          <p:cNvPr id="15363" name="Text Box 2"/>
          <p:cNvSpPr txBox="1">
            <a:spLocks noChangeArrowheads="1"/>
          </p:cNvSpPr>
          <p:nvPr/>
        </p:nvSpPr>
        <p:spPr bwMode="auto">
          <a:xfrm>
            <a:off x="314325" y="1371600"/>
            <a:ext cx="44942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sz="3600">
                <a:solidFill>
                  <a:srgbClr val="FFFFFF"/>
                </a:solidFill>
                <a:latin typeface="Times New Roman" panose="02020603050405020304" pitchFamily="18" charset="0"/>
                <a:cs typeface="Times New Roman" panose="02020603050405020304" pitchFamily="18" charset="0"/>
              </a:rPr>
              <a:t>По содержанию какао</a:t>
            </a:r>
          </a:p>
        </p:txBody>
      </p:sp>
      <p:sp>
        <p:nvSpPr>
          <p:cNvPr id="15364" name="Text Box 3"/>
          <p:cNvSpPr txBox="1">
            <a:spLocks noChangeArrowheads="1"/>
          </p:cNvSpPr>
          <p:nvPr/>
        </p:nvSpPr>
        <p:spPr bwMode="auto">
          <a:xfrm>
            <a:off x="0" y="2590800"/>
            <a:ext cx="15763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горький</a:t>
            </a:r>
          </a:p>
        </p:txBody>
      </p:sp>
      <p:sp>
        <p:nvSpPr>
          <p:cNvPr id="15365" name="Text Box 4"/>
          <p:cNvSpPr txBox="1">
            <a:spLocks noChangeArrowheads="1"/>
          </p:cNvSpPr>
          <p:nvPr/>
        </p:nvSpPr>
        <p:spPr bwMode="auto">
          <a:xfrm>
            <a:off x="2757488" y="2590800"/>
            <a:ext cx="20224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десертный</a:t>
            </a:r>
          </a:p>
        </p:txBody>
      </p:sp>
      <p:sp>
        <p:nvSpPr>
          <p:cNvPr id="15366" name="Text Box 5"/>
          <p:cNvSpPr txBox="1">
            <a:spLocks noChangeArrowheads="1"/>
          </p:cNvSpPr>
          <p:nvPr/>
        </p:nvSpPr>
        <p:spPr bwMode="auto">
          <a:xfrm>
            <a:off x="1220788" y="3200400"/>
            <a:ext cx="19621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молочный</a:t>
            </a:r>
          </a:p>
        </p:txBody>
      </p:sp>
      <p:sp>
        <p:nvSpPr>
          <p:cNvPr id="15367" name="Line 6"/>
          <p:cNvSpPr>
            <a:spLocks noChangeShapeType="1"/>
          </p:cNvSpPr>
          <p:nvPr/>
        </p:nvSpPr>
        <p:spPr bwMode="auto">
          <a:xfrm flipH="1">
            <a:off x="1065213" y="1981200"/>
            <a:ext cx="612775" cy="6858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5368" name="Line 7"/>
          <p:cNvSpPr>
            <a:spLocks noChangeShapeType="1"/>
          </p:cNvSpPr>
          <p:nvPr/>
        </p:nvSpPr>
        <p:spPr bwMode="auto">
          <a:xfrm>
            <a:off x="2743200" y="1981200"/>
            <a:ext cx="685800" cy="6858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5369" name="Line 8"/>
          <p:cNvSpPr>
            <a:spLocks noChangeShapeType="1"/>
          </p:cNvSpPr>
          <p:nvPr/>
        </p:nvSpPr>
        <p:spPr bwMode="auto">
          <a:xfrm flipH="1">
            <a:off x="2200275" y="2057400"/>
            <a:ext cx="11113" cy="11430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5370" name="Text Box 9"/>
          <p:cNvSpPr txBox="1">
            <a:spLocks noChangeArrowheads="1"/>
          </p:cNvSpPr>
          <p:nvPr/>
        </p:nvSpPr>
        <p:spPr bwMode="auto">
          <a:xfrm>
            <a:off x="4284663" y="3429000"/>
            <a:ext cx="4675187"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3600">
                <a:solidFill>
                  <a:srgbClr val="FFFFFF"/>
                </a:solidFill>
                <a:latin typeface="Times New Roman" panose="02020603050405020304" pitchFamily="18" charset="0"/>
                <a:cs typeface="Times New Roman" panose="02020603050405020304" pitchFamily="18" charset="0"/>
              </a:rPr>
              <a:t>По способу обработки </a:t>
            </a:r>
          </a:p>
        </p:txBody>
      </p:sp>
      <p:sp>
        <p:nvSpPr>
          <p:cNvPr id="15371" name="Text Box 10"/>
          <p:cNvSpPr txBox="1">
            <a:spLocks noChangeArrowheads="1"/>
          </p:cNvSpPr>
          <p:nvPr/>
        </p:nvSpPr>
        <p:spPr bwMode="auto">
          <a:xfrm>
            <a:off x="4887913" y="5638800"/>
            <a:ext cx="27860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обыкновенный</a:t>
            </a:r>
          </a:p>
        </p:txBody>
      </p:sp>
      <p:sp>
        <p:nvSpPr>
          <p:cNvPr id="15372" name="Text Box 11"/>
          <p:cNvSpPr txBox="1">
            <a:spLocks noChangeArrowheads="1"/>
          </p:cNvSpPr>
          <p:nvPr/>
        </p:nvSpPr>
        <p:spPr bwMode="auto">
          <a:xfrm>
            <a:off x="7259638" y="4724400"/>
            <a:ext cx="18748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пористый</a:t>
            </a:r>
          </a:p>
        </p:txBody>
      </p:sp>
      <p:sp>
        <p:nvSpPr>
          <p:cNvPr id="15373" name="Text Box 12"/>
          <p:cNvSpPr txBox="1">
            <a:spLocks noChangeArrowheads="1"/>
          </p:cNvSpPr>
          <p:nvPr/>
        </p:nvSpPr>
        <p:spPr bwMode="auto">
          <a:xfrm>
            <a:off x="3595688" y="4724400"/>
            <a:ext cx="20224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десертный</a:t>
            </a:r>
          </a:p>
        </p:txBody>
      </p:sp>
      <p:sp>
        <p:nvSpPr>
          <p:cNvPr id="15374" name="Line 13"/>
          <p:cNvSpPr>
            <a:spLocks noChangeShapeType="1"/>
          </p:cNvSpPr>
          <p:nvPr/>
        </p:nvSpPr>
        <p:spPr bwMode="auto">
          <a:xfrm flipH="1">
            <a:off x="5180013" y="4038600"/>
            <a:ext cx="841375" cy="6858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5375" name="Line 14"/>
          <p:cNvSpPr>
            <a:spLocks noChangeShapeType="1"/>
          </p:cNvSpPr>
          <p:nvPr/>
        </p:nvSpPr>
        <p:spPr bwMode="auto">
          <a:xfrm>
            <a:off x="6623050" y="4075113"/>
            <a:ext cx="6350" cy="1563687"/>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5376" name="Line 15"/>
          <p:cNvSpPr>
            <a:spLocks noChangeShapeType="1"/>
          </p:cNvSpPr>
          <p:nvPr/>
        </p:nvSpPr>
        <p:spPr bwMode="auto">
          <a:xfrm>
            <a:off x="7239000" y="4114800"/>
            <a:ext cx="958850" cy="6096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
          <p:cNvSpPr txBox="1">
            <a:spLocks noChangeArrowheads="1"/>
          </p:cNvSpPr>
          <p:nvPr/>
        </p:nvSpPr>
        <p:spPr bwMode="auto">
          <a:xfrm>
            <a:off x="2284413" y="304800"/>
            <a:ext cx="4979987"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sz="3600">
                <a:solidFill>
                  <a:srgbClr val="FFFFFF"/>
                </a:solidFill>
                <a:latin typeface="Times New Roman" panose="02020603050405020304" pitchFamily="18" charset="0"/>
                <a:cs typeface="Times New Roman" panose="02020603050405020304" pitchFamily="18" charset="0"/>
              </a:rPr>
              <a:t>По содержанию добавок</a:t>
            </a:r>
          </a:p>
        </p:txBody>
      </p:sp>
      <p:sp>
        <p:nvSpPr>
          <p:cNvPr id="17411" name="Text Box 2"/>
          <p:cNvSpPr txBox="1">
            <a:spLocks noChangeArrowheads="1"/>
          </p:cNvSpPr>
          <p:nvPr/>
        </p:nvSpPr>
        <p:spPr bwMode="auto">
          <a:xfrm>
            <a:off x="2624138" y="2133600"/>
            <a:ext cx="37385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шоколад с начинкой</a:t>
            </a:r>
          </a:p>
        </p:txBody>
      </p:sp>
      <p:sp>
        <p:nvSpPr>
          <p:cNvPr id="17412" name="Text Box 3"/>
          <p:cNvSpPr txBox="1">
            <a:spLocks noChangeArrowheads="1"/>
          </p:cNvSpPr>
          <p:nvPr/>
        </p:nvSpPr>
        <p:spPr bwMode="auto">
          <a:xfrm>
            <a:off x="4932363" y="1371600"/>
            <a:ext cx="39243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шоколад с добавками</a:t>
            </a:r>
          </a:p>
        </p:txBody>
      </p:sp>
      <p:sp>
        <p:nvSpPr>
          <p:cNvPr id="17413" name="Rectangle 4"/>
          <p:cNvSpPr>
            <a:spLocks noChangeArrowheads="1"/>
          </p:cNvSpPr>
          <p:nvPr/>
        </p:nvSpPr>
        <p:spPr bwMode="auto">
          <a:xfrm>
            <a:off x="0" y="1295400"/>
            <a:ext cx="4191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шоколад без добавок</a:t>
            </a:r>
          </a:p>
        </p:txBody>
      </p:sp>
      <p:sp>
        <p:nvSpPr>
          <p:cNvPr id="17414" name="Line 5"/>
          <p:cNvSpPr>
            <a:spLocks noChangeShapeType="1"/>
          </p:cNvSpPr>
          <p:nvPr/>
        </p:nvSpPr>
        <p:spPr bwMode="auto">
          <a:xfrm flipH="1">
            <a:off x="2665413" y="914400"/>
            <a:ext cx="917575" cy="4572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7415" name="Line 6"/>
          <p:cNvSpPr>
            <a:spLocks noChangeShapeType="1"/>
          </p:cNvSpPr>
          <p:nvPr/>
        </p:nvSpPr>
        <p:spPr bwMode="auto">
          <a:xfrm>
            <a:off x="5257800" y="914400"/>
            <a:ext cx="685800" cy="5334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7416" name="Line 7"/>
          <p:cNvSpPr>
            <a:spLocks noChangeShapeType="1"/>
          </p:cNvSpPr>
          <p:nvPr/>
        </p:nvSpPr>
        <p:spPr bwMode="auto">
          <a:xfrm>
            <a:off x="4343400" y="914400"/>
            <a:ext cx="1588" cy="12954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7417" name="Text Box 8"/>
          <p:cNvSpPr txBox="1">
            <a:spLocks noChangeArrowheads="1"/>
          </p:cNvSpPr>
          <p:nvPr/>
        </p:nvSpPr>
        <p:spPr bwMode="auto">
          <a:xfrm>
            <a:off x="2819400" y="3200400"/>
            <a:ext cx="363061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sz="3600">
                <a:solidFill>
                  <a:srgbClr val="FFFFFF"/>
                </a:solidFill>
                <a:latin typeface="Times New Roman" panose="02020603050405020304" pitchFamily="18" charset="0"/>
                <a:cs typeface="Times New Roman" panose="02020603050405020304" pitchFamily="18" charset="0"/>
              </a:rPr>
              <a:t>Форма шоколада:</a:t>
            </a:r>
          </a:p>
        </p:txBody>
      </p:sp>
      <p:sp>
        <p:nvSpPr>
          <p:cNvPr id="17418" name="Text Box 9"/>
          <p:cNvSpPr txBox="1">
            <a:spLocks noChangeArrowheads="1"/>
          </p:cNvSpPr>
          <p:nvPr/>
        </p:nvSpPr>
        <p:spPr bwMode="auto">
          <a:xfrm>
            <a:off x="-12700" y="4114800"/>
            <a:ext cx="36877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шоколадная глазурь</a:t>
            </a:r>
          </a:p>
        </p:txBody>
      </p:sp>
      <p:sp>
        <p:nvSpPr>
          <p:cNvPr id="17419" name="Text Box 10"/>
          <p:cNvSpPr txBox="1">
            <a:spLocks noChangeArrowheads="1"/>
          </p:cNvSpPr>
          <p:nvPr/>
        </p:nvSpPr>
        <p:spPr bwMode="auto">
          <a:xfrm>
            <a:off x="4641850" y="5181600"/>
            <a:ext cx="3729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плиточный шоколад</a:t>
            </a:r>
          </a:p>
        </p:txBody>
      </p:sp>
      <p:sp>
        <p:nvSpPr>
          <p:cNvPr id="17420" name="Text Box 11"/>
          <p:cNvSpPr txBox="1">
            <a:spLocks noChangeArrowheads="1"/>
          </p:cNvSpPr>
          <p:nvPr/>
        </p:nvSpPr>
        <p:spPr bwMode="auto">
          <a:xfrm>
            <a:off x="5257800" y="4114800"/>
            <a:ext cx="35607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фигурный шоколад</a:t>
            </a:r>
          </a:p>
        </p:txBody>
      </p:sp>
      <p:sp>
        <p:nvSpPr>
          <p:cNvPr id="17421" name="Text Box 12"/>
          <p:cNvSpPr txBox="1">
            <a:spLocks noChangeArrowheads="1"/>
          </p:cNvSpPr>
          <p:nvPr/>
        </p:nvSpPr>
        <p:spPr bwMode="auto">
          <a:xfrm>
            <a:off x="2057400" y="5181600"/>
            <a:ext cx="20081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батончики</a:t>
            </a:r>
          </a:p>
        </p:txBody>
      </p:sp>
      <p:sp>
        <p:nvSpPr>
          <p:cNvPr id="17422" name="Line 13"/>
          <p:cNvSpPr>
            <a:spLocks noChangeShapeType="1"/>
          </p:cNvSpPr>
          <p:nvPr/>
        </p:nvSpPr>
        <p:spPr bwMode="auto">
          <a:xfrm flipH="1">
            <a:off x="2817813" y="3810000"/>
            <a:ext cx="536575" cy="3810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7423" name="Line 14"/>
          <p:cNvSpPr>
            <a:spLocks noChangeShapeType="1"/>
          </p:cNvSpPr>
          <p:nvPr/>
        </p:nvSpPr>
        <p:spPr bwMode="auto">
          <a:xfrm flipH="1">
            <a:off x="3579813" y="3810000"/>
            <a:ext cx="612775" cy="13716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7424" name="Line 15"/>
          <p:cNvSpPr>
            <a:spLocks noChangeShapeType="1"/>
          </p:cNvSpPr>
          <p:nvPr/>
        </p:nvSpPr>
        <p:spPr bwMode="auto">
          <a:xfrm>
            <a:off x="5334000" y="3810000"/>
            <a:ext cx="457200" cy="3810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
        <p:nvSpPr>
          <p:cNvPr id="17425" name="Line 16"/>
          <p:cNvSpPr>
            <a:spLocks noChangeShapeType="1"/>
          </p:cNvSpPr>
          <p:nvPr/>
        </p:nvSpPr>
        <p:spPr bwMode="auto">
          <a:xfrm>
            <a:off x="4495800" y="3886200"/>
            <a:ext cx="685800" cy="1371600"/>
          </a:xfrm>
          <a:prstGeom prst="line">
            <a:avLst/>
          </a:prstGeom>
          <a:noFill/>
          <a:ln w="15840" cap="sq">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ru-RU"/>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000" b="1" i="1">
                <a:solidFill>
                  <a:srgbClr val="FFFFFF"/>
                </a:solidFill>
                <a:latin typeface="Times New Roman" panose="02020603050405020304" pitchFamily="18" charset="0"/>
                <a:cs typeface="Times New Roman" panose="02020603050405020304" pitchFamily="18" charset="0"/>
              </a:rPr>
              <a:t>Правильное хранение шоколада</a:t>
            </a:r>
          </a:p>
        </p:txBody>
      </p:sp>
      <p:sp>
        <p:nvSpPr>
          <p:cNvPr id="19459" name="Text Box 2"/>
          <p:cNvSpPr txBox="1">
            <a:spLocks noChangeArrowheads="1"/>
          </p:cNvSpPr>
          <p:nvPr/>
        </p:nvSpPr>
        <p:spPr bwMode="auto">
          <a:xfrm>
            <a:off x="228600" y="1295400"/>
            <a:ext cx="86106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eaLnBrk="1" hangingPunct="1">
              <a:buClrTx/>
              <a:buFontTx/>
              <a:buNone/>
            </a:pPr>
            <a:r>
              <a:rPr lang="ru-RU" altLang="ru-RU" b="1">
                <a:solidFill>
                  <a:srgbClr val="FFFFFF"/>
                </a:solidFill>
                <a:latin typeface="Times New Roman" panose="02020603050405020304" pitchFamily="18" charset="0"/>
                <a:cs typeface="Times New Roman" panose="02020603050405020304" pitchFamily="18" charset="0"/>
              </a:rPr>
              <a:t>Шоколад – это очень капризный продукт. Он боится всего: воздуха, влаги, солнечного света, перепада температуры.</a:t>
            </a:r>
          </a:p>
        </p:txBody>
      </p:sp>
      <p:pic>
        <p:nvPicPr>
          <p:cNvPr id="1946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3048000"/>
            <a:ext cx="40386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9461" name="Text Box 4"/>
          <p:cNvSpPr txBox="1">
            <a:spLocks noChangeArrowheads="1"/>
          </p:cNvSpPr>
          <p:nvPr/>
        </p:nvSpPr>
        <p:spPr bwMode="auto">
          <a:xfrm>
            <a:off x="304800" y="2971800"/>
            <a:ext cx="4572000"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b="1">
                <a:solidFill>
                  <a:srgbClr val="FFFFFF"/>
                </a:solidFill>
                <a:latin typeface="Times New Roman" panose="02020603050405020304" pitchFamily="18" charset="0"/>
                <a:cs typeface="Times New Roman" panose="02020603050405020304" pitchFamily="18" charset="0"/>
              </a:rPr>
              <a:t>Чтобы шоколад не испортился и не принес больше вреда, чем пользы, его нужно хранить правильно.</a:t>
            </a:r>
          </a:p>
          <a:p>
            <a:pPr eaLnBrk="1" hangingPunct="1">
              <a:spcBef>
                <a:spcPct val="0"/>
              </a:spcBef>
              <a:buClrTx/>
              <a:buFontTx/>
              <a:buNone/>
            </a:pPr>
            <a:endParaRPr lang="ru-RU" altLang="ru-RU" b="1">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p:cNvSpPr txBox="1">
            <a:spLocks noChangeArrowheads="1"/>
          </p:cNvSpPr>
          <p:nvPr/>
        </p:nvSpPr>
        <p:spPr bwMode="auto">
          <a:xfrm>
            <a:off x="457200" y="1524000"/>
            <a:ext cx="8458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indent="179388">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algn="ctr" eaLnBrk="1" hangingPunct="1">
              <a:lnSpc>
                <a:spcPct val="114000"/>
              </a:lnSpc>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1. Боится тепла солнечных лучей.</a:t>
            </a:r>
          </a:p>
          <a:p>
            <a:pPr algn="ctr" eaLnBrk="1" hangingPunct="1">
              <a:lnSpc>
                <a:spcPct val="114000"/>
              </a:lnSpc>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2. Температура хранения шоколада </a:t>
            </a:r>
          </a:p>
          <a:p>
            <a:pPr algn="ctr" eaLnBrk="1" hangingPunct="1">
              <a:lnSpc>
                <a:spcPct val="114000"/>
              </a:lnSpc>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от </a:t>
            </a:r>
            <a:r>
              <a:rPr lang="ru-RU" altLang="ru-RU" b="1">
                <a:solidFill>
                  <a:srgbClr val="FFFFFF"/>
                </a:solidFill>
                <a:latin typeface="Times New Roman" panose="02020603050405020304" pitchFamily="18" charset="0"/>
                <a:cs typeface="Times New Roman" panose="02020603050405020304" pitchFamily="18" charset="0"/>
              </a:rPr>
              <a:t>+16 </a:t>
            </a:r>
            <a:r>
              <a:rPr lang="ru-RU" altLang="ru-RU">
                <a:solidFill>
                  <a:srgbClr val="FFFFFF"/>
                </a:solidFill>
                <a:latin typeface="Times New Roman" panose="02020603050405020304" pitchFamily="18" charset="0"/>
                <a:cs typeface="Times New Roman" panose="02020603050405020304" pitchFamily="18" charset="0"/>
              </a:rPr>
              <a:t>до</a:t>
            </a:r>
            <a:r>
              <a:rPr lang="ru-RU" altLang="ru-RU" b="1">
                <a:solidFill>
                  <a:srgbClr val="FFFFFF"/>
                </a:solidFill>
                <a:latin typeface="Times New Roman" panose="02020603050405020304" pitchFamily="18" charset="0"/>
                <a:cs typeface="Times New Roman" panose="02020603050405020304" pitchFamily="18" charset="0"/>
              </a:rPr>
              <a:t> +20 </a:t>
            </a:r>
            <a:r>
              <a:rPr lang="ru-RU" altLang="ru-RU">
                <a:solidFill>
                  <a:srgbClr val="FFFFFF"/>
                </a:solidFill>
                <a:latin typeface="Times New Roman" panose="02020603050405020304" pitchFamily="18" charset="0"/>
                <a:cs typeface="Times New Roman" panose="02020603050405020304" pitchFamily="18" charset="0"/>
              </a:rPr>
              <a:t>градусов.</a:t>
            </a:r>
          </a:p>
          <a:p>
            <a:pPr algn="ctr" eaLnBrk="1" hangingPunct="1">
              <a:lnSpc>
                <a:spcPct val="114000"/>
              </a:lnSpc>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3. Влажность хранения шоколада не более </a:t>
            </a:r>
            <a:r>
              <a:rPr lang="ru-RU" altLang="ru-RU" b="1">
                <a:solidFill>
                  <a:srgbClr val="FFFFFF"/>
                </a:solidFill>
                <a:latin typeface="Times New Roman" panose="02020603050405020304" pitchFamily="18" charset="0"/>
                <a:cs typeface="Times New Roman" panose="02020603050405020304" pitchFamily="18" charset="0"/>
              </a:rPr>
              <a:t>75%</a:t>
            </a:r>
            <a:r>
              <a:rPr lang="ru-RU" altLang="ru-RU">
                <a:solidFill>
                  <a:srgbClr val="FFFFFF"/>
                </a:solidFill>
                <a:latin typeface="Times New Roman" panose="02020603050405020304" pitchFamily="18" charset="0"/>
                <a:cs typeface="Times New Roman" panose="02020603050405020304" pitchFamily="18" charset="0"/>
              </a:rPr>
              <a:t>.</a:t>
            </a:r>
          </a:p>
          <a:p>
            <a:pPr algn="ctr" eaLnBrk="1" hangingPunct="1">
              <a:lnSpc>
                <a:spcPct val="114000"/>
              </a:lnSpc>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4. Шоколад боится запахов. </a:t>
            </a:r>
          </a:p>
          <a:p>
            <a:pPr algn="ctr" eaLnBrk="1" hangingPunct="1">
              <a:lnSpc>
                <a:spcPct val="114000"/>
              </a:lnSpc>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5. Соблюдать срок годности и срок хранения.</a:t>
            </a:r>
          </a:p>
        </p:txBody>
      </p:sp>
      <p:sp>
        <p:nvSpPr>
          <p:cNvPr id="21507" name="Text Box 2"/>
          <p:cNvSpPr txBox="1">
            <a:spLocks noChangeArrowheads="1"/>
          </p:cNvSpPr>
          <p:nvPr/>
        </p:nvSpPr>
        <p:spPr bwMode="auto">
          <a:xfrm>
            <a:off x="304800" y="228600"/>
            <a:ext cx="86868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000" b="1" i="1">
                <a:solidFill>
                  <a:srgbClr val="FFFFFF"/>
                </a:solidFill>
                <a:latin typeface="Times New Roman" panose="02020603050405020304" pitchFamily="18" charset="0"/>
                <a:cs typeface="Times New Roman" panose="02020603050405020304" pitchFamily="18" charset="0"/>
              </a:rPr>
              <a:t>Правильное хранение шоколада</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
          <p:cNvSpPr txBox="1">
            <a:spLocks noChangeArrowheads="1"/>
          </p:cNvSpPr>
          <p:nvPr/>
        </p:nvSpPr>
        <p:spPr bwMode="auto">
          <a:xfrm>
            <a:off x="457200" y="838200"/>
            <a:ext cx="8229600" cy="528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39725" indent="-339725">
              <a:spcBef>
                <a:spcPts val="800"/>
              </a:spcBef>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09638" algn="l"/>
                <a:tab pos="1824038" algn="l"/>
                <a:tab pos="2738438" algn="l"/>
                <a:tab pos="3652838" algn="l"/>
                <a:tab pos="4567238" algn="l"/>
                <a:tab pos="5481638" algn="l"/>
                <a:tab pos="6396038" algn="l"/>
                <a:tab pos="7310438" algn="l"/>
                <a:tab pos="8224838" algn="l"/>
                <a:tab pos="9139238" algn="l"/>
                <a:tab pos="10053638" algn="l"/>
              </a:tabLst>
              <a:defRPr sz="2000">
                <a:solidFill>
                  <a:srgbClr val="000000"/>
                </a:solidFill>
                <a:latin typeface="Arial" panose="020B0604020202020204" pitchFamily="34" charset="0"/>
                <a:cs typeface="Arial" panose="020B0604020202020204" pitchFamily="34" charset="0"/>
              </a:defRPr>
            </a:lvl9pPr>
          </a:lstStyle>
          <a:p>
            <a:pPr algn="ctr" eaLnBrk="1" hangingPunct="1">
              <a:lnSpc>
                <a:spcPct val="114000"/>
              </a:lnSpc>
              <a:spcBef>
                <a:spcPct val="0"/>
              </a:spcBef>
              <a:buClr>
                <a:srgbClr val="FFFFFF"/>
              </a:buClr>
              <a:buFont typeface="Times New Roman" panose="02020603050405020304" pitchFamily="18" charset="0"/>
              <a:buChar char="•"/>
            </a:pPr>
            <a:r>
              <a:rPr lang="ru-RU" altLang="ru-RU" sz="2800" b="1">
                <a:solidFill>
                  <a:srgbClr val="FFFFFF"/>
                </a:solidFill>
                <a:latin typeface="Times New Roman" panose="02020603050405020304" pitchFamily="18" charset="0"/>
                <a:cs typeface="Times New Roman" panose="02020603050405020304" pitchFamily="18" charset="0"/>
              </a:rPr>
              <a:t>Самый продолжительный срок хранения у плиточного шоколада – это 12 месяцев.</a:t>
            </a:r>
          </a:p>
          <a:p>
            <a:pPr algn="ctr" eaLnBrk="1" hangingPunct="1">
              <a:lnSpc>
                <a:spcPct val="114000"/>
              </a:lnSpc>
              <a:spcBef>
                <a:spcPct val="0"/>
              </a:spcBef>
              <a:buClr>
                <a:srgbClr val="FFFFFF"/>
              </a:buClr>
              <a:buFont typeface="Times New Roman" panose="02020603050405020304" pitchFamily="18" charset="0"/>
              <a:buChar char="•"/>
            </a:pPr>
            <a:r>
              <a:rPr lang="ru-RU" altLang="ru-RU" sz="2800" b="1">
                <a:solidFill>
                  <a:srgbClr val="FFFFFF"/>
                </a:solidFill>
                <a:latin typeface="Times New Roman" panose="02020603050405020304" pitchFamily="18" charset="0"/>
                <a:cs typeface="Times New Roman" panose="02020603050405020304" pitchFamily="18" charset="0"/>
              </a:rPr>
              <a:t>Десертный шоколад без добавок хранится не больше 6-10 месяцев.</a:t>
            </a:r>
          </a:p>
          <a:p>
            <a:pPr algn="ctr" eaLnBrk="1" hangingPunct="1">
              <a:lnSpc>
                <a:spcPct val="114000"/>
              </a:lnSpc>
              <a:spcBef>
                <a:spcPct val="0"/>
              </a:spcBef>
              <a:buClr>
                <a:srgbClr val="FFFFFF"/>
              </a:buClr>
              <a:buFont typeface="Times New Roman" panose="02020603050405020304" pitchFamily="18" charset="0"/>
              <a:buChar char="•"/>
            </a:pPr>
            <a:r>
              <a:rPr lang="ru-RU" altLang="ru-RU" sz="2800" b="1">
                <a:solidFill>
                  <a:srgbClr val="FFFFFF"/>
                </a:solidFill>
                <a:latin typeface="Times New Roman" panose="02020603050405020304" pitchFamily="18" charset="0"/>
                <a:cs typeface="Times New Roman" panose="02020603050405020304" pitchFamily="18" charset="0"/>
              </a:rPr>
              <a:t>Десертный шоколад с добавками и начинками – 3 месяца.</a:t>
            </a:r>
          </a:p>
          <a:p>
            <a:pPr algn="ctr" eaLnBrk="1" hangingPunct="1">
              <a:lnSpc>
                <a:spcPct val="114000"/>
              </a:lnSpc>
              <a:spcBef>
                <a:spcPct val="0"/>
              </a:spcBef>
              <a:buClr>
                <a:srgbClr val="FFFFFF"/>
              </a:buClr>
              <a:buFont typeface="Times New Roman" panose="02020603050405020304" pitchFamily="18" charset="0"/>
              <a:buChar char="•"/>
            </a:pPr>
            <a:r>
              <a:rPr lang="ru-RU" altLang="ru-RU" sz="2800" b="1">
                <a:solidFill>
                  <a:srgbClr val="FFFFFF"/>
                </a:solidFill>
                <a:latin typeface="Times New Roman" panose="02020603050405020304" pitchFamily="18" charset="0"/>
                <a:cs typeface="Times New Roman" panose="02020603050405020304" pitchFamily="18" charset="0"/>
              </a:rPr>
              <a:t>Белый шоколад, как говорилось выше, хранится не более 1 месяца.</a:t>
            </a:r>
          </a:p>
          <a:p>
            <a:pPr algn="ctr" eaLnBrk="1" hangingPunct="1">
              <a:lnSpc>
                <a:spcPct val="114000"/>
              </a:lnSpc>
              <a:spcBef>
                <a:spcPct val="0"/>
              </a:spcBef>
              <a:buClr>
                <a:srgbClr val="FFFFFF"/>
              </a:buClr>
              <a:buFont typeface="Times New Roman" panose="02020603050405020304" pitchFamily="18" charset="0"/>
              <a:buChar char="•"/>
            </a:pPr>
            <a:r>
              <a:rPr lang="ru-RU" altLang="ru-RU" sz="2800" b="1">
                <a:solidFill>
                  <a:srgbClr val="FFFFFF"/>
                </a:solidFill>
                <a:latin typeface="Times New Roman" panose="02020603050405020304" pitchFamily="18" charset="0"/>
                <a:cs typeface="Times New Roman" panose="02020603050405020304" pitchFamily="18" charset="0"/>
              </a:rPr>
              <a:t>Весовой шоколад без упаковки должен храниться не более 2 месяцев.</a:t>
            </a:r>
          </a:p>
        </p:txBody>
      </p:sp>
      <p:sp>
        <p:nvSpPr>
          <p:cNvPr id="23555" name="Text Box 2"/>
          <p:cNvSpPr txBox="1">
            <a:spLocks noChangeArrowheads="1"/>
          </p:cNvSpPr>
          <p:nvPr/>
        </p:nvSpPr>
        <p:spPr bwMode="auto">
          <a:xfrm>
            <a:off x="228600" y="0"/>
            <a:ext cx="89154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000" i="1">
                <a:solidFill>
                  <a:srgbClr val="FFFFFF"/>
                </a:solidFill>
                <a:latin typeface="Times New Roman" panose="02020603050405020304" pitchFamily="18" charset="0"/>
                <a:cs typeface="Times New Roman" panose="02020603050405020304" pitchFamily="18" charset="0"/>
              </a:rPr>
              <a:t>Сроки хранения:</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400" i="1">
                <a:solidFill>
                  <a:srgbClr val="FFFFFF"/>
                </a:solidFill>
                <a:latin typeface="Times New Roman" panose="02020603050405020304" pitchFamily="18" charset="0"/>
                <a:cs typeface="Times New Roman" panose="02020603050405020304" pitchFamily="18" charset="0"/>
              </a:rPr>
              <a:t>Химический состав шоколада</a:t>
            </a:r>
          </a:p>
        </p:txBody>
      </p:sp>
      <p:sp>
        <p:nvSpPr>
          <p:cNvPr id="25603" name="Text Box 2"/>
          <p:cNvSpPr txBox="1">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algn="ctr" eaLnBrk="1" hangingPunct="1">
              <a:lnSpc>
                <a:spcPct val="150000"/>
              </a:lnSpc>
              <a:spcBef>
                <a:spcPct val="0"/>
              </a:spcBef>
              <a:buClrTx/>
              <a:buFontTx/>
              <a:buNone/>
            </a:pPr>
            <a:r>
              <a:rPr lang="ru-RU" altLang="ru-RU" sz="3600">
                <a:solidFill>
                  <a:srgbClr val="FFFFFF"/>
                </a:solidFill>
                <a:latin typeface="Times New Roman" panose="02020603050405020304" pitchFamily="18" charset="0"/>
                <a:cs typeface="Times New Roman" panose="02020603050405020304" pitchFamily="18" charset="0"/>
              </a:rPr>
              <a:t>5-8% белка, 35-40% жира, 50-60% углеводов, алкалоиды – теобромин и кофеин по 0,5% каждого, 1% дубильных веществ и солей калия, фосфора, магния, железа.</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1"/>
          <p:cNvSpPr txBox="1">
            <a:spLocks noChangeArrowheads="1"/>
          </p:cNvSpPr>
          <p:nvPr/>
        </p:nvSpPr>
        <p:spPr bwMode="auto">
          <a:xfrm>
            <a:off x="0" y="152400"/>
            <a:ext cx="41148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ts val="900"/>
              </a:spcBef>
              <a:buClrTx/>
              <a:buFontTx/>
              <a:buNone/>
            </a:pPr>
            <a:r>
              <a:rPr lang="ru-RU" altLang="ru-RU" sz="3600" dirty="0">
                <a:solidFill>
                  <a:srgbClr val="FFFFFF"/>
                </a:solidFill>
                <a:latin typeface="Times New Roman" panose="02020603050405020304" pitchFamily="18" charset="0"/>
                <a:cs typeface="Times New Roman" panose="02020603050405020304" pitchFamily="18" charset="0"/>
              </a:rPr>
              <a:t>В ходе исследований мы предложили ответить </a:t>
            </a:r>
            <a:r>
              <a:rPr lang="ru-RU" altLang="ru-RU" sz="3600" dirty="0" smtClean="0">
                <a:solidFill>
                  <a:srgbClr val="FFFFFF"/>
                </a:solidFill>
                <a:latin typeface="Times New Roman" panose="02020603050405020304" pitchFamily="18" charset="0"/>
                <a:cs typeface="Times New Roman" panose="02020603050405020304" pitchFamily="18" charset="0"/>
              </a:rPr>
              <a:t>группе 21ис5 </a:t>
            </a:r>
            <a:r>
              <a:rPr lang="ru-RU" altLang="ru-RU" sz="3600" dirty="0">
                <a:solidFill>
                  <a:srgbClr val="FFFFFF"/>
                </a:solidFill>
                <a:latin typeface="Times New Roman" panose="02020603050405020304" pitchFamily="18" charset="0"/>
                <a:cs typeface="Times New Roman" panose="02020603050405020304" pitchFamily="18" charset="0"/>
              </a:rPr>
              <a:t>на следующие вопросы…</a:t>
            </a:r>
          </a:p>
        </p:txBody>
      </p:sp>
      <p:sp>
        <p:nvSpPr>
          <p:cNvPr id="27651" name="TextBox 3"/>
          <p:cNvSpPr txBox="1">
            <a:spLocks noChangeArrowheads="1"/>
          </p:cNvSpPr>
          <p:nvPr/>
        </p:nvSpPr>
        <p:spPr bwMode="auto">
          <a:xfrm>
            <a:off x="4284663" y="4292600"/>
            <a:ext cx="4464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buClr>
                <a:srgbClr val="000000"/>
              </a:buClr>
              <a:buSzPct val="100000"/>
              <a:buFont typeface="Times New Roman" panose="02020603050405020304" pitchFamily="18" charset="0"/>
              <a:buNone/>
            </a:pPr>
            <a:r>
              <a:rPr lang="ru-RU" altLang="ru-RU"/>
              <a:t>ФОТО</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ext Box 2"/>
          <p:cNvSpPr txBox="1">
            <a:spLocks noChangeArrowheads="1"/>
          </p:cNvSpPr>
          <p:nvPr/>
        </p:nvSpPr>
        <p:spPr bwMode="auto">
          <a:xfrm>
            <a:off x="609600" y="4572000"/>
            <a:ext cx="8066856" cy="1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2800" dirty="0">
                <a:solidFill>
                  <a:srgbClr val="FFFFFF"/>
                </a:solidFill>
                <a:latin typeface="Times New Roman" panose="02020603050405020304" pitchFamily="18" charset="0"/>
                <a:cs typeface="Times New Roman" panose="02020603050405020304" pitchFamily="18" charset="0"/>
              </a:rPr>
              <a:t>В ходе исследований мы сделали вывод, что большинство любителей шоколада употребляют </a:t>
            </a:r>
            <a:r>
              <a:rPr lang="ru-RU" altLang="ru-RU" sz="2800" dirty="0" smtClean="0">
                <a:solidFill>
                  <a:srgbClr val="FFFFFF"/>
                </a:solidFill>
                <a:latin typeface="Times New Roman" panose="02020603050405020304" pitchFamily="18" charset="0"/>
                <a:cs typeface="Times New Roman" panose="02020603050405020304" pitchFamily="18" charset="0"/>
              </a:rPr>
              <a:t>его </a:t>
            </a:r>
            <a:r>
              <a:rPr lang="ru-RU" altLang="ru-RU" sz="2800" smtClean="0">
                <a:solidFill>
                  <a:srgbClr val="FFFFFF"/>
                </a:solidFill>
                <a:latin typeface="Times New Roman" panose="02020603050405020304" pitchFamily="18" charset="0"/>
                <a:cs typeface="Times New Roman" panose="02020603050405020304" pitchFamily="18" charset="0"/>
              </a:rPr>
              <a:t>в другие дни, </a:t>
            </a:r>
            <a:r>
              <a:rPr lang="ru-RU" altLang="ru-RU" sz="2800" dirty="0">
                <a:solidFill>
                  <a:srgbClr val="FFFFFF"/>
                </a:solidFill>
                <a:latin typeface="Times New Roman" panose="02020603050405020304" pitchFamily="18" charset="0"/>
                <a:cs typeface="Times New Roman" panose="02020603050405020304" pitchFamily="18" charset="0"/>
              </a:rPr>
              <a:t>меньше всего употребляют шоколад каждый день.</a:t>
            </a:r>
          </a:p>
        </p:txBody>
      </p:sp>
      <p:graphicFrame>
        <p:nvGraphicFramePr>
          <p:cNvPr id="10" name="Диаграмма 9"/>
          <p:cNvGraphicFramePr/>
          <p:nvPr>
            <p:extLst>
              <p:ext uri="{D42A27DB-BD31-4B8C-83A1-F6EECF244321}">
                <p14:modId xmlns:p14="http://schemas.microsoft.com/office/powerpoint/2010/main" val="467650621"/>
              </p:ext>
            </p:extLst>
          </p:nvPr>
        </p:nvGraphicFramePr>
        <p:xfrm>
          <a:off x="1547664" y="332656"/>
          <a:ext cx="6096000" cy="4064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
          <p:cNvSpPr txBox="1">
            <a:spLocks noChangeArrowheads="1"/>
          </p:cNvSpPr>
          <p:nvPr/>
        </p:nvSpPr>
        <p:spPr bwMode="auto">
          <a:xfrm>
            <a:off x="533400" y="4797152"/>
            <a:ext cx="8229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algn="ctr" eaLnBrk="1" hangingPunct="1">
              <a:buClrTx/>
              <a:buFontTx/>
              <a:buNone/>
            </a:pPr>
            <a:r>
              <a:rPr lang="ru-RU" altLang="ru-RU" dirty="0">
                <a:solidFill>
                  <a:srgbClr val="FFFFFF"/>
                </a:solidFill>
                <a:latin typeface="Times New Roman" panose="02020603050405020304" pitchFamily="18" charset="0"/>
                <a:cs typeface="Times New Roman" panose="02020603050405020304" pitchFamily="18" charset="0"/>
              </a:rPr>
              <a:t>Опрос показал, что у большинства опрашиваемых настроение улучшается от кусочка шоколада.</a:t>
            </a:r>
          </a:p>
        </p:txBody>
      </p:sp>
      <p:graphicFrame>
        <p:nvGraphicFramePr>
          <p:cNvPr id="4" name="Диаграмма 3"/>
          <p:cNvGraphicFramePr/>
          <p:nvPr>
            <p:extLst>
              <p:ext uri="{D42A27DB-BD31-4B8C-83A1-F6EECF244321}">
                <p14:modId xmlns:p14="http://schemas.microsoft.com/office/powerpoint/2010/main" val="354233123"/>
              </p:ext>
            </p:extLst>
          </p:nvPr>
        </p:nvGraphicFramePr>
        <p:xfrm>
          <a:off x="1691680" y="836712"/>
          <a:ext cx="6096000" cy="4064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1"/>
          <p:cNvSpPr txBox="1">
            <a:spLocks noChangeArrowheads="1"/>
          </p:cNvSpPr>
          <p:nvPr/>
        </p:nvSpPr>
        <p:spPr bwMode="auto">
          <a:xfrm>
            <a:off x="395536" y="4725144"/>
            <a:ext cx="8229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ts val="700"/>
              </a:spcBef>
              <a:buClrTx/>
              <a:buFontTx/>
              <a:buNone/>
            </a:pPr>
            <a:r>
              <a:rPr lang="ru-RU" altLang="ru-RU" sz="2800" dirty="0">
                <a:solidFill>
                  <a:srgbClr val="FFFFFF"/>
                </a:solidFill>
                <a:latin typeface="Times New Roman" panose="02020603050405020304" pitchFamily="18" charset="0"/>
                <a:cs typeface="Times New Roman" panose="02020603050405020304" pitchFamily="18" charset="0"/>
              </a:rPr>
              <a:t>В ходе опроса мы пришли к выводу, что большинство уверены в пользе шоколада, а меньшинство не задумывается о пользе и вреде шоколада.</a:t>
            </a:r>
          </a:p>
        </p:txBody>
      </p:sp>
      <p:graphicFrame>
        <p:nvGraphicFramePr>
          <p:cNvPr id="4" name="Диаграмма 3"/>
          <p:cNvGraphicFramePr/>
          <p:nvPr>
            <p:extLst>
              <p:ext uri="{D42A27DB-BD31-4B8C-83A1-F6EECF244321}">
                <p14:modId xmlns:p14="http://schemas.microsoft.com/office/powerpoint/2010/main" val="753904604"/>
              </p:ext>
            </p:extLst>
          </p:nvPr>
        </p:nvGraphicFramePr>
        <p:xfrm>
          <a:off x="1691680" y="661144"/>
          <a:ext cx="6096000" cy="4064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
          <p:cNvSpPr txBox="1">
            <a:spLocks noChangeArrowheads="1"/>
          </p:cNvSpPr>
          <p:nvPr/>
        </p:nvSpPr>
        <p:spPr bwMode="auto">
          <a:xfrm>
            <a:off x="467544" y="4653136"/>
            <a:ext cx="8229600" cy="185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2800" dirty="0">
                <a:solidFill>
                  <a:srgbClr val="FFFFFF"/>
                </a:solidFill>
                <a:latin typeface="Times New Roman" panose="02020603050405020304" pitchFamily="18" charset="0"/>
                <a:cs typeface="Times New Roman" panose="02020603050405020304" pitchFamily="18" charset="0"/>
              </a:rPr>
              <a:t>На основе исследований мы сделали вывод, что большинство предпочитает молочный шоколад, чуть реже люди употребляют </a:t>
            </a:r>
            <a:r>
              <a:rPr lang="ru-RU" altLang="ru-RU" sz="2800" dirty="0" smtClean="0">
                <a:solidFill>
                  <a:srgbClr val="FFFFFF"/>
                </a:solidFill>
                <a:latin typeface="Times New Roman" panose="02020603050405020304" pitchFamily="18" charset="0"/>
                <a:cs typeface="Times New Roman" panose="02020603050405020304" pitchFamily="18" charset="0"/>
              </a:rPr>
              <a:t>горький </a:t>
            </a:r>
            <a:r>
              <a:rPr lang="ru-RU" altLang="ru-RU" sz="2800" dirty="0">
                <a:solidFill>
                  <a:srgbClr val="FFFFFF"/>
                </a:solidFill>
                <a:latin typeface="Times New Roman" panose="02020603050405020304" pitchFamily="18" charset="0"/>
                <a:cs typeface="Times New Roman" panose="02020603050405020304" pitchFamily="18" charset="0"/>
              </a:rPr>
              <a:t>шоколад, и лишь небольшая часть предпочитает </a:t>
            </a:r>
            <a:r>
              <a:rPr lang="ru-RU" altLang="ru-RU" sz="2800" dirty="0" smtClean="0">
                <a:solidFill>
                  <a:srgbClr val="FFFFFF"/>
                </a:solidFill>
                <a:latin typeface="Times New Roman" panose="02020603050405020304" pitchFamily="18" charset="0"/>
                <a:cs typeface="Times New Roman" panose="02020603050405020304" pitchFamily="18" charset="0"/>
              </a:rPr>
              <a:t>белый.</a:t>
            </a:r>
            <a:endParaRPr lang="ru-RU" altLang="ru-RU" sz="2800" dirty="0">
              <a:solidFill>
                <a:srgbClr val="FFFFFF"/>
              </a:solidFill>
              <a:latin typeface="Times New Roman" panose="02020603050405020304" pitchFamily="18" charset="0"/>
              <a:cs typeface="Times New Roman" panose="02020603050405020304" pitchFamily="18" charset="0"/>
            </a:endParaRPr>
          </a:p>
        </p:txBody>
      </p:sp>
      <p:graphicFrame>
        <p:nvGraphicFramePr>
          <p:cNvPr id="4" name="Диаграмма 3"/>
          <p:cNvGraphicFramePr/>
          <p:nvPr>
            <p:extLst>
              <p:ext uri="{D42A27DB-BD31-4B8C-83A1-F6EECF244321}">
                <p14:modId xmlns:p14="http://schemas.microsoft.com/office/powerpoint/2010/main" val="862850519"/>
              </p:ext>
            </p:extLst>
          </p:nvPr>
        </p:nvGraphicFramePr>
        <p:xfrm>
          <a:off x="1619672" y="589136"/>
          <a:ext cx="6096000" cy="4064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1"/>
          <p:cNvSpPr txBox="1">
            <a:spLocks noChangeArrowheads="1"/>
          </p:cNvSpPr>
          <p:nvPr/>
        </p:nvSpPr>
        <p:spPr bwMode="auto">
          <a:xfrm>
            <a:off x="457200" y="0"/>
            <a:ext cx="8229600" cy="1020763"/>
          </a:xfrm>
          <a:prstGeom prst="rect">
            <a:avLst/>
          </a:prstGeom>
          <a:noFill/>
          <a:ln w="9525" cap="flat">
            <a:noFill/>
            <a:round/>
            <a:headEnd/>
            <a:tailEnd/>
          </a:ln>
          <a:effectLst/>
        </p:spPr>
        <p:txBody>
          <a:bodyPr anchor="ctr"/>
          <a:lstStyle/>
          <a:p>
            <a:pPr algn="ctr" eaLnBrk="1" hangingPunct="1">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4000">
                <a:solidFill>
                  <a:srgbClr val="FFFFFF"/>
                </a:solidFill>
                <a:effectLst>
                  <a:outerShdw blurRad="38100" dist="38100" dir="2700000" algn="tl">
                    <a:srgbClr val="C0C0C0"/>
                  </a:outerShdw>
                </a:effectLst>
                <a:latin typeface="Times New Roman" pitchFamily="16" charset="0"/>
                <a:cs typeface="Times New Roman" pitchFamily="16" charset="0"/>
              </a:rPr>
              <a:t>Объекты исследования:</a:t>
            </a:r>
          </a:p>
        </p:txBody>
      </p:sp>
      <p:sp>
        <p:nvSpPr>
          <p:cNvPr id="37891" name="Text Box 2"/>
          <p:cNvSpPr txBox="1">
            <a:spLocks noChangeArrowheads="1"/>
          </p:cNvSpPr>
          <p:nvPr/>
        </p:nvSpPr>
        <p:spPr bwMode="auto">
          <a:xfrm>
            <a:off x="457200" y="990600"/>
            <a:ext cx="82296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9pPr>
          </a:lstStyle>
          <a:p>
            <a:pPr algn="ctr" eaLnBrk="1" hangingPunct="1">
              <a:buClr>
                <a:srgbClr val="FFFFFF"/>
              </a:buClr>
              <a:buFont typeface="Times New Roman" panose="02020603050405020304" pitchFamily="18" charset="0"/>
              <a:buChar char="•"/>
            </a:pPr>
            <a:r>
              <a:rPr lang="ru-RU" altLang="ru-RU">
                <a:solidFill>
                  <a:srgbClr val="FFFFFF"/>
                </a:solidFill>
                <a:latin typeface="Times New Roman" panose="02020603050405020304" pitchFamily="18" charset="0"/>
                <a:cs typeface="Times New Roman" panose="02020603050405020304" pitchFamily="18" charset="0"/>
              </a:rPr>
              <a:t>Молочный шоколад «Аленка»</a:t>
            </a:r>
          </a:p>
          <a:p>
            <a:pPr algn="ctr" eaLnBrk="1" hangingPunct="1">
              <a:buClr>
                <a:srgbClr val="FFFFFF"/>
              </a:buClr>
              <a:buFont typeface="Times New Roman" panose="02020603050405020304" pitchFamily="18" charset="0"/>
              <a:buChar char="•"/>
            </a:pPr>
            <a:r>
              <a:rPr lang="ru-RU" altLang="ru-RU">
                <a:solidFill>
                  <a:srgbClr val="FFFFFF"/>
                </a:solidFill>
                <a:latin typeface="Times New Roman" panose="02020603050405020304" pitchFamily="18" charset="0"/>
                <a:cs typeface="Times New Roman" panose="02020603050405020304" pitchFamily="18" charset="0"/>
              </a:rPr>
              <a:t>Белый шоколад «Воздушный»</a:t>
            </a:r>
          </a:p>
          <a:p>
            <a:pPr algn="ctr" eaLnBrk="1" hangingPunct="1">
              <a:buClr>
                <a:srgbClr val="FFFFFF"/>
              </a:buClr>
              <a:buFont typeface="Times New Roman" panose="02020603050405020304" pitchFamily="18" charset="0"/>
              <a:buChar char="•"/>
            </a:pPr>
            <a:r>
              <a:rPr lang="ru-RU" altLang="ru-RU">
                <a:solidFill>
                  <a:srgbClr val="FFFFFF"/>
                </a:solidFill>
                <a:latin typeface="Times New Roman" panose="02020603050405020304" pitchFamily="18" charset="0"/>
                <a:cs typeface="Times New Roman" panose="02020603050405020304" pitchFamily="18" charset="0"/>
              </a:rPr>
              <a:t>Темный шоколад «Бабаевский»</a:t>
            </a:r>
          </a:p>
        </p:txBody>
      </p:sp>
      <p:pic>
        <p:nvPicPr>
          <p:cNvPr id="378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971800"/>
            <a:ext cx="1814513"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7893" name="Picture 4"/>
          <p:cNvPicPr>
            <a:picLocks noChangeAspect="1" noChangeArrowheads="1"/>
          </p:cNvPicPr>
          <p:nvPr/>
        </p:nvPicPr>
        <p:blipFill>
          <a:blip r:embed="rId4">
            <a:extLst>
              <a:ext uri="{28A0092B-C50C-407E-A947-70E740481C1C}">
                <a14:useLocalDpi xmlns:a14="http://schemas.microsoft.com/office/drawing/2010/main" val="0"/>
              </a:ext>
            </a:extLst>
          </a:blip>
          <a:srcRect l="1697" t="5090" r="3394" b="10165"/>
          <a:stretch>
            <a:fillRect/>
          </a:stretch>
        </p:blipFill>
        <p:spPr bwMode="auto">
          <a:xfrm>
            <a:off x="4419600" y="4648200"/>
            <a:ext cx="42672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7894" name="Picture 5"/>
          <p:cNvPicPr>
            <a:picLocks noChangeAspect="1" noChangeArrowheads="1"/>
          </p:cNvPicPr>
          <p:nvPr/>
        </p:nvPicPr>
        <p:blipFill>
          <a:blip r:embed="rId5">
            <a:extLst>
              <a:ext uri="{28A0092B-C50C-407E-A947-70E740481C1C}">
                <a14:useLocalDpi xmlns:a14="http://schemas.microsoft.com/office/drawing/2010/main" val="0"/>
              </a:ext>
            </a:extLst>
          </a:blip>
          <a:srcRect l="15768" t="10075" r="16632" b="7135"/>
          <a:stretch>
            <a:fillRect/>
          </a:stretch>
        </p:blipFill>
        <p:spPr bwMode="auto">
          <a:xfrm>
            <a:off x="2590800" y="2971800"/>
            <a:ext cx="148272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400" i="1">
                <a:solidFill>
                  <a:srgbClr val="FFFFFF"/>
                </a:solidFill>
                <a:latin typeface="Times New Roman" panose="02020603050405020304" pitchFamily="18" charset="0"/>
                <a:cs typeface="Times New Roman" panose="02020603050405020304" pitchFamily="18" charset="0"/>
              </a:rPr>
              <a:t>Эксперименты: Изучить химический состав шоколада.</a:t>
            </a:r>
          </a:p>
        </p:txBody>
      </p:sp>
      <p:sp>
        <p:nvSpPr>
          <p:cNvPr id="39939" name="Text Box 2"/>
          <p:cNvSpPr txBox="1">
            <a:spLocks noChangeArrowheads="1"/>
          </p:cNvSpPr>
          <p:nvPr/>
        </p:nvSpPr>
        <p:spPr bwMode="auto">
          <a:xfrm>
            <a:off x="381000" y="1905000"/>
            <a:ext cx="84756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3600">
                <a:solidFill>
                  <a:srgbClr val="FFFFFF"/>
                </a:solidFill>
                <a:latin typeface="Times New Roman" panose="02020603050405020304" pitchFamily="18" charset="0"/>
                <a:cs typeface="Times New Roman" panose="02020603050405020304" pitchFamily="18" charset="0"/>
              </a:rPr>
              <a:t>Чтобы наглядно изучить состав шоколада разного вида, мы проделали ряд качественных реакций:</a:t>
            </a:r>
          </a:p>
          <a:p>
            <a:pPr algn="ctr" eaLnBrk="1" hangingPunct="1">
              <a:spcBef>
                <a:spcPct val="0"/>
              </a:spcBef>
              <a:buClr>
                <a:srgbClr val="FFFFFF"/>
              </a:buClr>
              <a:buFont typeface="Wingdings" panose="05000000000000000000" pitchFamily="2" charset="2"/>
              <a:buChar char=""/>
            </a:pPr>
            <a:r>
              <a:rPr lang="ru-RU" altLang="ru-RU" sz="3600">
                <a:solidFill>
                  <a:srgbClr val="FFFFFF"/>
                </a:solidFill>
                <a:latin typeface="Times New Roman" panose="02020603050405020304" pitchFamily="18" charset="0"/>
                <a:cs typeface="Times New Roman" panose="02020603050405020304" pitchFamily="18" charset="0"/>
              </a:rPr>
              <a:t>Обнаружение углеводов;</a:t>
            </a:r>
          </a:p>
          <a:p>
            <a:pPr algn="ctr" eaLnBrk="1" hangingPunct="1">
              <a:spcBef>
                <a:spcPct val="0"/>
              </a:spcBef>
              <a:buClr>
                <a:srgbClr val="FFFFFF"/>
              </a:buClr>
              <a:buFont typeface="Wingdings" panose="05000000000000000000" pitchFamily="2" charset="2"/>
              <a:buChar char=""/>
            </a:pPr>
            <a:r>
              <a:rPr lang="ru-RU" altLang="ru-RU" sz="3600">
                <a:solidFill>
                  <a:srgbClr val="FFFFFF"/>
                </a:solidFill>
                <a:latin typeface="Times New Roman" panose="02020603050405020304" pitchFamily="18" charset="0"/>
                <a:cs typeface="Times New Roman" panose="02020603050405020304" pitchFamily="18" charset="0"/>
              </a:rPr>
              <a:t>Ксантопротеиновая реакция;</a:t>
            </a:r>
          </a:p>
          <a:p>
            <a:pPr algn="ctr" eaLnBrk="1" hangingPunct="1">
              <a:spcBef>
                <a:spcPct val="0"/>
              </a:spcBef>
              <a:buClr>
                <a:srgbClr val="FFFFFF"/>
              </a:buClr>
              <a:buFont typeface="Wingdings" panose="05000000000000000000" pitchFamily="2" charset="2"/>
              <a:buChar char=""/>
            </a:pPr>
            <a:r>
              <a:rPr lang="ru-RU" altLang="ru-RU" sz="3600">
                <a:solidFill>
                  <a:srgbClr val="FFFFFF"/>
                </a:solidFill>
                <a:latin typeface="Times New Roman" panose="02020603050405020304" pitchFamily="18" charset="0"/>
                <a:cs typeface="Times New Roman" panose="02020603050405020304" pitchFamily="18" charset="0"/>
              </a:rPr>
              <a:t>Определение качества «шоколадной плитки».</a:t>
            </a:r>
          </a:p>
          <a:p>
            <a:pPr eaLnBrk="1" hangingPunct="1">
              <a:spcBef>
                <a:spcPts val="700"/>
              </a:spcBef>
              <a:buClr>
                <a:srgbClr val="FFFFFF"/>
              </a:buClr>
            </a:pPr>
            <a:endParaRPr lang="ru-RU" altLang="ru-RU" sz="280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1"/>
          <p:cNvSpPr txBox="1">
            <a:spLocks noChangeArrowheads="1"/>
          </p:cNvSpPr>
          <p:nvPr/>
        </p:nvSpPr>
        <p:spPr bwMode="auto">
          <a:xfrm>
            <a:off x="533400" y="152400"/>
            <a:ext cx="8229600"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3600">
                <a:solidFill>
                  <a:srgbClr val="FFFFFF"/>
                </a:solidFill>
                <a:latin typeface="Times New Roman" panose="02020603050405020304" pitchFamily="18" charset="0"/>
                <a:cs typeface="Times New Roman" panose="02020603050405020304" pitchFamily="18" charset="0"/>
              </a:rPr>
              <a:t>Опыт №1</a:t>
            </a:r>
            <a:r>
              <a:rPr lang="ru-RU" altLang="ru-RU" sz="3600" i="1">
                <a:solidFill>
                  <a:srgbClr val="FFFFFF"/>
                </a:solidFill>
                <a:latin typeface="Times New Roman" panose="02020603050405020304" pitchFamily="18" charset="0"/>
                <a:cs typeface="Times New Roman" panose="02020603050405020304" pitchFamily="18" charset="0"/>
              </a:rPr>
              <a:t>. Как проверить шоколад </a:t>
            </a:r>
            <a:br>
              <a:rPr lang="ru-RU" altLang="ru-RU" sz="3600" i="1">
                <a:solidFill>
                  <a:srgbClr val="FFFFFF"/>
                </a:solidFill>
                <a:latin typeface="Times New Roman" panose="02020603050405020304" pitchFamily="18" charset="0"/>
                <a:cs typeface="Times New Roman" panose="02020603050405020304" pitchFamily="18" charset="0"/>
              </a:rPr>
            </a:br>
            <a:r>
              <a:rPr lang="ru-RU" altLang="ru-RU" sz="3600" i="1">
                <a:solidFill>
                  <a:srgbClr val="FFFFFF"/>
                </a:solidFill>
                <a:latin typeface="Times New Roman" panose="02020603050405020304" pitchFamily="18" charset="0"/>
                <a:cs typeface="Times New Roman" panose="02020603050405020304" pitchFamily="18" charset="0"/>
              </a:rPr>
              <a:t>"на полезность"?</a:t>
            </a:r>
          </a:p>
        </p:txBody>
      </p:sp>
      <p:sp>
        <p:nvSpPr>
          <p:cNvPr id="41987" name="Text Box 2"/>
          <p:cNvSpPr txBox="1">
            <a:spLocks noChangeArrowheads="1"/>
          </p:cNvSpPr>
          <p:nvPr/>
        </p:nvSpPr>
        <p:spPr bwMode="auto">
          <a:xfrm>
            <a:off x="304800" y="1600200"/>
            <a:ext cx="83820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indent="342900">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25-30% содержания в плитке какао-бобов свидетельствует о достаточно низком качестве данного шоколада,</a:t>
            </a:r>
          </a:p>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35-40% характеризует шоколад среднего качества,</a:t>
            </a:r>
          </a:p>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40-45% - вполне хороший шоколад,</a:t>
            </a:r>
          </a:p>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45- 60% - перед вами отличная шоколадка, которая пойдет вам на пользу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5" name="Group 1"/>
          <p:cNvGraphicFramePr>
            <a:graphicFrameLocks noGrp="1"/>
          </p:cNvGraphicFramePr>
          <p:nvPr/>
        </p:nvGraphicFramePr>
        <p:xfrm>
          <a:off x="838200" y="762000"/>
          <a:ext cx="6554788" cy="1981200"/>
        </p:xfrm>
        <a:graphic>
          <a:graphicData uri="http://schemas.openxmlformats.org/drawingml/2006/table">
            <a:tbl>
              <a:tblPr/>
              <a:tblGrid>
                <a:gridCol w="3278188">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tblGrid>
              <a:tr h="495300">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1" i="1" u="none" strike="noStrike" cap="none" normalizeH="0" baseline="0" smtClean="0">
                          <a:ln>
                            <a:noFill/>
                          </a:ln>
                          <a:solidFill>
                            <a:srgbClr val="FFFFFF"/>
                          </a:solidFill>
                          <a:effectLst/>
                          <a:latin typeface="Times New Roman" pitchFamily="16" charset="0"/>
                          <a:cs typeface="Times New Roman" pitchFamily="16" charset="0"/>
                        </a:rPr>
                        <a:t>Образец</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1872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1" i="1" u="none" strike="noStrike" cap="none" normalizeH="0" baseline="0" smtClean="0">
                          <a:ln>
                            <a:noFill/>
                          </a:ln>
                          <a:solidFill>
                            <a:srgbClr val="FFFFFF"/>
                          </a:solidFill>
                          <a:effectLst/>
                          <a:latin typeface="Times New Roman" pitchFamily="16" charset="0"/>
                          <a:cs typeface="Times New Roman" pitchFamily="16" charset="0"/>
                        </a:rPr>
                        <a:t>Содержание какао-бобов</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1872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p>
                      <a:pPr marL="0" marR="0" lvl="0" indent="250825" algn="l"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sz="2000" b="0" i="0" u="none" strike="noStrike" cap="none" normalizeH="0" baseline="0" smtClean="0">
                          <a:ln>
                            <a:noFill/>
                          </a:ln>
                          <a:solidFill>
                            <a:srgbClr val="FFFFFF"/>
                          </a:solidFill>
                          <a:effectLst/>
                          <a:latin typeface="Times New Roman" pitchFamily="16" charset="0"/>
                          <a:cs typeface="Times New Roman" pitchFamily="16" charset="0"/>
                        </a:rPr>
                        <a:t>Темный</a:t>
                      </a: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 «Бабаевский»</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54,3 %</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5300">
                <a:tc>
                  <a:txBody>
                    <a:bodyPr/>
                    <a:lstStyle/>
                    <a:p>
                      <a:pPr marL="0" marR="0" lvl="0" indent="250825" algn="l"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Молочный «Аленка»</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32,0 %</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300">
                <a:tc>
                  <a:txBody>
                    <a:bodyPr/>
                    <a:lstStyle/>
                    <a:p>
                      <a:pPr marL="0" marR="0" lvl="0" indent="250825" algn="l"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Белый «Воздушный»</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20,0 %</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4051" name="Text Box 32"/>
          <p:cNvSpPr txBox="1">
            <a:spLocks noChangeArrowheads="1"/>
          </p:cNvSpPr>
          <p:nvPr/>
        </p:nvSpPr>
        <p:spPr bwMode="auto">
          <a:xfrm>
            <a:off x="915988" y="228600"/>
            <a:ext cx="1804987"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sz="2800">
                <a:solidFill>
                  <a:srgbClr val="FFFFFF"/>
                </a:solidFill>
                <a:latin typeface="Times New Roman" panose="02020603050405020304" pitchFamily="18" charset="0"/>
                <a:cs typeface="Times New Roman" panose="02020603050405020304" pitchFamily="18" charset="0"/>
              </a:rPr>
              <a:t>Таблица 1.</a:t>
            </a:r>
          </a:p>
        </p:txBody>
      </p:sp>
      <p:sp>
        <p:nvSpPr>
          <p:cNvPr id="44052" name="Text Box 33"/>
          <p:cNvSpPr txBox="1">
            <a:spLocks noChangeArrowheads="1"/>
          </p:cNvSpPr>
          <p:nvPr/>
        </p:nvSpPr>
        <p:spPr bwMode="auto">
          <a:xfrm>
            <a:off x="304800" y="3200400"/>
            <a:ext cx="8610600"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lnSpc>
                <a:spcPct val="114000"/>
              </a:lnSpc>
              <a:spcBef>
                <a:spcPct val="0"/>
              </a:spcBef>
              <a:buClrTx/>
              <a:buFontTx/>
              <a:buNone/>
            </a:pPr>
            <a:r>
              <a:rPr lang="ru-RU" altLang="ru-RU" sz="2800" b="1" u="sng">
                <a:solidFill>
                  <a:srgbClr val="FFFFFF"/>
                </a:solidFill>
                <a:latin typeface="Times New Roman" panose="02020603050405020304" pitchFamily="18" charset="0"/>
                <a:cs typeface="Times New Roman" panose="02020603050405020304" pitchFamily="18" charset="0"/>
              </a:rPr>
              <a:t>Вывод</a:t>
            </a:r>
            <a:r>
              <a:rPr lang="ru-RU" altLang="ru-RU" sz="2800" u="sng">
                <a:solidFill>
                  <a:srgbClr val="FFFFFF"/>
                </a:solidFill>
                <a:latin typeface="Times New Roman" panose="02020603050405020304" pitchFamily="18" charset="0"/>
                <a:cs typeface="Times New Roman" panose="02020603050405020304" pitchFamily="18" charset="0"/>
              </a:rPr>
              <a:t>:</a:t>
            </a:r>
            <a:r>
              <a:rPr lang="ru-RU" altLang="ru-RU" sz="2800">
                <a:solidFill>
                  <a:srgbClr val="FFFFFF"/>
                </a:solidFill>
                <a:latin typeface="Times New Roman" panose="02020603050405020304" pitchFamily="18" charset="0"/>
                <a:cs typeface="Times New Roman" panose="02020603050405020304" pitchFamily="18" charset="0"/>
              </a:rPr>
              <a:t> шоколад белый «Воздушный» и «Аленка» являются наименее полезными, а горький сорт шоколада «Бабаевский» лидирует по изученному показателю и являются наиболее полезным для организма.</a:t>
            </a:r>
          </a:p>
          <a:p>
            <a:pPr eaLnBrk="1" hangingPunct="1">
              <a:spcBef>
                <a:spcPct val="0"/>
              </a:spcBef>
              <a:buClrTx/>
              <a:buFontTx/>
              <a:buNone/>
            </a:pPr>
            <a:endParaRPr lang="ru-RU" altLang="ru-RU" sz="280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b="1">
                <a:solidFill>
                  <a:srgbClr val="FFFFFF"/>
                </a:solidFill>
                <a:latin typeface="Times New Roman" panose="02020603050405020304" pitchFamily="18" charset="0"/>
                <a:cs typeface="Times New Roman" panose="02020603050405020304" pitchFamily="18" charset="0"/>
              </a:rPr>
              <a:t>Опыт № 2.</a:t>
            </a:r>
            <a:r>
              <a:rPr lang="ru-RU" altLang="ru-RU">
                <a:solidFill>
                  <a:srgbClr val="FFFFFF"/>
                </a:solidFill>
                <a:latin typeface="Times New Roman" panose="02020603050405020304" pitchFamily="18" charset="0"/>
                <a:cs typeface="Times New Roman" panose="02020603050405020304" pitchFamily="18" charset="0"/>
              </a:rPr>
              <a:t> </a:t>
            </a:r>
            <a:r>
              <a:rPr lang="ru-RU" altLang="ru-RU" b="1" i="1">
                <a:solidFill>
                  <a:srgbClr val="FFFFFF"/>
                </a:solidFill>
                <a:latin typeface="Times New Roman" panose="02020603050405020304" pitchFamily="18" charset="0"/>
                <a:cs typeface="Times New Roman" panose="02020603050405020304" pitchFamily="18" charset="0"/>
              </a:rPr>
              <a:t>Определение качества «шоколадной плитки».</a:t>
            </a:r>
          </a:p>
        </p:txBody>
      </p:sp>
      <p:sp>
        <p:nvSpPr>
          <p:cNvPr id="46083" name="Text Box 2"/>
          <p:cNvSpPr txBox="1">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indent="179388">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sz="2800">
                <a:solidFill>
                  <a:srgbClr val="FFFFFF"/>
                </a:solidFill>
                <a:latin typeface="Times New Roman" panose="02020603050405020304" pitchFamily="18" charset="0"/>
                <a:cs typeface="Times New Roman" panose="02020603050405020304" pitchFamily="18" charset="0"/>
              </a:rPr>
              <a:t>Для проведения эксперимента берем образцы шоколадных плиток разных марок массой 5 г, помещаем их в разные пробирки и нагреваем на водяной бане до окончания плавления. Термометром определяем температуру плавления образца. Результаты измерений заносим в таблицу (табл. №2). С увеличением в составе шоколада доли жиров растительного происхождения, следовательно, и химического состава шоколада, уменьшается температура плавления шоколада.</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6450" y="2514600"/>
            <a:ext cx="325755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48131" name="Text Box 2"/>
          <p:cNvSpPr txBox="1">
            <a:spLocks noChangeArrowheads="1"/>
          </p:cNvSpPr>
          <p:nvPr/>
        </p:nvSpPr>
        <p:spPr bwMode="auto">
          <a:xfrm>
            <a:off x="228600" y="2895600"/>
            <a:ext cx="54102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b="1" u="sng">
                <a:solidFill>
                  <a:srgbClr val="FFFFFF"/>
                </a:solidFill>
                <a:latin typeface="Times New Roman" panose="02020603050405020304" pitchFamily="18" charset="0"/>
                <a:cs typeface="Times New Roman" panose="02020603050405020304" pitchFamily="18" charset="0"/>
              </a:rPr>
              <a:t>Вывод:</a:t>
            </a:r>
            <a:r>
              <a:rPr lang="ru-RU" altLang="ru-RU" b="1">
                <a:solidFill>
                  <a:srgbClr val="FFFFFF"/>
                </a:solidFill>
                <a:latin typeface="Times New Roman" panose="02020603050405020304" pitchFamily="18" charset="0"/>
                <a:cs typeface="Times New Roman" panose="02020603050405020304" pitchFamily="18" charset="0"/>
              </a:rPr>
              <a:t> </a:t>
            </a:r>
            <a:r>
              <a:rPr lang="ru-RU" altLang="ru-RU">
                <a:solidFill>
                  <a:srgbClr val="FFFFFF"/>
                </a:solidFill>
                <a:latin typeface="Times New Roman" panose="02020603050405020304" pitchFamily="18" charset="0"/>
                <a:cs typeface="Times New Roman" panose="02020603050405020304" pitchFamily="18" charset="0"/>
              </a:rPr>
              <a:t>Чем меньше температура плавления, тем больше растительных жиров и меньше масла какао бобов. Лучший состав у шоколада темного «Бабаевского».</a:t>
            </a:r>
          </a:p>
          <a:p>
            <a:pPr eaLnBrk="1" hangingPunct="1">
              <a:spcBef>
                <a:spcPct val="0"/>
              </a:spcBef>
              <a:buClrTx/>
              <a:buFontTx/>
              <a:buNone/>
            </a:pPr>
            <a:endParaRPr lang="ru-RU" altLang="ru-RU">
              <a:solidFill>
                <a:srgbClr val="FFFFFF"/>
              </a:solidFill>
              <a:latin typeface="Times New Roman" panose="02020603050405020304" pitchFamily="18" charset="0"/>
              <a:cs typeface="Times New Roman" panose="02020603050405020304" pitchFamily="18" charset="0"/>
            </a:endParaRPr>
          </a:p>
        </p:txBody>
      </p:sp>
      <p:graphicFrame>
        <p:nvGraphicFramePr>
          <p:cNvPr id="28675" name="Group 3"/>
          <p:cNvGraphicFramePr>
            <a:graphicFrameLocks noGrp="1"/>
          </p:cNvGraphicFramePr>
          <p:nvPr/>
        </p:nvGraphicFramePr>
        <p:xfrm>
          <a:off x="1981200" y="533400"/>
          <a:ext cx="7011988" cy="1981200"/>
        </p:xfrm>
        <a:graphic>
          <a:graphicData uri="http://schemas.openxmlformats.org/drawingml/2006/table">
            <a:tbl>
              <a:tblPr/>
              <a:tblGrid>
                <a:gridCol w="3506788">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495300">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1" i="1" u="none" strike="noStrike" cap="none" normalizeH="0" baseline="0" smtClean="0">
                          <a:ln>
                            <a:noFill/>
                          </a:ln>
                          <a:solidFill>
                            <a:srgbClr val="FFFFFF"/>
                          </a:solidFill>
                          <a:effectLst/>
                          <a:latin typeface="Times New Roman" pitchFamily="16" charset="0"/>
                          <a:cs typeface="Times New Roman" pitchFamily="16" charset="0"/>
                        </a:rPr>
                        <a:t>Образец</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1872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1" i="0" u="none" strike="noStrike" cap="none" normalizeH="0" baseline="0" smtClean="0">
                          <a:ln>
                            <a:noFill/>
                          </a:ln>
                          <a:solidFill>
                            <a:srgbClr val="FFFFFF"/>
                          </a:solidFill>
                          <a:effectLst/>
                          <a:latin typeface="Times New Roman" pitchFamily="16" charset="0"/>
                          <a:cs typeface="Times New Roman" pitchFamily="16" charset="0"/>
                        </a:rPr>
                        <a:t>Температура плавления, </a:t>
                      </a:r>
                      <a:r>
                        <a:rPr kumimoji="0" lang="ru-RU" sz="2000" b="1" i="0" u="none" strike="noStrike" cap="none" normalizeH="0" baseline="30000" smtClean="0">
                          <a:ln>
                            <a:noFill/>
                          </a:ln>
                          <a:solidFill>
                            <a:srgbClr val="FFFFFF"/>
                          </a:solidFill>
                          <a:effectLst/>
                          <a:latin typeface="Times New Roman" pitchFamily="16" charset="0"/>
                          <a:cs typeface="Times New Roman" pitchFamily="16" charset="0"/>
                        </a:rPr>
                        <a:t>0</a:t>
                      </a:r>
                      <a:r>
                        <a:rPr kumimoji="0" lang="ru-RU" sz="2000" b="1" i="0" u="none" strike="noStrike" cap="none" normalizeH="0" baseline="0" smtClean="0">
                          <a:ln>
                            <a:noFill/>
                          </a:ln>
                          <a:solidFill>
                            <a:srgbClr val="FFFFFF"/>
                          </a:solidFill>
                          <a:effectLst/>
                          <a:latin typeface="Times New Roman" pitchFamily="16" charset="0"/>
                          <a:cs typeface="Times New Roman" pitchFamily="16" charset="0"/>
                        </a:rPr>
                        <a:t>С</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1872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p>
                      <a:pPr marL="0" marR="0" lvl="0" indent="250825" algn="l"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sz="2000" b="0" i="0" u="none" strike="noStrike" cap="none" normalizeH="0" baseline="0" smtClean="0">
                          <a:ln>
                            <a:noFill/>
                          </a:ln>
                          <a:solidFill>
                            <a:srgbClr val="FFFFFF"/>
                          </a:solidFill>
                          <a:effectLst/>
                          <a:latin typeface="Times New Roman" pitchFamily="16" charset="0"/>
                          <a:cs typeface="Times New Roman" pitchFamily="16" charset="0"/>
                        </a:rPr>
                        <a:t>Темный</a:t>
                      </a: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 «Бабаевский»</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67</a:t>
                      </a:r>
                      <a:r>
                        <a:rPr kumimoji="0" lang="ru-RU" sz="2000" b="0" i="0" u="none" strike="noStrike" cap="none" normalizeH="0" baseline="30000" smtClean="0">
                          <a:ln>
                            <a:noFill/>
                          </a:ln>
                          <a:solidFill>
                            <a:srgbClr val="FFFFFF"/>
                          </a:solidFill>
                          <a:effectLst/>
                          <a:latin typeface="Times New Roman" pitchFamily="16" charset="0"/>
                          <a:cs typeface="Times New Roman" pitchFamily="16" charset="0"/>
                        </a:rPr>
                        <a:t>0</a:t>
                      </a: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С</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5300">
                <a:tc>
                  <a:txBody>
                    <a:bodyPr/>
                    <a:lstStyle/>
                    <a:p>
                      <a:pPr marL="0" marR="0" lvl="0" indent="250825" algn="l"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Молочный «Аленка»</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62</a:t>
                      </a:r>
                      <a:r>
                        <a:rPr kumimoji="0" lang="ru-RU" sz="2000" b="0" i="0" u="none" strike="noStrike" cap="none" normalizeH="0" baseline="30000" smtClean="0">
                          <a:ln>
                            <a:noFill/>
                          </a:ln>
                          <a:solidFill>
                            <a:srgbClr val="FFFFFF"/>
                          </a:solidFill>
                          <a:effectLst/>
                          <a:latin typeface="Times New Roman" pitchFamily="16" charset="0"/>
                          <a:cs typeface="Times New Roman" pitchFamily="16" charset="0"/>
                        </a:rPr>
                        <a:t>0</a:t>
                      </a: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С</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300">
                <a:tc>
                  <a:txBody>
                    <a:bodyPr/>
                    <a:lstStyle/>
                    <a:p>
                      <a:pPr marL="0" marR="0" lvl="0" indent="250825" algn="l"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Белый «Воздушный»</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250825" algn="ctr" defTabSz="449263" rtl="0" eaLnBrk="1" fontAlgn="base" latinLnBrk="0" hangingPunct="1">
                        <a:lnSpc>
                          <a:spcPct val="95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64</a:t>
                      </a:r>
                      <a:r>
                        <a:rPr kumimoji="0" lang="ru-RU" sz="2000" b="0" i="0" u="none" strike="noStrike" cap="none" normalizeH="0" baseline="30000" smtClean="0">
                          <a:ln>
                            <a:noFill/>
                          </a:ln>
                          <a:solidFill>
                            <a:srgbClr val="FFFFFF"/>
                          </a:solidFill>
                          <a:effectLst/>
                          <a:latin typeface="Times New Roman" pitchFamily="16" charset="0"/>
                          <a:cs typeface="Times New Roman" pitchFamily="16" charset="0"/>
                        </a:rPr>
                        <a:t>0</a:t>
                      </a:r>
                      <a:r>
                        <a:rPr kumimoji="0" lang="ru-RU" sz="2000" b="0" i="0" u="none" strike="noStrike" cap="none" normalizeH="0" baseline="0" smtClean="0">
                          <a:ln>
                            <a:noFill/>
                          </a:ln>
                          <a:solidFill>
                            <a:srgbClr val="FFFFFF"/>
                          </a:solidFill>
                          <a:effectLst/>
                          <a:latin typeface="Times New Roman" pitchFamily="16" charset="0"/>
                          <a:cs typeface="Times New Roman" pitchFamily="16" charset="0"/>
                        </a:rPr>
                        <a:t>С</a:t>
                      </a:r>
                    </a:p>
                  </a:txBody>
                  <a:tcPr marL="19080" marR="19080" marT="19080" marB="19080" anchor="ctr" horzOverflow="overflow">
                    <a:lnL w="5760" cap="flat" cmpd="sng" algn="ctr">
                      <a:solidFill>
                        <a:srgbClr val="FFFFFF"/>
                      </a:solidFill>
                      <a:prstDash val="solid"/>
                      <a:round/>
                      <a:headEnd type="none" w="med" len="med"/>
                      <a:tailEnd type="none" w="med" len="med"/>
                    </a:lnL>
                    <a:lnR w="5760" cap="flat" cmpd="sng" algn="ctr">
                      <a:solidFill>
                        <a:srgbClr val="FFFFFF"/>
                      </a:solidFill>
                      <a:prstDash val="solid"/>
                      <a:round/>
                      <a:headEnd type="none" w="med" len="med"/>
                      <a:tailEnd type="none" w="med" len="med"/>
                    </a:lnR>
                    <a:lnT w="5760" cap="flat" cmpd="sng" algn="ctr">
                      <a:solidFill>
                        <a:srgbClr val="FFFFFF"/>
                      </a:solidFill>
                      <a:prstDash val="solid"/>
                      <a:round/>
                      <a:headEnd type="none" w="med" len="med"/>
                      <a:tailEnd type="none" w="med" len="med"/>
                    </a:lnT>
                    <a:lnB w="576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8149" name="Text Box 34"/>
          <p:cNvSpPr txBox="1">
            <a:spLocks noChangeArrowheads="1"/>
          </p:cNvSpPr>
          <p:nvPr/>
        </p:nvSpPr>
        <p:spPr bwMode="auto">
          <a:xfrm>
            <a:off x="228600" y="304800"/>
            <a:ext cx="15763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sz="2400">
                <a:solidFill>
                  <a:srgbClr val="FFFFFF"/>
                </a:solidFill>
                <a:latin typeface="Times New Roman" panose="02020603050405020304" pitchFamily="18" charset="0"/>
                <a:cs typeface="Times New Roman" panose="02020603050405020304" pitchFamily="18" charset="0"/>
              </a:rPr>
              <a:t>Таблица 2.</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3600" b="1">
                <a:solidFill>
                  <a:srgbClr val="FFFFFF"/>
                </a:solidFill>
                <a:latin typeface="Times New Roman" panose="02020603050405020304" pitchFamily="18" charset="0"/>
                <a:cs typeface="Times New Roman" panose="02020603050405020304" pitchFamily="18" charset="0"/>
              </a:rPr>
              <a:t>Опыт № 3.</a:t>
            </a:r>
            <a:r>
              <a:rPr lang="ru-RU" altLang="ru-RU" sz="3600">
                <a:solidFill>
                  <a:srgbClr val="FFFFFF"/>
                </a:solidFill>
                <a:latin typeface="Times New Roman" panose="02020603050405020304" pitchFamily="18" charset="0"/>
                <a:cs typeface="Times New Roman" panose="02020603050405020304" pitchFamily="18" charset="0"/>
              </a:rPr>
              <a:t> </a:t>
            </a:r>
            <a:r>
              <a:rPr lang="ru-RU" altLang="ru-RU" sz="3600" b="1" i="1">
                <a:solidFill>
                  <a:srgbClr val="FFFFFF"/>
                </a:solidFill>
                <a:latin typeface="Times New Roman" panose="02020603050405020304" pitchFamily="18" charset="0"/>
                <a:cs typeface="Times New Roman" panose="02020603050405020304" pitchFamily="18" charset="0"/>
              </a:rPr>
              <a:t>Обнаружение в шоколаде углеводов.</a:t>
            </a:r>
          </a:p>
        </p:txBody>
      </p:sp>
      <p:sp>
        <p:nvSpPr>
          <p:cNvPr id="50179" name="Text Box 2"/>
          <p:cNvSpPr txBox="1">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ts val="700"/>
              </a:spcBef>
              <a:buClr>
                <a:srgbClr val="FFFFFF"/>
              </a:buClr>
              <a:buFont typeface="Wingdings" panose="05000000000000000000" pitchFamily="2" charset="2"/>
              <a:buChar char=""/>
            </a:pPr>
            <a:r>
              <a:rPr lang="ru-RU" altLang="ru-RU" sz="2800">
                <a:solidFill>
                  <a:srgbClr val="FFFFFF"/>
                </a:solidFill>
                <a:latin typeface="Times New Roman" panose="02020603050405020304" pitchFamily="18" charset="0"/>
                <a:cs typeface="Times New Roman" panose="02020603050405020304" pitchFamily="18" charset="0"/>
              </a:rPr>
              <a:t> В пробирку насыпаем шоколад и приливаем 2мл дистиллированной воды. Содержимое пробирки несколько раз встряхиваем и фильтруем.</a:t>
            </a:r>
          </a:p>
          <a:p>
            <a:pPr eaLnBrk="1" hangingPunct="1">
              <a:spcBef>
                <a:spcPts val="700"/>
              </a:spcBef>
              <a:buClr>
                <a:srgbClr val="FFFFFF"/>
              </a:buClr>
              <a:buFont typeface="Wingdings" panose="05000000000000000000" pitchFamily="2" charset="2"/>
              <a:buChar char=""/>
            </a:pPr>
            <a:r>
              <a:rPr lang="ru-RU" altLang="ru-RU" sz="2800">
                <a:solidFill>
                  <a:srgbClr val="FFFFFF"/>
                </a:solidFill>
                <a:latin typeface="Times New Roman" panose="02020603050405020304" pitchFamily="18" charset="0"/>
                <a:cs typeface="Times New Roman" panose="02020603050405020304" pitchFamily="18" charset="0"/>
              </a:rPr>
              <a:t>К фильтрату добавляем 1мл раствора гидроксида натрия </a:t>
            </a:r>
            <a:r>
              <a:rPr lang="en-US" altLang="ru-RU" sz="2800">
                <a:solidFill>
                  <a:srgbClr val="FFFFFF"/>
                </a:solidFill>
                <a:latin typeface="Times New Roman" panose="02020603050405020304" pitchFamily="18" charset="0"/>
                <a:cs typeface="Times New Roman" panose="02020603050405020304" pitchFamily="18" charset="0"/>
              </a:rPr>
              <a:t>NaOH</a:t>
            </a:r>
            <a:r>
              <a:rPr lang="ru-RU" altLang="ru-RU" sz="2800">
                <a:solidFill>
                  <a:srgbClr val="FFFFFF"/>
                </a:solidFill>
                <a:latin typeface="Times New Roman" panose="02020603050405020304" pitchFamily="18" charset="0"/>
                <a:cs typeface="Times New Roman" panose="02020603050405020304" pitchFamily="18" charset="0"/>
              </a:rPr>
              <a:t> и 2-3 капли 10% раствора </a:t>
            </a:r>
            <a:r>
              <a:rPr lang="en-US" altLang="ru-RU" sz="2800">
                <a:solidFill>
                  <a:srgbClr val="FFFFFF"/>
                </a:solidFill>
                <a:latin typeface="Times New Roman" panose="02020603050405020304" pitchFamily="18" charset="0"/>
                <a:cs typeface="Times New Roman" panose="02020603050405020304" pitchFamily="18" charset="0"/>
              </a:rPr>
              <a:t>CuSO</a:t>
            </a:r>
            <a:r>
              <a:rPr lang="ru-RU" altLang="ru-RU" sz="2800" baseline="-25000">
                <a:solidFill>
                  <a:srgbClr val="FFFFFF"/>
                </a:solidFill>
                <a:latin typeface="Times New Roman" panose="02020603050405020304" pitchFamily="18" charset="0"/>
                <a:cs typeface="Times New Roman" panose="02020603050405020304" pitchFamily="18" charset="0"/>
              </a:rPr>
              <a:t>4</a:t>
            </a:r>
            <a:r>
              <a:rPr lang="ru-RU" altLang="ru-RU" sz="2800">
                <a:solidFill>
                  <a:srgbClr val="FFFFFF"/>
                </a:solidFill>
                <a:latin typeface="Times New Roman" panose="02020603050405020304" pitchFamily="18" charset="0"/>
                <a:cs typeface="Times New Roman" panose="02020603050405020304" pitchFamily="18" charset="0"/>
              </a:rPr>
              <a:t>, пробирку интенсивно встряхиваем. Появляется ярко-синее окрашивание. Такую реакцию даёт сахароза, представляющая собой многоатомный спирт.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
          <p:cNvSpPr txBox="1">
            <a:spLocks noChangeArrowheads="1"/>
          </p:cNvSpPr>
          <p:nvPr/>
        </p:nvSpPr>
        <p:spPr bwMode="auto">
          <a:xfrm>
            <a:off x="457200" y="228600"/>
            <a:ext cx="8229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2800" b="1" u="sng">
                <a:solidFill>
                  <a:srgbClr val="FFFFFF"/>
                </a:solidFill>
                <a:latin typeface="Times New Roman" panose="02020603050405020304" pitchFamily="18" charset="0"/>
                <a:cs typeface="Times New Roman" panose="02020603050405020304" pitchFamily="18" charset="0"/>
              </a:rPr>
              <a:t>Вывод:</a:t>
            </a:r>
            <a:r>
              <a:rPr lang="ru-RU" altLang="ru-RU" sz="2800" b="1">
                <a:solidFill>
                  <a:srgbClr val="FFFFFF"/>
                </a:solidFill>
                <a:latin typeface="Times New Roman" panose="02020603050405020304" pitchFamily="18" charset="0"/>
                <a:cs typeface="Times New Roman" panose="02020603050405020304" pitchFamily="18" charset="0"/>
              </a:rPr>
              <a:t> </a:t>
            </a:r>
            <a:r>
              <a:rPr lang="ru-RU" altLang="ru-RU" sz="2800">
                <a:solidFill>
                  <a:srgbClr val="FFFFFF"/>
                </a:solidFill>
                <a:latin typeface="Times New Roman" panose="02020603050405020304" pitchFamily="18" charset="0"/>
                <a:cs typeface="Times New Roman" panose="02020603050405020304" pitchFamily="18" charset="0"/>
              </a:rPr>
              <a:t>Самое яркое окрашивание дал белый шоколад, в связи с пониженным содержанием какао-бобов и большим количеством сахаров. Таким образом, больше всего сахарозы в белом «Воздушном», а меньше всего в темном «Бабаевском». </a:t>
            </a:r>
          </a:p>
          <a:p>
            <a:pPr eaLnBrk="1" hangingPunct="1">
              <a:buClrTx/>
              <a:buFontTx/>
              <a:buNone/>
            </a:pPr>
            <a:endParaRPr lang="ru-RU" altLang="ru-RU">
              <a:solidFill>
                <a:srgbClr val="FFFFFF"/>
              </a:solidFill>
              <a:latin typeface="Times New Roman" panose="02020603050405020304" pitchFamily="18" charset="0"/>
              <a:cs typeface="Times New Roman" panose="02020603050405020304" pitchFamily="18" charset="0"/>
            </a:endParaRPr>
          </a:p>
          <a:p>
            <a:pPr eaLnBrk="1" hangingPunct="1">
              <a:buClrTx/>
              <a:buFontTx/>
              <a:buNone/>
            </a:pPr>
            <a:endParaRPr lang="ru-RU" altLang="ru-RU">
              <a:solidFill>
                <a:srgbClr val="FFFFFF"/>
              </a:solidFill>
              <a:latin typeface="Times New Roman" panose="02020603050405020304" pitchFamily="18" charset="0"/>
              <a:cs typeface="Times New Roman" panose="02020603050405020304" pitchFamily="18" charset="0"/>
            </a:endParaRPr>
          </a:p>
        </p:txBody>
      </p:sp>
      <p:sp>
        <p:nvSpPr>
          <p:cNvPr id="52227" name="TextBox 3"/>
          <p:cNvSpPr txBox="1">
            <a:spLocks noChangeArrowheads="1"/>
          </p:cNvSpPr>
          <p:nvPr/>
        </p:nvSpPr>
        <p:spPr bwMode="auto">
          <a:xfrm>
            <a:off x="2987675" y="4005263"/>
            <a:ext cx="3438525"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ru-RU" altLang="ru-RU" sz="8800"/>
              <a:t>ФОТО</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b="1">
                <a:solidFill>
                  <a:srgbClr val="FFFFFF"/>
                </a:solidFill>
                <a:latin typeface="Times New Roman" panose="02020603050405020304" pitchFamily="18" charset="0"/>
                <a:cs typeface="Times New Roman" panose="02020603050405020304" pitchFamily="18" charset="0"/>
              </a:rPr>
              <a:t>Опыт № 4.</a:t>
            </a:r>
            <a:r>
              <a:rPr lang="ru-RU" altLang="ru-RU">
                <a:solidFill>
                  <a:srgbClr val="FFFFFF"/>
                </a:solidFill>
                <a:latin typeface="Times New Roman" panose="02020603050405020304" pitchFamily="18" charset="0"/>
                <a:cs typeface="Times New Roman" panose="02020603050405020304" pitchFamily="18" charset="0"/>
              </a:rPr>
              <a:t> </a:t>
            </a:r>
            <a:r>
              <a:rPr lang="ru-RU" altLang="ru-RU" b="1" i="1">
                <a:solidFill>
                  <a:srgbClr val="FFFFFF"/>
                </a:solidFill>
                <a:latin typeface="Times New Roman" panose="02020603050405020304" pitchFamily="18" charset="0"/>
                <a:cs typeface="Times New Roman" panose="02020603050405020304" pitchFamily="18" charset="0"/>
              </a:rPr>
              <a:t>Обнаружение в шоколаде белков (ксантопротеиновая реакция).</a:t>
            </a:r>
          </a:p>
        </p:txBody>
      </p:sp>
      <p:sp>
        <p:nvSpPr>
          <p:cNvPr id="54275" name="Text Box 2"/>
          <p:cNvSpPr txBox="1">
            <a:spLocks noChangeArrowheads="1"/>
          </p:cNvSpPr>
          <p:nvPr/>
        </p:nvSpPr>
        <p:spPr bwMode="auto">
          <a:xfrm>
            <a:off x="228600" y="1600200"/>
            <a:ext cx="8915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sz="2800">
                <a:solidFill>
                  <a:srgbClr val="FFFFFF"/>
                </a:solidFill>
                <a:latin typeface="Times New Roman" panose="02020603050405020304" pitchFamily="18" charset="0"/>
                <a:cs typeface="Times New Roman" panose="02020603050405020304" pitchFamily="18" charset="0"/>
              </a:rPr>
              <a:t>   Насыпаем в пробирку тёртый шоколад (примерно 1 см по высоте) и приливаем 2 мл дистиллированной воды. Хорошо встряхиваем содержимое пробирки несколько раз и фильтруют. К 1 мл полученного фильтрата приливаем 0,5 мл концентрированной азотной кислоты </a:t>
            </a:r>
            <a:r>
              <a:rPr lang="en-US" altLang="ru-RU" sz="2800">
                <a:solidFill>
                  <a:srgbClr val="FFFFFF"/>
                </a:solidFill>
                <a:latin typeface="Times New Roman" panose="02020603050405020304" pitchFamily="18" charset="0"/>
                <a:cs typeface="Times New Roman" panose="02020603050405020304" pitchFamily="18" charset="0"/>
              </a:rPr>
              <a:t>HNO</a:t>
            </a:r>
            <a:r>
              <a:rPr lang="ru-RU" altLang="ru-RU" sz="2800" baseline="-25000">
                <a:solidFill>
                  <a:srgbClr val="FFFFFF"/>
                </a:solidFill>
                <a:latin typeface="Times New Roman" panose="02020603050405020304" pitchFamily="18" charset="0"/>
                <a:cs typeface="Times New Roman" panose="02020603050405020304" pitchFamily="18" charset="0"/>
              </a:rPr>
              <a:t>3</a:t>
            </a:r>
            <a:r>
              <a:rPr lang="ru-RU" altLang="ru-RU" sz="2800">
                <a:solidFill>
                  <a:srgbClr val="FFFFFF"/>
                </a:solidFill>
                <a:latin typeface="Times New Roman" panose="02020603050405020304" pitchFamily="18" charset="0"/>
                <a:cs typeface="Times New Roman" panose="02020603050405020304" pitchFamily="18" charset="0"/>
              </a:rPr>
              <a:t> и нагреваем полученную смесь. Наблюдаем жёлтое окрашивание, переходящее в оранжево-жёлтое при добавлении 25% водного раствора аммиака. Такую реакцию дают остатки ароматических аминокислот, входящих в состав белков шоколада.</a:t>
            </a:r>
          </a:p>
          <a:p>
            <a:pPr eaLnBrk="1" hangingPunct="1">
              <a:spcBef>
                <a:spcPts val="700"/>
              </a:spcBef>
              <a:buClr>
                <a:srgbClr val="FFFFFF"/>
              </a:buClr>
            </a:pPr>
            <a:endParaRPr lang="ru-RU" altLang="ru-RU" sz="280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1"/>
          <p:cNvSpPr txBox="1">
            <a:spLocks noChangeArrowheads="1"/>
          </p:cNvSpPr>
          <p:nvPr/>
        </p:nvSpPr>
        <p:spPr bwMode="auto">
          <a:xfrm>
            <a:off x="381000" y="533400"/>
            <a:ext cx="3657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b="1" u="sng">
                <a:solidFill>
                  <a:srgbClr val="FFFFFF"/>
                </a:solidFill>
                <a:latin typeface="Times New Roman" panose="02020603050405020304" pitchFamily="18" charset="0"/>
                <a:cs typeface="Times New Roman" panose="02020603050405020304" pitchFamily="18" charset="0"/>
              </a:rPr>
              <a:t>Вывод</a:t>
            </a:r>
            <a:r>
              <a:rPr lang="ru-RU" altLang="ru-RU" i="1" u="sng">
                <a:solidFill>
                  <a:srgbClr val="FFFFFF"/>
                </a:solidFill>
                <a:latin typeface="Times New Roman" panose="02020603050405020304" pitchFamily="18" charset="0"/>
                <a:cs typeface="Times New Roman" panose="02020603050405020304" pitchFamily="18" charset="0"/>
              </a:rPr>
              <a:t>:</a:t>
            </a:r>
            <a:r>
              <a:rPr lang="ru-RU" altLang="ru-RU" i="1">
                <a:solidFill>
                  <a:srgbClr val="FFFFFF"/>
                </a:solidFill>
                <a:latin typeface="Times New Roman" panose="02020603050405020304" pitchFamily="18" charset="0"/>
                <a:cs typeface="Times New Roman" panose="02020603050405020304" pitchFamily="18" charset="0"/>
              </a:rPr>
              <a:t> </a:t>
            </a:r>
          </a:p>
          <a:p>
            <a:pPr algn="ctr" eaLnBrk="1" hangingPunct="1">
              <a:spcBef>
                <a:spcPct val="0"/>
              </a:spcBef>
              <a:buClrTx/>
              <a:buFontTx/>
              <a:buNone/>
            </a:pPr>
            <a:endParaRPr lang="ru-RU" altLang="ru-RU" i="1">
              <a:solidFill>
                <a:srgbClr val="FFFFFF"/>
              </a:solidFill>
              <a:latin typeface="Times New Roman" panose="02020603050405020304" pitchFamily="18" charset="0"/>
              <a:cs typeface="Times New Roman" panose="02020603050405020304" pitchFamily="18" charset="0"/>
            </a:endParaRPr>
          </a:p>
          <a:p>
            <a:pPr algn="ct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Во всех образцах присутствуют белки. Больше всего в темном шоколаде «Бабаевский», а меньше – в белом «Воздушном».</a:t>
            </a:r>
          </a:p>
          <a:p>
            <a:pPr eaLnBrk="1" hangingPunct="1">
              <a:buClrTx/>
              <a:buFontTx/>
              <a:buNone/>
            </a:pPr>
            <a:endParaRPr lang="ru-RU" altLang="ru-RU">
              <a:solidFill>
                <a:srgbClr val="FFFFFF"/>
              </a:solidFill>
              <a:latin typeface="Times New Roman" panose="02020603050405020304" pitchFamily="18" charset="0"/>
              <a:cs typeface="Times New Roman" panose="02020603050405020304" pitchFamily="18" charset="0"/>
            </a:endParaRPr>
          </a:p>
        </p:txBody>
      </p:sp>
      <p:sp>
        <p:nvSpPr>
          <p:cNvPr id="56323" name="TextBox 3"/>
          <p:cNvSpPr txBox="1">
            <a:spLocks noChangeArrowheads="1"/>
          </p:cNvSpPr>
          <p:nvPr/>
        </p:nvSpPr>
        <p:spPr bwMode="auto">
          <a:xfrm>
            <a:off x="4500563" y="2492375"/>
            <a:ext cx="39592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ru-RU" altLang="ru-RU" sz="8000"/>
              <a:t>ФОТО</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400">
                <a:solidFill>
                  <a:srgbClr val="FFFFFF"/>
                </a:solidFill>
                <a:latin typeface="Times New Roman" panose="02020603050405020304" pitchFamily="18" charset="0"/>
                <a:cs typeface="Times New Roman" panose="02020603050405020304" pitchFamily="18" charset="0"/>
              </a:rPr>
              <a:t>Выводы о проделанной работе</a:t>
            </a:r>
            <a:r>
              <a:rPr lang="ru-RU" altLang="ru-RU" sz="4400">
                <a:solidFill>
                  <a:srgbClr val="FFFFFF"/>
                </a:solidFill>
              </a:rPr>
              <a:t>:</a:t>
            </a:r>
          </a:p>
        </p:txBody>
      </p:sp>
      <p:sp>
        <p:nvSpPr>
          <p:cNvPr id="58371" name="Text Box 2"/>
          <p:cNvSpPr txBox="1">
            <a:spLocks noChangeArrowheads="1"/>
          </p:cNvSpPr>
          <p:nvPr/>
        </p:nvSpPr>
        <p:spPr bwMode="auto">
          <a:xfrm>
            <a:off x="457200" y="1447800"/>
            <a:ext cx="82296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8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569913" algn="l"/>
                <a:tab pos="1484313" algn="l"/>
                <a:tab pos="2398713" algn="l"/>
                <a:tab pos="3313113" algn="l"/>
                <a:tab pos="4227513" algn="l"/>
                <a:tab pos="5141913" algn="l"/>
                <a:tab pos="6056313" algn="l"/>
                <a:tab pos="6970713" algn="l"/>
                <a:tab pos="7885113" algn="l"/>
                <a:tab pos="8799513" algn="l"/>
                <a:tab pos="9713913"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  В начале нашей работы были поставлены задачи изучить информацию о шоколаде, провести исследования и сравнить результаты экспериментов и полученной информации.</a:t>
            </a:r>
          </a:p>
          <a:p>
            <a:pPr eaLnBrk="1" hangingPunct="1">
              <a:spcBef>
                <a:spcPct val="0"/>
              </a:spcBef>
              <a:buClrTx/>
              <a:buFontTx/>
              <a:buNone/>
            </a:pPr>
            <a:r>
              <a:rPr lang="ru-RU" altLang="ru-RU">
                <a:solidFill>
                  <a:srgbClr val="FFFFFF"/>
                </a:solidFill>
                <a:latin typeface="Times New Roman" panose="02020603050405020304" pitchFamily="18" charset="0"/>
                <a:cs typeface="Times New Roman" panose="02020603050405020304" pitchFamily="18" charset="0"/>
              </a:rPr>
              <a:t>  В качестве объектов исследования мы использовали три вида шоколада: молочный шоколад «Аленка», белый шоколад «Воздушный», темный шоколад «Бабаевский».</a:t>
            </a:r>
          </a:p>
          <a:p>
            <a:pPr>
              <a:buClr>
                <a:srgbClr val="FFFFFF"/>
              </a:buClr>
            </a:pPr>
            <a:endParaRPr lang="ru-RU" altLang="ru-RU">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400">
                <a:solidFill>
                  <a:srgbClr val="FFFFFF"/>
                </a:solidFill>
                <a:latin typeface="Times New Roman" panose="02020603050405020304" pitchFamily="18" charset="0"/>
                <a:cs typeface="Times New Roman" panose="02020603050405020304" pitchFamily="18" charset="0"/>
              </a:rPr>
              <a:t>Выводы о проделанной работе</a:t>
            </a:r>
            <a:r>
              <a:rPr lang="ru-RU" altLang="ru-RU" sz="4400">
                <a:solidFill>
                  <a:srgbClr val="FFFFFF"/>
                </a:solidFill>
              </a:rPr>
              <a:t>:</a:t>
            </a:r>
          </a:p>
        </p:txBody>
      </p:sp>
      <p:sp>
        <p:nvSpPr>
          <p:cNvPr id="60419" name="Text Box 2"/>
          <p:cNvSpPr txBox="1">
            <a:spLocks noChangeArrowheads="1"/>
          </p:cNvSpPr>
          <p:nvPr/>
        </p:nvSpPr>
        <p:spPr bwMode="auto">
          <a:xfrm>
            <a:off x="381000" y="1600200"/>
            <a:ext cx="8534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algn="ctr" eaLnBrk="1" hangingPunct="1">
              <a:buClrTx/>
              <a:buFontTx/>
              <a:buNone/>
            </a:pPr>
            <a:r>
              <a:rPr lang="ru-RU" altLang="ru-RU" b="1">
                <a:solidFill>
                  <a:srgbClr val="FFFFFF"/>
                </a:solidFill>
                <a:latin typeface="Times New Roman" panose="02020603050405020304" pitchFamily="18" charset="0"/>
                <a:cs typeface="Times New Roman" panose="02020603050405020304" pitchFamily="18" charset="0"/>
              </a:rPr>
              <a:t>Было обнаружено повышенное содержание сахарозы в белом «Воздушном» шоколаде.</a:t>
            </a:r>
          </a:p>
          <a:p>
            <a:pPr algn="ctr" eaLnBrk="1" hangingPunct="1">
              <a:buClrTx/>
              <a:buFontTx/>
              <a:buNone/>
            </a:pPr>
            <a:r>
              <a:rPr lang="ru-RU" altLang="ru-RU">
                <a:solidFill>
                  <a:srgbClr val="FFFFFF"/>
                </a:solidFill>
                <a:latin typeface="Times New Roman" panose="02020603050405020304" pitchFamily="18" charset="0"/>
                <a:cs typeface="Times New Roman" panose="02020603050405020304" pitchFamily="18" charset="0"/>
              </a:rPr>
              <a:t>Таким образом, можно убедиться на опытах, что компоненты, входящие в состав данного шоколада, резко повышают уровень глюкозы в крови, что в свою очередь усложняет работу щитовидной железы и влияет на появление лишнего веса.</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1"/>
          <p:cNvSpPr txBox="1">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9pPr>
          </a:lstStyle>
          <a:p>
            <a:pPr algn="just" eaLnBrk="1" hangingPunct="1">
              <a:spcBef>
                <a:spcPts val="600"/>
              </a:spcBef>
              <a:buClr>
                <a:srgbClr val="FFFFFF"/>
              </a:buClr>
              <a:buFont typeface="Wingdings" panose="05000000000000000000" pitchFamily="2" charset="2"/>
              <a:buChar char=""/>
            </a:pPr>
            <a:r>
              <a:rPr lang="ru-RU" altLang="ru-RU" sz="2400">
                <a:solidFill>
                  <a:srgbClr val="FFFFFF"/>
                </a:solidFill>
                <a:latin typeface="Times New Roman" panose="02020603050405020304" pitchFamily="18" charset="0"/>
                <a:cs typeface="Times New Roman" panose="02020603050405020304" pitchFamily="18" charset="0"/>
              </a:rPr>
              <a:t>Теперь можно с уверенностью сказать, что наиболее полезным видом шоколада для человеческого здоровья и фигуры является горький шоколад, содержание какао-бобов в котором наибольшее.</a:t>
            </a:r>
          </a:p>
          <a:p>
            <a:pPr algn="just" eaLnBrk="1" hangingPunct="1">
              <a:spcBef>
                <a:spcPts val="600"/>
              </a:spcBef>
              <a:buClr>
                <a:srgbClr val="FFFFFF"/>
              </a:buClr>
              <a:buFont typeface="Wingdings" panose="05000000000000000000" pitchFamily="2" charset="2"/>
              <a:buNone/>
            </a:pPr>
            <a:endParaRPr lang="ru-RU" altLang="ru-RU" sz="2400">
              <a:solidFill>
                <a:srgbClr val="FFFFFF"/>
              </a:solidFill>
              <a:latin typeface="Times New Roman" panose="02020603050405020304" pitchFamily="18" charset="0"/>
              <a:cs typeface="Times New Roman" panose="02020603050405020304" pitchFamily="18" charset="0"/>
            </a:endParaRPr>
          </a:p>
          <a:p>
            <a:pPr algn="just" eaLnBrk="1" hangingPunct="1">
              <a:spcBef>
                <a:spcPts val="600"/>
              </a:spcBef>
              <a:buClr>
                <a:srgbClr val="FFFFFF"/>
              </a:buClr>
              <a:buFont typeface="Wingdings" panose="05000000000000000000" pitchFamily="2" charset="2"/>
              <a:buChar char=""/>
            </a:pPr>
            <a:r>
              <a:rPr lang="ru-RU" altLang="ru-RU" sz="2400">
                <a:solidFill>
                  <a:srgbClr val="FFFFFF"/>
                </a:solidFill>
                <a:latin typeface="Times New Roman" panose="02020603050405020304" pitchFamily="18" charset="0"/>
                <a:cs typeface="Times New Roman" panose="02020603050405020304" pitchFamily="18" charset="0"/>
              </a:rPr>
              <a:t>По медицинским показателям, идеальное количество этого лакомства – 20 г в сутки, с содержанием какао не менее 70%.</a:t>
            </a:r>
          </a:p>
          <a:p>
            <a:pPr algn="just" eaLnBrk="1" hangingPunct="1">
              <a:spcBef>
                <a:spcPts val="600"/>
              </a:spcBef>
              <a:buClr>
                <a:srgbClr val="FFFFFF"/>
              </a:buClr>
              <a:buFont typeface="Wingdings" panose="05000000000000000000" pitchFamily="2" charset="2"/>
              <a:buNone/>
            </a:pPr>
            <a:endParaRPr lang="ru-RU" altLang="ru-RU" sz="2400">
              <a:solidFill>
                <a:srgbClr val="FFFFFF"/>
              </a:solidFill>
              <a:latin typeface="Times New Roman" panose="02020603050405020304" pitchFamily="18" charset="0"/>
              <a:cs typeface="Times New Roman" panose="02020603050405020304" pitchFamily="18" charset="0"/>
            </a:endParaRPr>
          </a:p>
          <a:p>
            <a:pPr algn="just" eaLnBrk="1" hangingPunct="1">
              <a:spcBef>
                <a:spcPts val="600"/>
              </a:spcBef>
              <a:buClr>
                <a:srgbClr val="FFFFFF"/>
              </a:buClr>
              <a:buFont typeface="Wingdings" panose="05000000000000000000" pitchFamily="2" charset="2"/>
              <a:buChar char=""/>
            </a:pPr>
            <a:r>
              <a:rPr lang="ru-RU" altLang="ru-RU" sz="2400">
                <a:solidFill>
                  <a:srgbClr val="FFFFFF"/>
                </a:solidFill>
                <a:latin typeface="Times New Roman" panose="02020603050405020304" pitchFamily="18" charset="0"/>
                <a:cs typeface="Times New Roman" panose="02020603050405020304" pitchFamily="18" charset="0"/>
              </a:rPr>
              <a:t>Поэтому мы рекомендуем придерживаться этого количества продукта для сохранения своего здоровья и поддержания хорошего настроения! </a:t>
            </a:r>
          </a:p>
        </p:txBody>
      </p:sp>
      <p:sp>
        <p:nvSpPr>
          <p:cNvPr id="62467" name="Text Box 2"/>
          <p:cNvSpPr txBox="1">
            <a:spLocks noChangeArrowheads="1"/>
          </p:cNvSpPr>
          <p:nvPr/>
        </p:nvSpPr>
        <p:spPr bwMode="auto">
          <a:xfrm>
            <a:off x="609600" y="4270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400">
                <a:solidFill>
                  <a:srgbClr val="FFFFFF"/>
                </a:solidFill>
                <a:latin typeface="Times New Roman" panose="02020603050405020304" pitchFamily="18" charset="0"/>
                <a:cs typeface="Times New Roman" panose="02020603050405020304" pitchFamily="18" charset="0"/>
              </a:rPr>
              <a:t>Выводы о проделанной работе</a:t>
            </a:r>
            <a:r>
              <a:rPr lang="ru-RU" altLang="ru-RU" sz="4400">
                <a:solidFill>
                  <a:srgbClr val="FFFFFF"/>
                </a:solidFill>
              </a:rPr>
              <a: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400">
                <a:solidFill>
                  <a:srgbClr val="FFFFFF"/>
                </a:solidFill>
                <a:latin typeface="Times New Roman" panose="02020603050405020304" pitchFamily="18" charset="0"/>
                <a:cs typeface="Times New Roman" panose="02020603050405020304" pitchFamily="18" charset="0"/>
              </a:rPr>
              <a:t>Как выбрать качественный шоколад?</a:t>
            </a:r>
          </a:p>
        </p:txBody>
      </p:sp>
      <p:sp>
        <p:nvSpPr>
          <p:cNvPr id="64515" name="Text Box 2"/>
          <p:cNvSpPr txBox="1">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Arial" panose="020B0604020202020204" pitchFamily="34" charset="0"/>
              </a:defRPr>
            </a:lvl9pPr>
          </a:lstStyle>
          <a:p>
            <a:pPr algn="just" eaLnBrk="1" hangingPunct="1">
              <a:spcBef>
                <a:spcPts val="700"/>
              </a:spcBef>
              <a:buClr>
                <a:srgbClr val="FFFFFF"/>
              </a:buClr>
              <a:buFont typeface="Wingdings" panose="05000000000000000000" pitchFamily="2" charset="2"/>
              <a:buChar char=""/>
            </a:pPr>
            <a:r>
              <a:rPr lang="ru-RU" altLang="ru-RU" sz="2800" b="1" u="sng">
                <a:solidFill>
                  <a:srgbClr val="FFFFFF"/>
                </a:solidFill>
                <a:latin typeface="Times New Roman" panose="02020603050405020304" pitchFamily="18" charset="0"/>
                <a:cs typeface="Times New Roman" panose="02020603050405020304" pitchFamily="18" charset="0"/>
              </a:rPr>
              <a:t>Чем длиннее список ингредиентов. Тем менее полезно лакомство.</a:t>
            </a:r>
            <a:r>
              <a:rPr lang="ru-RU" altLang="ru-RU" sz="2800">
                <a:solidFill>
                  <a:srgbClr val="FFFFFF"/>
                </a:solidFill>
                <a:latin typeface="Times New Roman" panose="02020603050405020304" pitchFamily="18" charset="0"/>
                <a:cs typeface="Times New Roman" panose="02020603050405020304" pitchFamily="18" charset="0"/>
              </a:rPr>
              <a:t> Е476  (яичный лецитин), Е322 (соевый лецитин), ароматизатор идентичный натуральному (чаще всего ванилин) – в хорошем шоколаде их быть не должно!</a:t>
            </a:r>
          </a:p>
          <a:p>
            <a:pPr algn="just" eaLnBrk="1" hangingPunct="1">
              <a:spcBef>
                <a:spcPts val="700"/>
              </a:spcBef>
              <a:buClr>
                <a:srgbClr val="FFFFFF"/>
              </a:buClr>
              <a:buFont typeface="Wingdings" panose="05000000000000000000" pitchFamily="2" charset="2"/>
              <a:buChar char=""/>
            </a:pPr>
            <a:r>
              <a:rPr lang="ru-RU" altLang="ru-RU" sz="2800" b="1" u="sng">
                <a:solidFill>
                  <a:srgbClr val="FFFFFF"/>
                </a:solidFill>
                <a:latin typeface="Times New Roman" panose="02020603050405020304" pitchFamily="18" charset="0"/>
                <a:cs typeface="Times New Roman" panose="02020603050405020304" pitchFamily="18" charset="0"/>
              </a:rPr>
              <a:t>Качественный шоколад изготавливается по ГОСТ 6534 с весьма жесткими требованиями к составу продукта.</a:t>
            </a:r>
            <a:r>
              <a:rPr lang="ru-RU" altLang="ru-RU" sz="2800" b="1">
                <a:solidFill>
                  <a:srgbClr val="FFFFFF"/>
                </a:solidFill>
                <a:latin typeface="Times New Roman" panose="02020603050405020304" pitchFamily="18" charset="0"/>
                <a:cs typeface="Times New Roman" panose="02020603050405020304" pitchFamily="18" charset="0"/>
              </a:rPr>
              <a:t> </a:t>
            </a:r>
            <a:r>
              <a:rPr lang="ru-RU" altLang="ru-RU" sz="2800">
                <a:solidFill>
                  <a:srgbClr val="FFFFFF"/>
                </a:solidFill>
                <a:latin typeface="Times New Roman" panose="02020603050405020304" pitchFamily="18" charset="0"/>
                <a:cs typeface="Times New Roman" panose="02020603050405020304" pitchFamily="18" charset="0"/>
              </a:rPr>
              <a:t>Если вы видите, что ваше любимое лакомство произведено по ТУ, то это говорит о том, что производитель соблюдал не все стандарты настоящего качества.</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1"/>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400">
                <a:solidFill>
                  <a:srgbClr val="FFFFFF"/>
                </a:solidFill>
                <a:latin typeface="Times New Roman" panose="02020603050405020304" pitchFamily="18" charset="0"/>
                <a:cs typeface="Times New Roman" panose="02020603050405020304" pitchFamily="18" charset="0"/>
              </a:rPr>
              <a:t>Источники информации:</a:t>
            </a:r>
          </a:p>
        </p:txBody>
      </p:sp>
      <p:sp>
        <p:nvSpPr>
          <p:cNvPr id="66563" name="Text Box 2"/>
          <p:cNvSpPr txBox="1">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eaLnBrk="1" hangingPunct="1">
              <a:spcBef>
                <a:spcPts val="600"/>
              </a:spcBef>
              <a:buClrTx/>
              <a:buFontTx/>
              <a:buNone/>
            </a:pPr>
            <a:r>
              <a:rPr lang="ru-RU" altLang="ru-RU" sz="2400">
                <a:solidFill>
                  <a:srgbClr val="FFFFFF"/>
                </a:solidFill>
              </a:rPr>
              <a:t>1. </a:t>
            </a:r>
            <a:r>
              <a:rPr lang="ru-RU" altLang="ru-RU" sz="2400" u="sng">
                <a:solidFill>
                  <a:srgbClr val="FFFFFF"/>
                </a:solidFill>
              </a:rPr>
              <a:t>http://abrikosov-sons.ru/istoriya_shokolada</a:t>
            </a:r>
            <a:r>
              <a:rPr lang="ru-RU" altLang="ru-RU" sz="2400">
                <a:solidFill>
                  <a:srgbClr val="FFFFFF"/>
                </a:solidFill>
              </a:rPr>
              <a:t> </a:t>
            </a:r>
          </a:p>
          <a:p>
            <a:pPr eaLnBrk="1" hangingPunct="1">
              <a:spcBef>
                <a:spcPts val="600"/>
              </a:spcBef>
              <a:buClrTx/>
              <a:buFontTx/>
              <a:buNone/>
            </a:pPr>
            <a:r>
              <a:rPr lang="ru-RU" altLang="ru-RU" sz="2400">
                <a:solidFill>
                  <a:srgbClr val="FFFFFF"/>
                </a:solidFill>
              </a:rPr>
              <a:t>2. </a:t>
            </a:r>
            <a:r>
              <a:rPr lang="ru-RU" altLang="ru-RU" sz="2400" u="sng">
                <a:solidFill>
                  <a:srgbClr val="FFFFFF"/>
                </a:solidFill>
              </a:rPr>
              <a:t>http://f-journal.ru/istoriya-shokolada/</a:t>
            </a:r>
            <a:r>
              <a:rPr lang="ru-RU" altLang="ru-RU" sz="2400">
                <a:solidFill>
                  <a:srgbClr val="FFFFFF"/>
                </a:solidFill>
              </a:rPr>
              <a:t> </a:t>
            </a:r>
          </a:p>
          <a:p>
            <a:pPr eaLnBrk="1" hangingPunct="1">
              <a:spcBef>
                <a:spcPts val="600"/>
              </a:spcBef>
              <a:buClrTx/>
              <a:buFontTx/>
              <a:buNone/>
            </a:pPr>
            <a:r>
              <a:rPr lang="ru-RU" altLang="ru-RU" sz="2400">
                <a:solidFill>
                  <a:srgbClr val="FFFFFF"/>
                </a:solidFill>
              </a:rPr>
              <a:t>3. </a:t>
            </a:r>
            <a:r>
              <a:rPr lang="ru-RU" altLang="ru-RU" sz="2400" u="sng">
                <a:solidFill>
                  <a:srgbClr val="FFFFFF"/>
                </a:solidFill>
              </a:rPr>
              <a:t>http://chocolatery.net/choco_sorting/</a:t>
            </a:r>
            <a:r>
              <a:rPr lang="ru-RU" altLang="ru-RU" sz="2400">
                <a:solidFill>
                  <a:srgbClr val="FFFFFF"/>
                </a:solidFill>
              </a:rPr>
              <a:t> </a:t>
            </a:r>
          </a:p>
          <a:p>
            <a:pPr eaLnBrk="1" hangingPunct="1">
              <a:spcBef>
                <a:spcPts val="600"/>
              </a:spcBef>
              <a:buClrTx/>
              <a:buFontTx/>
              <a:buNone/>
            </a:pPr>
            <a:r>
              <a:rPr lang="ru-RU" altLang="ru-RU" sz="2400">
                <a:solidFill>
                  <a:srgbClr val="FFFFFF"/>
                </a:solidFill>
              </a:rPr>
              <a:t>4. </a:t>
            </a:r>
            <a:r>
              <a:rPr lang="ru-RU" altLang="ru-RU" sz="2400" u="sng">
                <a:solidFill>
                  <a:srgbClr val="FFFFFF"/>
                </a:solidFill>
              </a:rPr>
              <a:t>http://chocolatery.net/keep_choco/</a:t>
            </a:r>
            <a:r>
              <a:rPr lang="ru-RU" altLang="ru-RU" sz="2400">
                <a:solidFill>
                  <a:srgbClr val="FFFFFF"/>
                </a:solidFill>
              </a:rPr>
              <a:t> </a:t>
            </a:r>
          </a:p>
          <a:p>
            <a:pPr eaLnBrk="1" hangingPunct="1">
              <a:spcBef>
                <a:spcPts val="600"/>
              </a:spcBef>
              <a:buClrTx/>
              <a:buFontTx/>
              <a:buNone/>
            </a:pPr>
            <a:r>
              <a:rPr lang="ru-RU" altLang="ru-RU" sz="2400">
                <a:solidFill>
                  <a:srgbClr val="FFFFFF"/>
                </a:solidFill>
              </a:rPr>
              <a:t>5. </a:t>
            </a:r>
            <a:r>
              <a:rPr lang="ru-RU" altLang="ru-RU" sz="2400" u="sng">
                <a:solidFill>
                  <a:srgbClr val="FFFFFF"/>
                </a:solidFill>
              </a:rPr>
              <a:t>http://allchoco.com/interesnoe-o-shokolade/gost-shokolad.html </a:t>
            </a:r>
          </a:p>
          <a:p>
            <a:pPr eaLnBrk="1" hangingPunct="1">
              <a:spcBef>
                <a:spcPts val="600"/>
              </a:spcBef>
              <a:buClrTx/>
              <a:buFontTx/>
              <a:buNone/>
            </a:pPr>
            <a:r>
              <a:rPr lang="ru-RU" altLang="ru-RU" sz="2400" u="sng">
                <a:solidFill>
                  <a:srgbClr val="FFFFFF"/>
                </a:solidFill>
              </a:rPr>
              <a:t>6</a:t>
            </a:r>
            <a:r>
              <a:rPr lang="ru-RU" altLang="ru-RU" sz="2400">
                <a:solidFill>
                  <a:srgbClr val="FFFFFF"/>
                </a:solidFill>
              </a:rPr>
              <a:t>. </a:t>
            </a:r>
            <a:r>
              <a:rPr lang="ru-RU" altLang="ru-RU" sz="2400" u="sng">
                <a:solidFill>
                  <a:srgbClr val="FFFFFF"/>
                </a:solidFill>
              </a:rPr>
              <a:t>http://zdorovoe-pitanie.by/chto-my-edim/produkty/sladosti/sostav-shokolada.html</a:t>
            </a:r>
            <a:r>
              <a:rPr lang="ru-RU" altLang="ru-RU" sz="2400">
                <a:solidFill>
                  <a:srgbClr val="FFFFFF"/>
                </a:solidFill>
              </a:rPr>
              <a:t> </a:t>
            </a:r>
          </a:p>
          <a:p>
            <a:pPr eaLnBrk="1" hangingPunct="1">
              <a:spcBef>
                <a:spcPts val="600"/>
              </a:spcBef>
              <a:buClrTx/>
              <a:buFontTx/>
              <a:buNone/>
            </a:pPr>
            <a:r>
              <a:rPr lang="ru-RU" altLang="ru-RU" sz="2400">
                <a:solidFill>
                  <a:srgbClr val="FFFFFF"/>
                </a:solidFill>
              </a:rPr>
              <a:t>7. </a:t>
            </a:r>
            <a:r>
              <a:rPr lang="ru-RU" altLang="ru-RU" sz="2400" u="sng">
                <a:solidFill>
                  <a:srgbClr val="FFFFFF"/>
                </a:solidFill>
              </a:rPr>
              <a:t>http://www.sevchem.narod.ru/opyt.files/pischa.htm ﷒</a:t>
            </a:r>
          </a:p>
          <a:p>
            <a:pPr eaLnBrk="1" hangingPunct="1">
              <a:spcBef>
                <a:spcPts val="600"/>
              </a:spcBef>
              <a:buClrTx/>
              <a:buFontTx/>
              <a:buNone/>
            </a:pPr>
            <a:endParaRPr lang="ru-RU" altLang="ru-RU" sz="2400" u="sng">
              <a:solidFill>
                <a:srgbClr val="FFFFFF"/>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1"/>
          <p:cNvSpPr txBox="1">
            <a:spLocks noChangeArrowheads="1"/>
          </p:cNvSpPr>
          <p:nvPr/>
        </p:nvSpPr>
        <p:spPr bwMode="auto">
          <a:xfrm>
            <a:off x="457200" y="6858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ru-RU" altLang="ru-RU" sz="4800" b="1" i="1">
                <a:solidFill>
                  <a:srgbClr val="FFFFFF"/>
                </a:solidFill>
                <a:latin typeface="Times New Roman" panose="02020603050405020304" pitchFamily="18" charset="0"/>
                <a:cs typeface="Times New Roman" panose="02020603050405020304" pitchFamily="18" charset="0"/>
              </a:rPr>
              <a:t>Спасибо за внимание!</a:t>
            </a:r>
          </a:p>
        </p:txBody>
      </p:sp>
      <p:sp>
        <p:nvSpPr>
          <p:cNvPr id="68611" name="Text Box 2"/>
          <p:cNvSpPr txBox="1">
            <a:spLocks noChangeArrowheads="1"/>
          </p:cNvSpPr>
          <p:nvPr/>
        </p:nvSpPr>
        <p:spPr bwMode="auto">
          <a:xfrm>
            <a:off x="457200" y="2438400"/>
            <a:ext cx="8229600" cy="368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Arial" panose="020B0604020202020204" pitchFamily="34" charset="0"/>
              </a:defRPr>
            </a:lvl1pPr>
            <a:lvl2pPr>
              <a:spcBef>
                <a:spcPts val="7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Arial" panose="020B0604020202020204" pitchFamily="34" charset="0"/>
              </a:defRPr>
            </a:lvl2pPr>
            <a:lvl3pPr>
              <a:spcBef>
                <a:spcPts val="6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Arial" panose="020B0604020202020204" pitchFamily="34" charset="0"/>
              </a:defRPr>
            </a:lvl3pPr>
            <a:lvl4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4pPr>
            <a:lvl5pPr>
              <a:spcBef>
                <a:spcPts val="500"/>
              </a:spcBef>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Arial" panose="020B0604020202020204" pitchFamily="34" charset="0"/>
              </a:defRPr>
            </a:lvl9pPr>
          </a:lstStyle>
          <a:p>
            <a:pPr algn="ctr" eaLnBrk="1" hangingPunct="1">
              <a:spcBef>
                <a:spcPts val="1000"/>
              </a:spcBef>
              <a:buClrTx/>
              <a:buFontTx/>
              <a:buNone/>
            </a:pPr>
            <a:r>
              <a:rPr lang="ru-RU" altLang="ru-RU" sz="4000">
                <a:solidFill>
                  <a:srgbClr val="FFFFFF"/>
                </a:solidFill>
                <a:latin typeface="Times New Roman" panose="02020603050405020304" pitchFamily="18" charset="0"/>
                <a:cs typeface="Times New Roman" panose="02020603050405020304" pitchFamily="18" charset="0"/>
              </a:rPr>
              <a:t>Наслаждайтесь шоколадом.</a:t>
            </a:r>
          </a:p>
          <a:p>
            <a:pPr algn="ctr" eaLnBrk="1" hangingPunct="1">
              <a:spcBef>
                <a:spcPts val="1000"/>
              </a:spcBef>
              <a:buClrTx/>
              <a:buFontTx/>
              <a:buNone/>
            </a:pPr>
            <a:r>
              <a:rPr lang="ru-RU" altLang="ru-RU" sz="4000">
                <a:solidFill>
                  <a:srgbClr val="FFFFFF"/>
                </a:solidFill>
                <a:latin typeface="Times New Roman" panose="02020603050405020304" pitchFamily="18" charset="0"/>
                <a:cs typeface="Times New Roman" panose="02020603050405020304" pitchFamily="18" charset="0"/>
              </a:rPr>
              <a:t>Заряжайтесь позитивом и …</a:t>
            </a:r>
          </a:p>
          <a:p>
            <a:pPr algn="ctr" eaLnBrk="1" hangingPunct="1">
              <a:spcBef>
                <a:spcPts val="1000"/>
              </a:spcBef>
              <a:buClrTx/>
              <a:buFontTx/>
              <a:buNone/>
            </a:pPr>
            <a:r>
              <a:rPr lang="ru-RU" altLang="ru-RU" sz="4000">
                <a:solidFill>
                  <a:srgbClr val="FFFFFF"/>
                </a:solidFill>
                <a:latin typeface="Times New Roman" panose="02020603050405020304" pitchFamily="18" charset="0"/>
                <a:cs typeface="Times New Roman" panose="02020603050405020304" pitchFamily="18" charset="0"/>
              </a:rPr>
              <a:t>Будьте счастливы!</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Тема Office">
  <a:themeElements>
    <a:clrScheme name="Тема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Тема Office">
      <a:majorFont>
        <a:latin typeface="Arial"/>
        <a:ea typeface=""/>
        <a:cs typeface="Arial"/>
      </a:majorFont>
      <a:minorFont>
        <a:latin typeface="Arial"/>
        <a:ea typeface=""/>
        <a:cs typeface="Arial"/>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Тема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Тема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Тема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Тема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Тема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Тема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Тема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TotalTime>
  <Words>1247</Words>
  <Application>Microsoft Office PowerPoint</Application>
  <PresentationFormat>Экран (4:3)</PresentationFormat>
  <Paragraphs>145</Paragraphs>
  <Slides>33</Slides>
  <Notes>33</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33</vt:i4>
      </vt:variant>
    </vt:vector>
  </HeadingPairs>
  <TitlesOfParts>
    <vt:vector size="37" baseType="lpstr">
      <vt:lpstr>Arial</vt:lpstr>
      <vt:lpstr>Times New Roman</vt:lpstr>
      <vt:lpstr>Wingdings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Alexandr</dc:creator>
  <cp:lastModifiedBy>Дима</cp:lastModifiedBy>
  <cp:revision>64</cp:revision>
  <cp:lastPrinted>1601-01-01T00:00:00Z</cp:lastPrinted>
  <dcterms:created xsi:type="dcterms:W3CDTF">2017-02-01T18:29:42Z</dcterms:created>
  <dcterms:modified xsi:type="dcterms:W3CDTF">2022-03-07T09:06:07Z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
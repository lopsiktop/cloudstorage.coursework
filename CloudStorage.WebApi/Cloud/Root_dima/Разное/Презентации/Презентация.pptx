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sldIdLst>
    <p:sldId id="256" r:id="rId2"/>
    <p:sldId id="257" r:id="rId3"/>
    <p:sldId id="258" r:id="rId4"/>
    <p:sldId id="259" r:id="rId5"/>
    <p:sldId id="260" r:id="rId6"/>
    <p:sldId id="261" r:id="rId7"/>
    <p:sldId id="262" r:id="rId8"/>
    <p:sldId id="263" r:id="rId9"/>
    <p:sldId id="265" r:id="rId10"/>
    <p:sldId id="269" r:id="rId11"/>
    <p:sldId id="266" r:id="rId12"/>
    <p:sldId id="267" r:id="rId13"/>
    <p:sldId id="268" r:id="rId14"/>
    <p:sldId id="270" r:id="rId15"/>
    <p:sldId id="271" r:id="rId16"/>
    <p:sldId id="272" r:id="rId17"/>
    <p:sldId id="273" r:id="rId18"/>
    <p:sldId id="274" r:id="rId19"/>
    <p:sldId id="275" r:id="rId20"/>
    <p:sldId id="26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636"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ru-RU"/>
              <a:t>Образец заголовка</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017355F1-C457-45EA-83EB-993558DBEE15}" type="datetimeFigureOut">
              <a:rPr lang="ru-RU" smtClean="0"/>
              <a:t>16.02.2023</a:t>
            </a:fld>
            <a:endParaRPr lang="ru-RU"/>
          </a:p>
        </p:txBody>
      </p:sp>
      <p:sp>
        <p:nvSpPr>
          <p:cNvPr id="5" name="Footer Placeholder 4"/>
          <p:cNvSpPr>
            <a:spLocks noGrp="1"/>
          </p:cNvSpPr>
          <p:nvPr>
            <p:ph type="ftr" sz="quarter" idx="11"/>
          </p:nvPr>
        </p:nvSpPr>
        <p:spPr>
          <a:xfrm>
            <a:off x="3962399" y="5870575"/>
            <a:ext cx="4893958" cy="377825"/>
          </a:xfrm>
        </p:spPr>
        <p:txBody>
          <a:bodyPr/>
          <a:lstStyle/>
          <a:p>
            <a:endParaRPr lang="ru-RU"/>
          </a:p>
        </p:txBody>
      </p:sp>
      <p:sp>
        <p:nvSpPr>
          <p:cNvPr id="6" name="Slide Number Placeholder 5"/>
          <p:cNvSpPr>
            <a:spLocks noGrp="1"/>
          </p:cNvSpPr>
          <p:nvPr>
            <p:ph type="sldNum" sz="quarter" idx="12"/>
          </p:nvPr>
        </p:nvSpPr>
        <p:spPr>
          <a:xfrm>
            <a:off x="10608958" y="5870575"/>
            <a:ext cx="551167" cy="377825"/>
          </a:xfrm>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210974487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17355F1-C457-45EA-83EB-993558DBEE15}" type="datetimeFigureOut">
              <a:rPr lang="ru-RU" smtClean="0"/>
              <a:t>16.02.2023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1797219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ru-RU"/>
              <a:t>Образец заголовка</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017355F1-C457-45EA-83EB-993558DBEE15}" type="datetimeFigureOut">
              <a:rPr lang="ru-RU" smtClean="0"/>
              <a:t>16.02.2023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208206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017355F1-C457-45EA-83EB-993558DBEE15}" type="datetimeFigureOut">
              <a:rPr lang="ru-RU" smtClean="0"/>
              <a:t>16.02.2023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830014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017355F1-C457-45EA-83EB-993558DBEE15}" type="datetimeFigureOut">
              <a:rPr lang="ru-RU" smtClean="0"/>
              <a:t>16.02.2023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3497764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017355F1-C457-45EA-83EB-993558DBEE15}" type="datetimeFigureOut">
              <a:rPr lang="ru-RU" smtClean="0"/>
              <a:t>16.02.2023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2546643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17355F1-C457-45EA-83EB-993558DBEE15}" type="datetimeFigureOut">
              <a:rPr lang="ru-RU" smtClean="0"/>
              <a:t>16.02.2023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2930226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ru-RU"/>
              <a:t>Образец заголовка</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017355F1-C457-45EA-83EB-993558DBEE15}" type="datetimeFigureOut">
              <a:rPr lang="ru-RU" smtClean="0"/>
              <a:t>16.02.2023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961332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ru-RU"/>
              <a:t>Образец заголовка</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017355F1-C457-45EA-83EB-993558DBEE15}" type="datetimeFigureOut">
              <a:rPr lang="ru-RU" smtClean="0"/>
              <a:t>16.02.2023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2999784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017355F1-C457-45EA-83EB-993558DBEE15}" type="datetimeFigureOut">
              <a:rPr lang="ru-RU" smtClean="0"/>
              <a:t>16.02.2023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2748472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ru-RU"/>
              <a:t>Образец заголовка</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017355F1-C457-45EA-83EB-993558DBEE15}" type="datetimeFigureOut">
              <a:rPr lang="ru-RU" smtClean="0"/>
              <a:t>16.02.2023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1617724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ru-RU"/>
              <a:t>Образец заголовка</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017355F1-C457-45EA-83EB-993558DBEE15}" type="datetimeFigureOut">
              <a:rPr lang="ru-RU" smtClean="0"/>
              <a:t>16.02.2023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30134071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ru-RU"/>
              <a:t>Образец заголовка</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017355F1-C457-45EA-83EB-993558DBEE15}" type="datetimeFigureOut">
              <a:rPr lang="ru-RU" smtClean="0"/>
              <a:t>16.02.2023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21453374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ru-RU"/>
              <a:t>Образец заголовка</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ru-RU"/>
              <a:t>Образец текста</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017355F1-C457-45EA-83EB-993558DBEE15}" type="datetimeFigureOut">
              <a:rPr lang="ru-RU" smtClean="0"/>
              <a:t>16.02.2023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1184405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ru-RU"/>
              <a:t>Образец заголовка</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ru-RU"/>
              <a:t>Образец текста</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017355F1-C457-45EA-83EB-993558DBEE15}" type="datetimeFigureOut">
              <a:rPr lang="ru-RU" smtClean="0"/>
              <a:t>16.02.2023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1109862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17355F1-C457-45EA-83EB-993558DBEE15}" type="datetimeFigureOut">
              <a:rPr lang="ru-RU" smtClean="0"/>
              <a:t>16.02.2023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14992095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17355F1-C457-45EA-83EB-993558DBEE15}" type="datetimeFigureOut">
              <a:rPr lang="ru-RU" smtClean="0"/>
              <a:t>16.02.2023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6A82967-46F5-4818-A050-76ECED032B8C}" type="slidenum">
              <a:rPr lang="ru-RU" smtClean="0"/>
              <a:t>‹#›</a:t>
            </a:fld>
            <a:endParaRPr lang="ru-RU"/>
          </a:p>
        </p:txBody>
      </p:sp>
    </p:spTree>
    <p:extLst>
      <p:ext uri="{BB962C8B-B14F-4D97-AF65-F5344CB8AC3E}">
        <p14:creationId xmlns:p14="http://schemas.microsoft.com/office/powerpoint/2010/main" val="1618415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17355F1-C457-45EA-83EB-993558DBEE15}" type="datetimeFigureOut">
              <a:rPr lang="ru-RU" smtClean="0"/>
              <a:t>16.02.2023</a:t>
            </a:fld>
            <a:endParaRPr lang="ru-RU"/>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ru-RU"/>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6A82967-46F5-4818-A050-76ECED032B8C}" type="slidenum">
              <a:rPr lang="ru-RU" smtClean="0"/>
              <a:t>‹#›</a:t>
            </a:fld>
            <a:endParaRPr lang="ru-RU"/>
          </a:p>
        </p:txBody>
      </p:sp>
    </p:spTree>
    <p:extLst>
      <p:ext uri="{BB962C8B-B14F-4D97-AF65-F5344CB8AC3E}">
        <p14:creationId xmlns:p14="http://schemas.microsoft.com/office/powerpoint/2010/main" val="3488216885"/>
      </p:ext>
    </p:extLst>
  </p:cSld>
  <p:clrMap bg1="dk1" tx1="lt1" bg2="dk2" tx2="lt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interneturok.ru/lesson/physics/10-klass/elektricheskiy-tok-v-razlichnyh-sredah/elektricheskiy-tok-v-poluprovodnikah" TargetMode="External"/><Relationship Id="rId2" Type="http://schemas.openxmlformats.org/officeDocument/2006/relationships/hyperlink" Target="https://interneturok.ru/lesson/physics/10-klass/elektricheskiy-tok-v-razlichnyh-sredah/elektricheskiy-tok-v-gazah" TargetMode="External"/><Relationship Id="rId1" Type="http://schemas.openxmlformats.org/officeDocument/2006/relationships/slideLayout" Target="../slideLayouts/slideLayout2.xml"/><Relationship Id="rId4" Type="http://schemas.openxmlformats.org/officeDocument/2006/relationships/hyperlink" Target="https://interneturok.ru/lesson/physics/10-klass/elektricheskiy-tok-v-razlichnyh-sredah/elektricheskiy-tok-v-zhidkostya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56256F-C202-45C2-9980-9A3937DEEA6C}"/>
              </a:ext>
            </a:extLst>
          </p:cNvPr>
          <p:cNvSpPr>
            <a:spLocks noGrp="1"/>
          </p:cNvSpPr>
          <p:nvPr>
            <p:ph type="ctrTitle"/>
          </p:nvPr>
        </p:nvSpPr>
        <p:spPr/>
        <p:txBody>
          <a:bodyPr>
            <a:normAutofit fontScale="90000"/>
          </a:bodyPr>
          <a:lstStyle/>
          <a:p>
            <a:r>
              <a:rPr lang="ru-RU" b="0" i="0" dirty="0">
                <a:solidFill>
                  <a:srgbClr val="E1E3E6"/>
                </a:solidFill>
                <a:effectLst/>
                <a:latin typeface="-apple-system"/>
              </a:rPr>
              <a:t>Электрический </a:t>
            </a:r>
            <a:r>
              <a:rPr lang="ru-RU" b="0" i="0" dirty="0" smtClean="0">
                <a:solidFill>
                  <a:srgbClr val="E1E3E6"/>
                </a:solidFill>
                <a:effectLst/>
                <a:latin typeface="-apple-system"/>
              </a:rPr>
              <a:t>ток</a:t>
            </a:r>
            <a:r>
              <a:rPr lang="en-US" b="0" i="0" dirty="0" smtClean="0">
                <a:solidFill>
                  <a:srgbClr val="E1E3E6"/>
                </a:solidFill>
                <a:effectLst/>
                <a:latin typeface="-apple-system"/>
              </a:rPr>
              <a:t> </a:t>
            </a:r>
            <a:r>
              <a:rPr lang="ru-RU" b="0" i="0" dirty="0" smtClean="0">
                <a:solidFill>
                  <a:srgbClr val="E1E3E6"/>
                </a:solidFill>
                <a:effectLst/>
                <a:latin typeface="-apple-system"/>
              </a:rPr>
              <a:t>в </a:t>
            </a:r>
            <a:r>
              <a:rPr lang="ru-RU" b="0" i="0" dirty="0">
                <a:solidFill>
                  <a:srgbClr val="E1E3E6"/>
                </a:solidFill>
                <a:effectLst/>
                <a:latin typeface="-apple-system"/>
              </a:rPr>
              <a:t>полупроводниках, газах и жидкостях.</a:t>
            </a:r>
            <a:endParaRPr lang="ru-RU" dirty="0"/>
          </a:p>
        </p:txBody>
      </p:sp>
      <p:sp>
        <p:nvSpPr>
          <p:cNvPr id="3" name="Подзаголовок 2">
            <a:extLst>
              <a:ext uri="{FF2B5EF4-FFF2-40B4-BE49-F238E27FC236}">
                <a16:creationId xmlns:a16="http://schemas.microsoft.com/office/drawing/2014/main" id="{38BB1A50-2BA4-4A81-BCEF-01DA113D70EC}"/>
              </a:ext>
            </a:extLst>
          </p:cNvPr>
          <p:cNvSpPr>
            <a:spLocks noGrp="1"/>
          </p:cNvSpPr>
          <p:nvPr>
            <p:ph type="subTitle" idx="1"/>
          </p:nvPr>
        </p:nvSpPr>
        <p:spPr/>
        <p:txBody>
          <a:bodyPr/>
          <a:lstStyle/>
          <a:p>
            <a:endParaRPr lang="ru-RU" dirty="0"/>
          </a:p>
          <a:p>
            <a:r>
              <a:rPr lang="ru-RU" dirty="0"/>
              <a:t>Выполнил: _____</a:t>
            </a:r>
          </a:p>
        </p:txBody>
      </p:sp>
      <p:sp>
        <p:nvSpPr>
          <p:cNvPr id="4" name="TextBox 3">
            <a:extLst>
              <a:ext uri="{FF2B5EF4-FFF2-40B4-BE49-F238E27FC236}">
                <a16:creationId xmlns:a16="http://schemas.microsoft.com/office/drawing/2014/main" id="{1404BAAD-DC91-4F00-A9CE-8DB80A95433E}"/>
              </a:ext>
            </a:extLst>
          </p:cNvPr>
          <p:cNvSpPr txBox="1"/>
          <p:nvPr/>
        </p:nvSpPr>
        <p:spPr>
          <a:xfrm>
            <a:off x="3696069" y="301841"/>
            <a:ext cx="4417748" cy="369332"/>
          </a:xfrm>
          <a:prstGeom prst="rect">
            <a:avLst/>
          </a:prstGeom>
          <a:noFill/>
        </p:spPr>
        <p:txBody>
          <a:bodyPr wrap="none" rtlCol="0">
            <a:spAutoFit/>
          </a:bodyPr>
          <a:lstStyle/>
          <a:p>
            <a:r>
              <a:rPr lang="ru-RU" dirty="0"/>
              <a:t>Ульяновский Авиационный колледж - МЦК</a:t>
            </a:r>
          </a:p>
        </p:txBody>
      </p:sp>
    </p:spTree>
    <p:extLst>
      <p:ext uri="{BB962C8B-B14F-4D97-AF65-F5344CB8AC3E}">
        <p14:creationId xmlns:p14="http://schemas.microsoft.com/office/powerpoint/2010/main" val="21357377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2566C4-5A6F-495C-93EB-D9996DD708FF}"/>
              </a:ext>
            </a:extLst>
          </p:cNvPr>
          <p:cNvSpPr>
            <a:spLocks noGrp="1"/>
          </p:cNvSpPr>
          <p:nvPr>
            <p:ph type="title"/>
          </p:nvPr>
        </p:nvSpPr>
        <p:spPr/>
        <p:txBody>
          <a:bodyPr/>
          <a:lstStyle/>
          <a:p>
            <a:r>
              <a:rPr lang="ru-RU" dirty="0"/>
              <a:t>Содержание</a:t>
            </a:r>
          </a:p>
        </p:txBody>
      </p:sp>
      <p:sp>
        <p:nvSpPr>
          <p:cNvPr id="4" name="TextBox 3"/>
          <p:cNvSpPr txBox="1"/>
          <p:nvPr/>
        </p:nvSpPr>
        <p:spPr>
          <a:xfrm>
            <a:off x="6638191" y="1810565"/>
            <a:ext cx="4870940" cy="4524315"/>
          </a:xfrm>
          <a:prstGeom prst="rect">
            <a:avLst/>
          </a:prstGeom>
          <a:noFill/>
        </p:spPr>
        <p:txBody>
          <a:bodyPr wrap="square" rtlCol="0">
            <a:spAutoFit/>
          </a:bodyPr>
          <a:lstStyle/>
          <a:p>
            <a:pPr marL="342900" indent="-342900">
              <a:lnSpc>
                <a:spcPct val="150000"/>
              </a:lnSpc>
              <a:buFont typeface="+mj-lt"/>
              <a:buAutoNum type="arabicPeriod" startAt="11"/>
            </a:pPr>
            <a:r>
              <a:rPr lang="ru-RU" dirty="0"/>
              <a:t>Плазма</a:t>
            </a:r>
          </a:p>
          <a:p>
            <a:pPr marL="342900" indent="-342900">
              <a:lnSpc>
                <a:spcPct val="150000"/>
              </a:lnSpc>
              <a:buFont typeface="+mj-lt"/>
              <a:buAutoNum type="arabicPeriod" startAt="11"/>
            </a:pPr>
            <a:r>
              <a:rPr lang="ru-RU" dirty="0" smtClean="0"/>
              <a:t>Плазма</a:t>
            </a:r>
            <a:endParaRPr lang="ru-RU" dirty="0"/>
          </a:p>
          <a:p>
            <a:pPr marL="342900" indent="-342900">
              <a:lnSpc>
                <a:spcPct val="150000"/>
              </a:lnSpc>
              <a:buFont typeface="+mj-lt"/>
              <a:buAutoNum type="arabicPeriod" startAt="11"/>
            </a:pPr>
            <a:r>
              <a:rPr lang="ru-RU" dirty="0"/>
              <a:t>Применение плазмы</a:t>
            </a:r>
          </a:p>
          <a:p>
            <a:pPr marL="342900" indent="-342900">
              <a:lnSpc>
                <a:spcPct val="150000"/>
              </a:lnSpc>
              <a:buFont typeface="+mj-lt"/>
              <a:buAutoNum type="arabicPeriod" startAt="11"/>
            </a:pPr>
            <a:r>
              <a:rPr lang="ru-RU" dirty="0"/>
              <a:t>Электрический ток в жидкостях</a:t>
            </a:r>
          </a:p>
          <a:p>
            <a:pPr marL="342900" indent="-342900">
              <a:lnSpc>
                <a:spcPct val="150000"/>
              </a:lnSpc>
              <a:buFont typeface="+mj-lt"/>
              <a:buAutoNum type="arabicPeriod" startAt="11"/>
            </a:pPr>
            <a:r>
              <a:rPr lang="ru-RU" dirty="0"/>
              <a:t>Электролиз</a:t>
            </a:r>
          </a:p>
          <a:p>
            <a:pPr marL="342900" indent="-342900">
              <a:lnSpc>
                <a:spcPct val="150000"/>
              </a:lnSpc>
              <a:buFont typeface="+mj-lt"/>
              <a:buAutoNum type="arabicPeriod" startAt="11"/>
            </a:pPr>
            <a:r>
              <a:rPr lang="ru-RU" dirty="0"/>
              <a:t>Законы Фарадея</a:t>
            </a:r>
          </a:p>
          <a:p>
            <a:pPr marL="342900" indent="-342900">
              <a:lnSpc>
                <a:spcPct val="150000"/>
              </a:lnSpc>
              <a:buFont typeface="+mj-lt"/>
              <a:buAutoNum type="arabicPeriod" startAt="11"/>
            </a:pPr>
            <a:r>
              <a:rPr lang="ru-RU" dirty="0"/>
              <a:t>Законы Фарадея</a:t>
            </a:r>
          </a:p>
          <a:p>
            <a:pPr marL="342900" indent="-342900">
              <a:lnSpc>
                <a:spcPct val="150000"/>
              </a:lnSpc>
              <a:buFont typeface="+mj-lt"/>
              <a:buAutoNum type="arabicPeriod" startAt="11"/>
            </a:pPr>
            <a:r>
              <a:rPr lang="ru-RU" dirty="0"/>
              <a:t>Законы фарадея</a:t>
            </a:r>
          </a:p>
          <a:p>
            <a:pPr marL="342900" indent="-342900">
              <a:lnSpc>
                <a:spcPct val="150000"/>
              </a:lnSpc>
              <a:buFont typeface="+mj-lt"/>
              <a:buAutoNum type="arabicPeriod" startAt="11"/>
            </a:pPr>
            <a:r>
              <a:rPr lang="ru-RU" dirty="0"/>
              <a:t>Практическое применение электролиза</a:t>
            </a:r>
          </a:p>
          <a:p>
            <a:pPr marL="342900" indent="-342900">
              <a:lnSpc>
                <a:spcPct val="150000"/>
              </a:lnSpc>
              <a:buFont typeface="+mj-lt"/>
              <a:buAutoNum type="arabicPeriod" startAt="11"/>
            </a:pPr>
            <a:r>
              <a:rPr lang="ru-RU" dirty="0"/>
              <a:t>Список литературы</a:t>
            </a:r>
          </a:p>
          <a:p>
            <a:endParaRPr lang="ru-RU" dirty="0"/>
          </a:p>
        </p:txBody>
      </p:sp>
      <p:sp>
        <p:nvSpPr>
          <p:cNvPr id="5" name="TextBox 4"/>
          <p:cNvSpPr txBox="1"/>
          <p:nvPr/>
        </p:nvSpPr>
        <p:spPr>
          <a:xfrm>
            <a:off x="1100237" y="1802098"/>
            <a:ext cx="5123518" cy="4939814"/>
          </a:xfrm>
          <a:prstGeom prst="rect">
            <a:avLst/>
          </a:prstGeom>
          <a:noFill/>
        </p:spPr>
        <p:txBody>
          <a:bodyPr wrap="none" rtlCol="0">
            <a:spAutoFit/>
          </a:bodyPr>
          <a:lstStyle/>
          <a:p>
            <a:pPr marL="342900" indent="-342900">
              <a:lnSpc>
                <a:spcPct val="150000"/>
              </a:lnSpc>
              <a:buFont typeface="+mj-lt"/>
              <a:buAutoNum type="arabicPeriod"/>
            </a:pPr>
            <a:r>
              <a:rPr lang="ru-RU" dirty="0"/>
              <a:t>Титульный лист</a:t>
            </a:r>
          </a:p>
          <a:p>
            <a:pPr marL="342900" indent="-342900">
              <a:lnSpc>
                <a:spcPct val="150000"/>
              </a:lnSpc>
              <a:buFont typeface="+mj-lt"/>
              <a:buAutoNum type="arabicPeriod"/>
            </a:pPr>
            <a:r>
              <a:rPr lang="ru-RU" dirty="0"/>
              <a:t>Содержание</a:t>
            </a:r>
          </a:p>
          <a:p>
            <a:pPr marL="342900" indent="-342900">
              <a:lnSpc>
                <a:spcPct val="150000"/>
              </a:lnSpc>
              <a:buFont typeface="+mj-lt"/>
              <a:buAutoNum type="arabicPeriod"/>
            </a:pPr>
            <a:r>
              <a:rPr lang="ru-RU" dirty="0"/>
              <a:t>Полупроводники. Зависимость сопротивления</a:t>
            </a:r>
            <a:br>
              <a:rPr lang="ru-RU" dirty="0"/>
            </a:br>
            <a:r>
              <a:rPr lang="ru-RU" dirty="0" smtClean="0"/>
              <a:t>полупроводников </a:t>
            </a:r>
            <a:r>
              <a:rPr lang="ru-RU" dirty="0"/>
              <a:t>от температуры</a:t>
            </a:r>
          </a:p>
          <a:p>
            <a:pPr marL="342900" indent="-342900">
              <a:lnSpc>
                <a:spcPct val="150000"/>
              </a:lnSpc>
              <a:buFont typeface="+mj-lt"/>
              <a:buAutoNum type="arabicPeriod"/>
            </a:pPr>
            <a:r>
              <a:rPr lang="ru-RU" dirty="0"/>
              <a:t>Тип проводимости полупроводников</a:t>
            </a:r>
          </a:p>
          <a:p>
            <a:pPr marL="342900" indent="-342900">
              <a:lnSpc>
                <a:spcPct val="150000"/>
              </a:lnSpc>
              <a:buFont typeface="+mj-lt"/>
              <a:buAutoNum type="arabicPeriod"/>
            </a:pPr>
            <a:r>
              <a:rPr lang="ru-RU" dirty="0"/>
              <a:t>Тип проводимости полупроводников</a:t>
            </a:r>
          </a:p>
          <a:p>
            <a:pPr marL="342900" indent="-342900">
              <a:lnSpc>
                <a:spcPct val="150000"/>
              </a:lnSpc>
              <a:buFont typeface="+mj-lt"/>
              <a:buAutoNum type="arabicPeriod"/>
            </a:pPr>
            <a:r>
              <a:rPr lang="en-US" dirty="0"/>
              <a:t>p-n </a:t>
            </a:r>
            <a:r>
              <a:rPr lang="ru-RU" dirty="0"/>
              <a:t>переход</a:t>
            </a:r>
          </a:p>
          <a:p>
            <a:pPr marL="342900" indent="-342900">
              <a:lnSpc>
                <a:spcPct val="150000"/>
              </a:lnSpc>
              <a:buFont typeface="+mj-lt"/>
              <a:buAutoNum type="arabicPeriod"/>
            </a:pPr>
            <a:r>
              <a:rPr lang="ru-RU" dirty="0"/>
              <a:t>Полупроводниковые приборы</a:t>
            </a:r>
          </a:p>
          <a:p>
            <a:pPr marL="342900" indent="-342900">
              <a:lnSpc>
                <a:spcPct val="150000"/>
              </a:lnSpc>
              <a:buFont typeface="+mj-lt"/>
              <a:buAutoNum type="arabicPeriod"/>
            </a:pPr>
            <a:r>
              <a:rPr lang="ru-RU" dirty="0"/>
              <a:t>Электрический ток в газах. Ионизация газа</a:t>
            </a:r>
          </a:p>
          <a:p>
            <a:pPr marL="342900" indent="-342900">
              <a:lnSpc>
                <a:spcPct val="150000"/>
              </a:lnSpc>
              <a:buFont typeface="+mj-lt"/>
              <a:buAutoNum type="arabicPeriod"/>
            </a:pPr>
            <a:r>
              <a:rPr lang="ru-RU" dirty="0"/>
              <a:t>Газовый разряд</a:t>
            </a:r>
          </a:p>
          <a:p>
            <a:pPr marL="342900" indent="-342900">
              <a:lnSpc>
                <a:spcPct val="150000"/>
              </a:lnSpc>
              <a:buFont typeface="+mj-lt"/>
              <a:buAutoNum type="arabicPeriod"/>
            </a:pPr>
            <a:r>
              <a:rPr lang="ru-RU" dirty="0"/>
              <a:t>Применение газового разряда</a:t>
            </a:r>
          </a:p>
          <a:p>
            <a:endParaRPr lang="ru-RU" dirty="0"/>
          </a:p>
        </p:txBody>
      </p:sp>
    </p:spTree>
    <p:extLst>
      <p:ext uri="{BB962C8B-B14F-4D97-AF65-F5344CB8AC3E}">
        <p14:creationId xmlns:p14="http://schemas.microsoft.com/office/powerpoint/2010/main" val="27821181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ACED73-D9FF-4D3B-A579-CFCD9E8D3382}"/>
              </a:ext>
            </a:extLst>
          </p:cNvPr>
          <p:cNvSpPr>
            <a:spLocks noGrp="1"/>
          </p:cNvSpPr>
          <p:nvPr>
            <p:ph type="title"/>
          </p:nvPr>
        </p:nvSpPr>
        <p:spPr>
          <a:xfrm>
            <a:off x="685801" y="609600"/>
            <a:ext cx="10131425" cy="1334610"/>
          </a:xfrm>
        </p:spPr>
        <p:txBody>
          <a:bodyPr>
            <a:normAutofit/>
          </a:bodyPr>
          <a:lstStyle/>
          <a:p>
            <a:r>
              <a:rPr lang="ru-RU" sz="3200" dirty="0"/>
              <a:t>Полупроводники. Зависимость сопротивления полупроводников от температуры</a:t>
            </a:r>
          </a:p>
        </p:txBody>
      </p:sp>
      <p:sp>
        <p:nvSpPr>
          <p:cNvPr id="3" name="Объект 2">
            <a:extLst>
              <a:ext uri="{FF2B5EF4-FFF2-40B4-BE49-F238E27FC236}">
                <a16:creationId xmlns:a16="http://schemas.microsoft.com/office/drawing/2014/main" id="{93BE111A-E4D9-4602-A2F9-84F5397DCF0C}"/>
              </a:ext>
            </a:extLst>
          </p:cNvPr>
          <p:cNvSpPr>
            <a:spLocks noGrp="1"/>
          </p:cNvSpPr>
          <p:nvPr>
            <p:ph idx="1"/>
          </p:nvPr>
        </p:nvSpPr>
        <p:spPr>
          <a:xfrm>
            <a:off x="685801" y="2032391"/>
            <a:ext cx="10131425" cy="3649133"/>
          </a:xfrm>
        </p:spPr>
        <p:txBody>
          <a:bodyPr/>
          <a:lstStyle/>
          <a:p>
            <a:pPr marL="0" indent="0">
              <a:buNone/>
            </a:pPr>
            <a:r>
              <a:rPr lang="ru-RU" b="1" i="0" u="sng" dirty="0">
                <a:effectLst/>
                <a:latin typeface="Museo Sans Cyrl"/>
              </a:rPr>
              <a:t>Полупроводники</a:t>
            </a:r>
            <a:r>
              <a:rPr lang="ru-RU" b="0" i="0" dirty="0">
                <a:effectLst/>
                <a:latin typeface="Museo Sans Cyrl"/>
              </a:rPr>
              <a:t> – вещества, занимающие промежуточную позицию между проводниками и диэлектриками.</a:t>
            </a:r>
          </a:p>
          <a:p>
            <a:pPr marL="0" indent="0">
              <a:buNone/>
            </a:pPr>
            <a:r>
              <a:rPr lang="ru-RU" b="0" i="0" dirty="0">
                <a:effectLst/>
                <a:latin typeface="Museo Sans Cyrl"/>
              </a:rPr>
              <a:t>Одним из определяющих отличий полупроводников от проводников является зависимость их сопротивления от температуры. Как мы помним из предыдущего урока, при повышении температуры сопротивление металлов возрастает. Сопротивление полупроводников же, напротив, уменьшается при повышении температуры</a:t>
            </a:r>
          </a:p>
          <a:p>
            <a:pPr marL="0" indent="0">
              <a:buNone/>
            </a:pPr>
            <a:endParaRPr lang="ru-RU" dirty="0"/>
          </a:p>
        </p:txBody>
      </p:sp>
      <p:pic>
        <p:nvPicPr>
          <p:cNvPr id="1026" name="Picture 2">
            <a:extLst>
              <a:ext uri="{FF2B5EF4-FFF2-40B4-BE49-F238E27FC236}">
                <a16:creationId xmlns:a16="http://schemas.microsoft.com/office/drawing/2014/main" id="{1AD07E4B-BB60-4E23-B936-D81294D4E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540" y="4734202"/>
            <a:ext cx="2828925" cy="139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54503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B00D50-9F20-45D4-B546-229A61F7F29A}"/>
              </a:ext>
            </a:extLst>
          </p:cNvPr>
          <p:cNvSpPr>
            <a:spLocks noGrp="1"/>
          </p:cNvSpPr>
          <p:nvPr>
            <p:ph type="title"/>
          </p:nvPr>
        </p:nvSpPr>
        <p:spPr/>
        <p:txBody>
          <a:bodyPr>
            <a:normAutofit/>
          </a:bodyPr>
          <a:lstStyle/>
          <a:p>
            <a:r>
              <a:rPr lang="ru-RU" sz="3200" dirty="0"/>
              <a:t>Тип проводимости полупроводников</a:t>
            </a:r>
          </a:p>
        </p:txBody>
      </p:sp>
      <p:sp>
        <p:nvSpPr>
          <p:cNvPr id="3" name="Объект 2">
            <a:extLst>
              <a:ext uri="{FF2B5EF4-FFF2-40B4-BE49-F238E27FC236}">
                <a16:creationId xmlns:a16="http://schemas.microsoft.com/office/drawing/2014/main" id="{B066CAF9-3604-4464-922A-EB657E5D8C3C}"/>
              </a:ext>
            </a:extLst>
          </p:cNvPr>
          <p:cNvSpPr>
            <a:spLocks noGrp="1"/>
          </p:cNvSpPr>
          <p:nvPr>
            <p:ph idx="1"/>
          </p:nvPr>
        </p:nvSpPr>
        <p:spPr>
          <a:xfrm>
            <a:off x="685801" y="1849104"/>
            <a:ext cx="10131425" cy="3649133"/>
          </a:xfrm>
        </p:spPr>
        <p:txBody>
          <a:bodyPr/>
          <a:lstStyle/>
          <a:p>
            <a:pPr algn="just"/>
            <a:r>
              <a:rPr lang="ru-RU" b="1" i="0" dirty="0">
                <a:effectLst/>
                <a:latin typeface="Museo Sans Cyrl"/>
              </a:rPr>
              <a:t>Примесная проводимость</a:t>
            </a:r>
          </a:p>
          <a:p>
            <a:pPr marL="0" indent="0" algn="just">
              <a:buNone/>
            </a:pPr>
            <a:r>
              <a:rPr lang="ru-RU" b="0" i="0" dirty="0">
                <a:effectLst/>
                <a:latin typeface="Museo Sans Cyrl"/>
              </a:rPr>
              <a:t>Добавление к полупроводниковым кристаллам различных примесей может значительно повысить проводимость этих полупроводников. Существует два типа таких примесей: донорная и акцепторная.</a:t>
            </a:r>
          </a:p>
          <a:p>
            <a:pPr marL="0" indent="0" algn="just">
              <a:buNone/>
            </a:pPr>
            <a:r>
              <a:rPr lang="ru-RU" b="0" i="0" dirty="0">
                <a:effectLst/>
                <a:latin typeface="Museo Sans Cyrl"/>
              </a:rPr>
              <a:t>Если в кристаллическую структуру кремния добавить некоторое количество атомов пятивалентного мышьяка, то связанными окажутся только четыре из его пяти валентных электронов, пятый остается свободным. Таким образом, к собственной проводимости кремния добавляется фактор наличия избыточного количества свободных электронов (примесная проводимость). Такой полупроводник называется полупроводником n-типа</a:t>
            </a:r>
            <a:endParaRPr lang="ru-RU" dirty="0"/>
          </a:p>
        </p:txBody>
      </p:sp>
      <p:pic>
        <p:nvPicPr>
          <p:cNvPr id="1026" name="Picture 2">
            <a:extLst>
              <a:ext uri="{FF2B5EF4-FFF2-40B4-BE49-F238E27FC236}">
                <a16:creationId xmlns:a16="http://schemas.microsoft.com/office/drawing/2014/main" id="{938B1B58-8F28-4E2D-A5A1-E52263F7B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5778" y="4965900"/>
            <a:ext cx="1981200" cy="166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47700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D5D8A4-A06F-4189-86D0-DD68AF8EC95D}"/>
              </a:ext>
            </a:extLst>
          </p:cNvPr>
          <p:cNvSpPr>
            <a:spLocks noGrp="1"/>
          </p:cNvSpPr>
          <p:nvPr>
            <p:ph type="title"/>
          </p:nvPr>
        </p:nvSpPr>
        <p:spPr/>
        <p:txBody>
          <a:bodyPr>
            <a:normAutofit/>
          </a:bodyPr>
          <a:lstStyle/>
          <a:p>
            <a:r>
              <a:rPr lang="ru-RU" sz="3200" dirty="0"/>
              <a:t>Тип проводимости полупроводников</a:t>
            </a:r>
          </a:p>
        </p:txBody>
      </p:sp>
      <p:sp>
        <p:nvSpPr>
          <p:cNvPr id="3" name="Объект 2">
            <a:extLst>
              <a:ext uri="{FF2B5EF4-FFF2-40B4-BE49-F238E27FC236}">
                <a16:creationId xmlns:a16="http://schemas.microsoft.com/office/drawing/2014/main" id="{DE638BC4-342D-4CA4-8E32-5AC991954BFC}"/>
              </a:ext>
            </a:extLst>
          </p:cNvPr>
          <p:cNvSpPr>
            <a:spLocks noGrp="1"/>
          </p:cNvSpPr>
          <p:nvPr>
            <p:ph idx="1"/>
          </p:nvPr>
        </p:nvSpPr>
        <p:spPr>
          <a:xfrm>
            <a:off x="685801" y="1604433"/>
            <a:ext cx="10131425" cy="3649133"/>
          </a:xfrm>
        </p:spPr>
        <p:txBody>
          <a:bodyPr/>
          <a:lstStyle/>
          <a:p>
            <a:pPr marL="0" indent="0">
              <a:buNone/>
            </a:pPr>
            <a:r>
              <a:rPr lang="ru-RU" b="0" i="0" dirty="0">
                <a:effectLst/>
                <a:latin typeface="Museo Sans Cyrl"/>
              </a:rPr>
              <a:t>Если же к кристаллу кремния добавить примесь трехвалентного индия, то будет отсутствие одной связи, на месте которой образуется дырка. Таким образом, к собственной проводимости добавить фактор наличия избыточного количества дырок. Такой полупроводник называется полупроводником p-типа</a:t>
            </a:r>
            <a:endParaRPr lang="ru-RU" b="0" i="0" dirty="0">
              <a:effectLst/>
              <a:highlight>
                <a:srgbClr val="FFFF00"/>
              </a:highlight>
              <a:latin typeface="Museo Sans Cyrl"/>
            </a:endParaRPr>
          </a:p>
          <a:p>
            <a:pPr marL="0" indent="0">
              <a:buNone/>
            </a:pPr>
            <a:r>
              <a:rPr lang="ru-RU" b="0" i="0" dirty="0">
                <a:effectLst/>
                <a:latin typeface="Museo Sans Cyrl"/>
              </a:rPr>
              <a:t>В полупроводниковых приборах тем не менее зачастую используют не сами полупроводники того или иного типа, а приведенные в контакт кристаллы полупроводников n- и p-типа.</a:t>
            </a:r>
            <a:endParaRPr lang="ru-RU" dirty="0"/>
          </a:p>
        </p:txBody>
      </p:sp>
      <p:pic>
        <p:nvPicPr>
          <p:cNvPr id="2050" name="Picture 2">
            <a:extLst>
              <a:ext uri="{FF2B5EF4-FFF2-40B4-BE49-F238E27FC236}">
                <a16:creationId xmlns:a16="http://schemas.microsoft.com/office/drawing/2014/main" id="{38BBF872-DC0F-419E-A93D-C0422B4A06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7727" y="4596090"/>
            <a:ext cx="2057400" cy="183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0216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88DCE7-A928-4347-BC4C-F84C693F0D1E}"/>
              </a:ext>
            </a:extLst>
          </p:cNvPr>
          <p:cNvSpPr>
            <a:spLocks noGrp="1"/>
          </p:cNvSpPr>
          <p:nvPr>
            <p:ph type="title"/>
          </p:nvPr>
        </p:nvSpPr>
        <p:spPr/>
        <p:txBody>
          <a:bodyPr>
            <a:normAutofit/>
          </a:bodyPr>
          <a:lstStyle/>
          <a:p>
            <a:r>
              <a:rPr lang="en-US" sz="3200" dirty="0"/>
              <a:t>p-n </a:t>
            </a:r>
            <a:r>
              <a:rPr lang="ru-RU" sz="3200" dirty="0"/>
              <a:t>переход</a:t>
            </a:r>
          </a:p>
        </p:txBody>
      </p:sp>
      <p:sp>
        <p:nvSpPr>
          <p:cNvPr id="3" name="Объект 2">
            <a:extLst>
              <a:ext uri="{FF2B5EF4-FFF2-40B4-BE49-F238E27FC236}">
                <a16:creationId xmlns:a16="http://schemas.microsoft.com/office/drawing/2014/main" id="{A54C5900-8603-4F8D-9BD7-4E9CED0642BB}"/>
              </a:ext>
            </a:extLst>
          </p:cNvPr>
          <p:cNvSpPr>
            <a:spLocks noGrp="1"/>
          </p:cNvSpPr>
          <p:nvPr>
            <p:ph idx="1"/>
          </p:nvPr>
        </p:nvSpPr>
        <p:spPr/>
        <p:txBody>
          <a:bodyPr/>
          <a:lstStyle/>
          <a:p>
            <a:pPr marL="0" indent="0" algn="just">
              <a:buNone/>
            </a:pPr>
            <a:r>
              <a:rPr lang="ru-RU" b="0" i="0" dirty="0">
                <a:effectLst/>
                <a:latin typeface="Museo Sans Cyrl"/>
              </a:rPr>
              <a:t>Особое значение в технике имеет приведение в контакт полупроводников различных проводимостей. Что же произойдет при таком контакте? Вследствие диффузии зарядов начнется проникновение электронов в p-полупроводник, а дырок – в n-полупроводник. В результате чего на границе образуется так называемый запирающий слой, который своим электрическим полем препятствует дальнейшему обмену зарядами</a:t>
            </a:r>
            <a:endParaRPr lang="en-US" b="0" i="0" dirty="0">
              <a:effectLst/>
              <a:latin typeface="Museo Sans Cyrl"/>
            </a:endParaRPr>
          </a:p>
          <a:p>
            <a:pPr marL="0" indent="0" algn="just">
              <a:buNone/>
            </a:pPr>
            <a:r>
              <a:rPr lang="ru-RU" b="0" i="0" dirty="0">
                <a:effectLst/>
                <a:latin typeface="Museo Sans Cyrl"/>
              </a:rPr>
              <a:t>Проводимость полупроводников является электронно-дырочной, и такая проводимость называется собственной проводимостью. И в отличие от проводниковых металлов при увеличении температуры как раз увеличивается количество свободных зарядов</a:t>
            </a:r>
          </a:p>
          <a:p>
            <a:pPr marL="0" indent="0">
              <a:buNone/>
            </a:pPr>
            <a:endParaRPr lang="ru-RU" dirty="0"/>
          </a:p>
        </p:txBody>
      </p:sp>
      <p:pic>
        <p:nvPicPr>
          <p:cNvPr id="3074" name="Picture 2">
            <a:extLst>
              <a:ext uri="{FF2B5EF4-FFF2-40B4-BE49-F238E27FC236}">
                <a16:creationId xmlns:a16="http://schemas.microsoft.com/office/drawing/2014/main" id="{955F00E1-7F00-4089-8540-7A45B066B4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3213" y="5071739"/>
            <a:ext cx="2571750"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53252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585D6C-A936-4F7F-BC86-78887A6A4A23}"/>
              </a:ext>
            </a:extLst>
          </p:cNvPr>
          <p:cNvSpPr>
            <a:spLocks noGrp="1"/>
          </p:cNvSpPr>
          <p:nvPr>
            <p:ph type="title"/>
          </p:nvPr>
        </p:nvSpPr>
        <p:spPr/>
        <p:txBody>
          <a:bodyPr>
            <a:normAutofit/>
          </a:bodyPr>
          <a:lstStyle/>
          <a:p>
            <a:r>
              <a:rPr lang="ru-RU" sz="3200" dirty="0"/>
              <a:t>Полупроводниковые приборы</a:t>
            </a:r>
          </a:p>
        </p:txBody>
      </p:sp>
      <p:sp>
        <p:nvSpPr>
          <p:cNvPr id="3" name="Объект 2">
            <a:extLst>
              <a:ext uri="{FF2B5EF4-FFF2-40B4-BE49-F238E27FC236}">
                <a16:creationId xmlns:a16="http://schemas.microsoft.com/office/drawing/2014/main" id="{4DA3665A-C64D-465F-B6F0-E7E5EE22212D}"/>
              </a:ext>
            </a:extLst>
          </p:cNvPr>
          <p:cNvSpPr>
            <a:spLocks noGrp="1"/>
          </p:cNvSpPr>
          <p:nvPr>
            <p:ph idx="1"/>
          </p:nvPr>
        </p:nvSpPr>
        <p:spPr>
          <a:xfrm>
            <a:off x="685802" y="2142067"/>
            <a:ext cx="8546976" cy="4178834"/>
          </a:xfrm>
        </p:spPr>
        <p:txBody>
          <a:bodyPr/>
          <a:lstStyle/>
          <a:p>
            <a:pPr marL="0" indent="0">
              <a:buNone/>
            </a:pPr>
            <a:r>
              <a:rPr lang="ru-RU" dirty="0"/>
              <a:t>Малые размеры и очень большое качество пропускаемых сигналов сделали полупроводниковые приборы очень распространенными в современной электронной технике. В состав таких приборов может входить не только вышеупомянутый кремний с примесями, но и, например, германий.</a:t>
            </a:r>
          </a:p>
          <a:p>
            <a:pPr marL="0" indent="0">
              <a:buNone/>
            </a:pPr>
            <a:r>
              <a:rPr lang="ru-RU" dirty="0"/>
              <a:t>Одним из таких приборов является диод – прибор, способный пропускать ток в одном направлении и препятствовать его прохождению в другом. Он получается вживлением в полупроводниковый кристалл p- или n-типа полупроводника другого типа</a:t>
            </a:r>
            <a:endParaRPr lang="en-US" dirty="0"/>
          </a:p>
          <a:p>
            <a:pPr marL="0" indent="0">
              <a:buNone/>
            </a:pPr>
            <a:r>
              <a:rPr lang="ru-RU" dirty="0"/>
              <a:t>Другим прибором, теперь уже с двумя p-n переходами, называется транзистор. Он служит не только для выбора направления пропускания тока, но и для его преобразования</a:t>
            </a:r>
          </a:p>
        </p:txBody>
      </p:sp>
      <p:pic>
        <p:nvPicPr>
          <p:cNvPr id="4098" name="Picture 2">
            <a:extLst>
              <a:ext uri="{FF2B5EF4-FFF2-40B4-BE49-F238E27FC236}">
                <a16:creationId xmlns:a16="http://schemas.microsoft.com/office/drawing/2014/main" id="{6B693851-C70B-4985-99EC-510981728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4609" y="2400300"/>
            <a:ext cx="2657475" cy="10287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E5BF416F-A696-4B8C-B8B2-6FB47E5F5B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8458" y="3763433"/>
            <a:ext cx="2009775" cy="1971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9553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213386-1CB7-4254-A89C-E6DDC0B20D08}"/>
              </a:ext>
            </a:extLst>
          </p:cNvPr>
          <p:cNvSpPr>
            <a:spLocks noGrp="1"/>
          </p:cNvSpPr>
          <p:nvPr>
            <p:ph type="title"/>
          </p:nvPr>
        </p:nvSpPr>
        <p:spPr/>
        <p:txBody>
          <a:bodyPr>
            <a:normAutofit/>
          </a:bodyPr>
          <a:lstStyle/>
          <a:p>
            <a:r>
              <a:rPr lang="ru-RU" sz="3200" dirty="0"/>
              <a:t>Электрический ток в газах. Ионизация газа</a:t>
            </a:r>
          </a:p>
        </p:txBody>
      </p:sp>
      <p:sp>
        <p:nvSpPr>
          <p:cNvPr id="3" name="Объект 2">
            <a:extLst>
              <a:ext uri="{FF2B5EF4-FFF2-40B4-BE49-F238E27FC236}">
                <a16:creationId xmlns:a16="http://schemas.microsoft.com/office/drawing/2014/main" id="{C2C03757-42B1-4A2B-9598-14A9E45A2510}"/>
              </a:ext>
            </a:extLst>
          </p:cNvPr>
          <p:cNvSpPr>
            <a:spLocks noGrp="1"/>
          </p:cNvSpPr>
          <p:nvPr>
            <p:ph idx="1"/>
          </p:nvPr>
        </p:nvSpPr>
        <p:spPr/>
        <p:txBody>
          <a:bodyPr/>
          <a:lstStyle/>
          <a:p>
            <a:pPr marL="0" indent="0">
              <a:buNone/>
            </a:pPr>
            <a:r>
              <a:rPr lang="ru-RU" dirty="0"/>
              <a:t>Электрический ток в газах, как и ток в любой другой среде, требует наличия свободных электрических зарядов. В нормальном состоянии газа таких зарядов там нет, поэтому их необходимо создать искусственно. Существует два способа это сделать. Первый – это расщепить нейтральные атомы газа на электроны и положительные ионы. Второй – привнести в газ эти свободные носители извне. Как правило, применяется способ ионизации.</a:t>
            </a:r>
          </a:p>
          <a:p>
            <a:pPr marL="0" indent="0">
              <a:buNone/>
            </a:pPr>
            <a:r>
              <a:rPr lang="ru-RU" b="1" u="sng" dirty="0"/>
              <a:t>Ионизация</a:t>
            </a:r>
            <a:r>
              <a:rPr lang="ru-RU" dirty="0"/>
              <a:t> – процесс расщепления нейтральных молекул на ионы и электроны.</a:t>
            </a:r>
          </a:p>
          <a:p>
            <a:pPr marL="0" indent="0">
              <a:buNone/>
            </a:pPr>
            <a:r>
              <a:rPr lang="ru-RU" dirty="0"/>
              <a:t>Процесс ионизации происходит сложным образом: в результате него образуются как положительные ионы, так и отрицательные ионы, так и свободные электроны. Проводимость газов – ионная.</a:t>
            </a:r>
          </a:p>
        </p:txBody>
      </p:sp>
    </p:spTree>
    <p:extLst>
      <p:ext uri="{BB962C8B-B14F-4D97-AF65-F5344CB8AC3E}">
        <p14:creationId xmlns:p14="http://schemas.microsoft.com/office/powerpoint/2010/main" val="31659915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C6B20D-6DB1-4D68-BFD2-C7840D12FDD3}"/>
              </a:ext>
            </a:extLst>
          </p:cNvPr>
          <p:cNvSpPr>
            <a:spLocks noGrp="1"/>
          </p:cNvSpPr>
          <p:nvPr>
            <p:ph type="title"/>
          </p:nvPr>
        </p:nvSpPr>
        <p:spPr/>
        <p:txBody>
          <a:bodyPr>
            <a:normAutofit/>
          </a:bodyPr>
          <a:lstStyle/>
          <a:p>
            <a:r>
              <a:rPr lang="ru-RU" sz="3200" dirty="0"/>
              <a:t>Газовый разряд</a:t>
            </a:r>
          </a:p>
        </p:txBody>
      </p:sp>
      <p:sp>
        <p:nvSpPr>
          <p:cNvPr id="3" name="Объект 2">
            <a:extLst>
              <a:ext uri="{FF2B5EF4-FFF2-40B4-BE49-F238E27FC236}">
                <a16:creationId xmlns:a16="http://schemas.microsoft.com/office/drawing/2014/main" id="{2AB2E9E2-28FD-4AB9-9EA7-AEE856FF52F8}"/>
              </a:ext>
            </a:extLst>
          </p:cNvPr>
          <p:cNvSpPr>
            <a:spLocks noGrp="1"/>
          </p:cNvSpPr>
          <p:nvPr>
            <p:ph idx="1"/>
          </p:nvPr>
        </p:nvSpPr>
        <p:spPr>
          <a:xfrm>
            <a:off x="685801" y="1847850"/>
            <a:ext cx="10131425" cy="3649133"/>
          </a:xfrm>
        </p:spPr>
        <p:txBody>
          <a:bodyPr/>
          <a:lstStyle/>
          <a:p>
            <a:pPr marL="0" indent="0">
              <a:buNone/>
            </a:pPr>
            <a:r>
              <a:rPr lang="ru-RU" dirty="0"/>
              <a:t>Протекание тока в газах – скоротечное движение большого количества ионов между электродами. Такое протекание тока называется </a:t>
            </a:r>
            <a:r>
              <a:rPr lang="ru-RU" b="1" u="sng" dirty="0"/>
              <a:t>газовым разрядом</a:t>
            </a:r>
            <a:r>
              <a:rPr lang="ru-RU" dirty="0"/>
              <a:t>. В случае, если такой ток будет слишком мал и его можно засечь только очень точными приборами, такой разряд называется тихим.</a:t>
            </a:r>
          </a:p>
          <a:p>
            <a:pPr marL="0" indent="0">
              <a:buNone/>
            </a:pPr>
            <a:r>
              <a:rPr lang="ru-RU" dirty="0"/>
              <a:t>Электрические разряды в газе можно разделить на два вида: самостоятельные и несамостоятельные. Несамостоятельные разряды – разряды, которые происходят только при наличии внешнего ионизатора и прекращаются при его устранении. Самостоятельные разряды – разряды, происходящие и при отсутствии ионизаторов. Примером самостоятельного разряда является шаровая молния</a:t>
            </a:r>
          </a:p>
        </p:txBody>
      </p:sp>
      <p:pic>
        <p:nvPicPr>
          <p:cNvPr id="5122" name="Picture 2">
            <a:extLst>
              <a:ext uri="{FF2B5EF4-FFF2-40B4-BE49-F238E27FC236}">
                <a16:creationId xmlns:a16="http://schemas.microsoft.com/office/drawing/2014/main" id="{9228E938-82C9-4BF0-97C5-CD736A3DBF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5816" y="4792134"/>
            <a:ext cx="22098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2623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a:t>Применение газового разряда</a:t>
            </a:r>
          </a:p>
        </p:txBody>
      </p:sp>
      <p:sp>
        <p:nvSpPr>
          <p:cNvPr id="3" name="Объект 2"/>
          <p:cNvSpPr>
            <a:spLocks noGrp="1"/>
          </p:cNvSpPr>
          <p:nvPr>
            <p:ph idx="1"/>
          </p:nvPr>
        </p:nvSpPr>
        <p:spPr>
          <a:xfrm>
            <a:off x="685801" y="1286811"/>
            <a:ext cx="10131425" cy="3649133"/>
          </a:xfrm>
        </p:spPr>
        <p:txBody>
          <a:bodyPr/>
          <a:lstStyle/>
          <a:p>
            <a:pPr marL="0" indent="0">
              <a:buNone/>
            </a:pPr>
            <a:r>
              <a:rPr lang="ru-RU" dirty="0"/>
              <a:t>Самым распространенным применением газового разряда в технике является электрическая дуга, которая используется для электросварки и </a:t>
            </a:r>
            <a:r>
              <a:rPr lang="ru-RU" dirty="0" smtClean="0"/>
              <a:t>освещения</a:t>
            </a:r>
            <a:r>
              <a:rPr lang="en-US" dirty="0" smtClean="0"/>
              <a:t>.</a:t>
            </a:r>
          </a:p>
          <a:p>
            <a:pPr marL="0" indent="0">
              <a:buNone/>
            </a:pPr>
            <a:r>
              <a:rPr lang="ru-RU" dirty="0"/>
              <a:t>Впервые электрическая дуга была получена в 1802 году русским физиком Петровым, а первое освещение улиц с помощью дуговых ламп было предложено и спроектировано русским инженером Яблочковым</a:t>
            </a:r>
          </a:p>
        </p:txBody>
      </p:sp>
      <p:pic>
        <p:nvPicPr>
          <p:cNvPr id="1026" name="Picture 2" descr="https://static-interneturok.cdnvideo.ru/content/konspekt_image/94623/12623540_73fa_0131_6fba_12313d221ea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6754" y="4152797"/>
            <a:ext cx="2066925" cy="18002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static-interneturok.cdnvideo.ru/content/konspekt_image/94624/13f09820_73fa_0131_6fbb_12313d221ea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4655" y="3949472"/>
            <a:ext cx="1914525" cy="24003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static-interneturok.cdnvideo.ru/content/konspekt_image/94625/157ea510_73fa_0131_6fbc_12313d221ea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6838" y="3949471"/>
            <a:ext cx="1676400" cy="24003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993821" y="6349773"/>
            <a:ext cx="3293594" cy="369332"/>
          </a:xfrm>
          <a:prstGeom prst="rect">
            <a:avLst/>
          </a:prstGeom>
          <a:noFill/>
        </p:spPr>
        <p:txBody>
          <a:bodyPr wrap="none" rtlCol="0">
            <a:spAutoFit/>
          </a:bodyPr>
          <a:lstStyle/>
          <a:p>
            <a:r>
              <a:rPr lang="ru-RU" dirty="0"/>
              <a:t>Василий Владимирович Петров</a:t>
            </a:r>
          </a:p>
        </p:txBody>
      </p:sp>
      <p:sp>
        <p:nvSpPr>
          <p:cNvPr id="5" name="TextBox 4"/>
          <p:cNvSpPr txBox="1"/>
          <p:nvPr/>
        </p:nvSpPr>
        <p:spPr>
          <a:xfrm>
            <a:off x="5408742" y="6349773"/>
            <a:ext cx="2994987" cy="646331"/>
          </a:xfrm>
          <a:prstGeom prst="rect">
            <a:avLst/>
          </a:prstGeom>
          <a:noFill/>
        </p:spPr>
        <p:txBody>
          <a:bodyPr wrap="none" rtlCol="0">
            <a:spAutoFit/>
          </a:bodyPr>
          <a:lstStyle/>
          <a:p>
            <a:r>
              <a:rPr lang="ru-RU" dirty="0" smtClean="0"/>
              <a:t>Павел Николаевич </a:t>
            </a:r>
            <a:r>
              <a:rPr lang="ru-RU" dirty="0"/>
              <a:t>Яблочков</a:t>
            </a:r>
            <a:endParaRPr lang="ru-RU" dirty="0"/>
          </a:p>
          <a:p>
            <a:endParaRPr lang="ru-RU" dirty="0"/>
          </a:p>
        </p:txBody>
      </p:sp>
    </p:spTree>
    <p:extLst>
      <p:ext uri="{BB962C8B-B14F-4D97-AF65-F5344CB8AC3E}">
        <p14:creationId xmlns:p14="http://schemas.microsoft.com/office/powerpoint/2010/main" val="4133007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5A8E14-663F-4F21-9345-AAAB365350E4}"/>
              </a:ext>
            </a:extLst>
          </p:cNvPr>
          <p:cNvSpPr>
            <a:spLocks noGrp="1"/>
          </p:cNvSpPr>
          <p:nvPr>
            <p:ph type="title"/>
          </p:nvPr>
        </p:nvSpPr>
        <p:spPr/>
        <p:txBody>
          <a:bodyPr>
            <a:normAutofit/>
          </a:bodyPr>
          <a:lstStyle/>
          <a:p>
            <a:r>
              <a:rPr lang="ru-RU" sz="3200" dirty="0"/>
              <a:t>Плазма</a:t>
            </a:r>
          </a:p>
        </p:txBody>
      </p:sp>
      <p:sp>
        <p:nvSpPr>
          <p:cNvPr id="3" name="Объект 2">
            <a:extLst>
              <a:ext uri="{FF2B5EF4-FFF2-40B4-BE49-F238E27FC236}">
                <a16:creationId xmlns:a16="http://schemas.microsoft.com/office/drawing/2014/main" id="{E3D812C3-87DA-4C80-B0E1-31AFFBBF702C}"/>
              </a:ext>
            </a:extLst>
          </p:cNvPr>
          <p:cNvSpPr>
            <a:spLocks noGrp="1"/>
          </p:cNvSpPr>
          <p:nvPr>
            <p:ph idx="1"/>
          </p:nvPr>
        </p:nvSpPr>
        <p:spPr/>
        <p:txBody>
          <a:bodyPr>
            <a:normAutofit/>
          </a:bodyPr>
          <a:lstStyle/>
          <a:p>
            <a:pPr marL="0" indent="0">
              <a:buNone/>
            </a:pPr>
            <a:r>
              <a:rPr lang="ru-RU" dirty="0"/>
              <a:t>Газ в обычном своем состоянии является диэлектриком, так как в нем мало свободных носителей заряда. Однако, как мы уже знаем, при ионизации газа он может уже проводить электрический ток. Также нам известно, что при увеличении температуры степень ионизации значительно повышается. И возможно достигнуть так называемого четвертого состояния вещества – плазмы.</a:t>
            </a:r>
          </a:p>
          <a:p>
            <a:pPr marL="0" indent="0">
              <a:buNone/>
            </a:pPr>
            <a:r>
              <a:rPr lang="ru-RU" b="1" u="sng" dirty="0"/>
              <a:t>Плазма</a:t>
            </a:r>
            <a:r>
              <a:rPr lang="ru-RU" dirty="0"/>
              <a:t> – состояние вещества, когда в целом оно электронейтрально, но содержит в свободном состоянии и положительно, и отрицательно заряженные носители заряда.</a:t>
            </a:r>
          </a:p>
          <a:p>
            <a:pPr marL="0" indent="0">
              <a:buNone/>
            </a:pPr>
            <a:r>
              <a:rPr lang="ru-RU" dirty="0"/>
              <a:t>Плазма по степени ионизации делится на:</a:t>
            </a:r>
          </a:p>
          <a:p>
            <a:r>
              <a:rPr lang="ru-RU" dirty="0"/>
              <a:t>Частично ионизованную</a:t>
            </a:r>
          </a:p>
          <a:p>
            <a:r>
              <a:rPr lang="ru-RU" dirty="0"/>
              <a:t>Средне ионизованную</a:t>
            </a:r>
          </a:p>
          <a:p>
            <a:r>
              <a:rPr lang="ru-RU" dirty="0"/>
              <a:t>Полностью ионизованную</a:t>
            </a:r>
          </a:p>
        </p:txBody>
      </p:sp>
      <p:pic>
        <p:nvPicPr>
          <p:cNvPr id="6146" name="Picture 2">
            <a:extLst>
              <a:ext uri="{FF2B5EF4-FFF2-40B4-BE49-F238E27FC236}">
                <a16:creationId xmlns:a16="http://schemas.microsoft.com/office/drawing/2014/main" id="{F4B99528-E658-427C-926A-47094DCE7052}"/>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6096000" y="4331564"/>
            <a:ext cx="2490186" cy="1660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8831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BE67F1-D394-41F8-8EF1-05C6B8BD2691}"/>
              </a:ext>
            </a:extLst>
          </p:cNvPr>
          <p:cNvSpPr>
            <a:spLocks noGrp="1"/>
          </p:cNvSpPr>
          <p:nvPr>
            <p:ph type="title"/>
          </p:nvPr>
        </p:nvSpPr>
        <p:spPr/>
        <p:txBody>
          <a:bodyPr>
            <a:normAutofit/>
          </a:bodyPr>
          <a:lstStyle/>
          <a:p>
            <a:r>
              <a:rPr lang="ru-RU" sz="3200" dirty="0"/>
              <a:t>Плазма</a:t>
            </a:r>
          </a:p>
        </p:txBody>
      </p:sp>
      <p:sp>
        <p:nvSpPr>
          <p:cNvPr id="3" name="Объект 2">
            <a:extLst>
              <a:ext uri="{FF2B5EF4-FFF2-40B4-BE49-F238E27FC236}">
                <a16:creationId xmlns:a16="http://schemas.microsoft.com/office/drawing/2014/main" id="{5E4CF77B-7CED-4CC6-8056-ECF82B9F60F9}"/>
              </a:ext>
            </a:extLst>
          </p:cNvPr>
          <p:cNvSpPr>
            <a:spLocks noGrp="1"/>
          </p:cNvSpPr>
          <p:nvPr>
            <p:ph idx="1"/>
          </p:nvPr>
        </p:nvSpPr>
        <p:spPr/>
        <p:txBody>
          <a:bodyPr>
            <a:normAutofit/>
          </a:bodyPr>
          <a:lstStyle/>
          <a:p>
            <a:pPr marL="0" indent="0">
              <a:buNone/>
            </a:pPr>
            <a:r>
              <a:rPr lang="ru-RU" dirty="0"/>
              <a:t>Также существует деление по температурам:</a:t>
            </a:r>
          </a:p>
          <a:p>
            <a:r>
              <a:rPr lang="ru-RU" dirty="0"/>
              <a:t>Низкотемпературная плазма (температуры порядка тысяч градусов)</a:t>
            </a:r>
          </a:p>
          <a:p>
            <a:r>
              <a:rPr lang="ru-RU" dirty="0"/>
              <a:t>Высокотемпературная плазма (температуры порядка миллиона градусов)</a:t>
            </a:r>
          </a:p>
          <a:p>
            <a:pPr marL="0" indent="0">
              <a:buNone/>
            </a:pPr>
            <a:r>
              <a:rPr lang="ru-RU" dirty="0"/>
              <a:t>Плазма обладает рядом свойств, которые отличают ее, например, от обычного ионизированного газа:</a:t>
            </a:r>
          </a:p>
          <a:p>
            <a:r>
              <a:rPr lang="ru-RU" dirty="0"/>
              <a:t>В плазме находится большое количество заряженных частиц, и они достаточно подвижны</a:t>
            </a:r>
          </a:p>
          <a:p>
            <a:r>
              <a:rPr lang="ru-RU" dirty="0"/>
              <a:t>Выравнивание зарядов плазмы происходит достаточно быстро, поэтому могут легко возбуждаться колебания и волны</a:t>
            </a:r>
          </a:p>
          <a:p>
            <a:r>
              <a:rPr lang="ru-RU" dirty="0"/>
              <a:t>У плазмы чрезвычайно высокая электропроводность, что делает ее практически сверхпроводником</a:t>
            </a:r>
          </a:p>
        </p:txBody>
      </p:sp>
    </p:spTree>
    <p:extLst>
      <p:ext uri="{BB962C8B-B14F-4D97-AF65-F5344CB8AC3E}">
        <p14:creationId xmlns:p14="http://schemas.microsoft.com/office/powerpoint/2010/main" val="33285511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13E97E-7C29-410C-AD61-98D122C27928}"/>
              </a:ext>
            </a:extLst>
          </p:cNvPr>
          <p:cNvSpPr>
            <a:spLocks noGrp="1"/>
          </p:cNvSpPr>
          <p:nvPr>
            <p:ph type="title"/>
          </p:nvPr>
        </p:nvSpPr>
        <p:spPr/>
        <p:txBody>
          <a:bodyPr>
            <a:normAutofit/>
          </a:bodyPr>
          <a:lstStyle/>
          <a:p>
            <a:r>
              <a:rPr lang="ru-RU" sz="3200" dirty="0"/>
              <a:t>Применение плазмы</a:t>
            </a:r>
          </a:p>
        </p:txBody>
      </p:sp>
      <p:sp>
        <p:nvSpPr>
          <p:cNvPr id="3" name="Объект 2">
            <a:extLst>
              <a:ext uri="{FF2B5EF4-FFF2-40B4-BE49-F238E27FC236}">
                <a16:creationId xmlns:a16="http://schemas.microsoft.com/office/drawing/2014/main" id="{B670E54D-9A4D-491B-908B-18CEA8E69B58}"/>
              </a:ext>
            </a:extLst>
          </p:cNvPr>
          <p:cNvSpPr>
            <a:spLocks noGrp="1"/>
          </p:cNvSpPr>
          <p:nvPr>
            <p:ph idx="1"/>
          </p:nvPr>
        </p:nvSpPr>
        <p:spPr>
          <a:xfrm>
            <a:off x="685802" y="1953088"/>
            <a:ext cx="7295224" cy="4295312"/>
          </a:xfrm>
        </p:spPr>
        <p:txBody>
          <a:bodyPr>
            <a:normAutofit/>
          </a:bodyPr>
          <a:lstStyle/>
          <a:p>
            <a:pPr marL="0" indent="0">
              <a:buNone/>
            </a:pPr>
            <a:r>
              <a:rPr lang="ru-RU" dirty="0"/>
              <a:t>Плазма находит очень широкое применение в современной науке и технике. Низкотемпературная плазма используется в первую очередь в лампах рекламных вывесок</a:t>
            </a:r>
          </a:p>
          <a:p>
            <a:pPr marL="0" indent="0">
              <a:buNone/>
            </a:pPr>
            <a:r>
              <a:rPr lang="ru-RU" dirty="0"/>
              <a:t>Высокотемпературная плазма применяется в таких устройствах, как магнитогидродинамический генератор, плазмотрон (для резки и сварки твердых материалов)</a:t>
            </a:r>
          </a:p>
          <a:p>
            <a:pPr marL="0" indent="0">
              <a:buNone/>
            </a:pPr>
            <a:r>
              <a:rPr lang="ru-RU" dirty="0"/>
              <a:t>Также плазма используется в различных реактивных двигателях, так как с ее помощью можно достигать огромных реактивных скоростей порядка </a:t>
            </a:r>
            <a:r>
              <a:rPr lang="en-US" sz="1800" dirty="0">
                <a:effectLst/>
                <a:latin typeface="Calibri" panose="020F0502020204030204" pitchFamily="34" charset="0"/>
                <a:ea typeface="Calibri" panose="020F0502020204030204" pitchFamily="34" charset="0"/>
                <a:cs typeface="Times New Roman" panose="02020603050405020304" pitchFamily="18" charset="0"/>
              </a:rPr>
              <a:t>10</a:t>
            </a:r>
            <a:r>
              <a:rPr lang="en-US" sz="1800" baseline="30000" dirty="0">
                <a:effectLst/>
                <a:latin typeface="Calibri" panose="020F0502020204030204" pitchFamily="34" charset="0"/>
                <a:ea typeface="Calibri" panose="020F0502020204030204" pitchFamily="34" charset="0"/>
                <a:cs typeface="Times New Roman" panose="02020603050405020304" pitchFamily="18" charset="0"/>
              </a:rPr>
              <a:t>5</a:t>
            </a:r>
            <a:r>
              <a:rPr lang="ru-RU" sz="1800" dirty="0">
                <a:effectLst/>
                <a:latin typeface="Calibri" panose="020F0502020204030204" pitchFamily="34" charset="0"/>
                <a:ea typeface="Calibri" panose="020F0502020204030204" pitchFamily="34" charset="0"/>
                <a:cs typeface="Times New Roman" panose="02020603050405020304" pitchFamily="18" charset="0"/>
              </a:rPr>
              <a:t> м</a:t>
            </a:r>
            <a:r>
              <a:rPr lang="en-US" sz="1800" dirty="0">
                <a:effectLst/>
                <a:latin typeface="Calibri" panose="020F0502020204030204" pitchFamily="34" charset="0"/>
                <a:ea typeface="Calibri" panose="020F0502020204030204" pitchFamily="34" charset="0"/>
                <a:cs typeface="Times New Roman" panose="02020603050405020304" pitchFamily="18" charset="0"/>
              </a:rPr>
              <a:t>/c. </a:t>
            </a:r>
            <a:r>
              <a:rPr lang="ru-RU" dirty="0"/>
              <a:t>Благодаря высокой своей температуре, плазма используется как катализатор для некоторых химических реакций, протекающих только при такой температуре.</a:t>
            </a:r>
          </a:p>
        </p:txBody>
      </p:sp>
      <p:pic>
        <p:nvPicPr>
          <p:cNvPr id="7170" name="Picture 2">
            <a:extLst>
              <a:ext uri="{FF2B5EF4-FFF2-40B4-BE49-F238E27FC236}">
                <a16:creationId xmlns:a16="http://schemas.microsoft.com/office/drawing/2014/main" id="{EF01F910-7045-4DE0-94CA-080091A196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8304" y="806114"/>
            <a:ext cx="2276475" cy="200977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AB37646B-4DA4-41BD-9216-1833F41302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5975" y="2913754"/>
            <a:ext cx="2381250" cy="180022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97EF661E-560B-4793-B069-C2E81C9FC3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3588" y="4811844"/>
            <a:ext cx="2486025"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9143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a:t>Электрический ток в </a:t>
            </a:r>
            <a:r>
              <a:rPr lang="ru-RU" sz="3200" dirty="0" smtClean="0"/>
              <a:t>жидкостях</a:t>
            </a:r>
            <a:endParaRPr lang="ru-RU" sz="3200" dirty="0"/>
          </a:p>
        </p:txBody>
      </p:sp>
      <p:sp>
        <p:nvSpPr>
          <p:cNvPr id="3" name="Объект 2"/>
          <p:cNvSpPr>
            <a:spLocks noGrp="1"/>
          </p:cNvSpPr>
          <p:nvPr>
            <p:ph idx="1"/>
          </p:nvPr>
        </p:nvSpPr>
        <p:spPr>
          <a:xfrm>
            <a:off x="685801" y="1913467"/>
            <a:ext cx="8510953" cy="4522502"/>
          </a:xfrm>
        </p:spPr>
        <p:txBody>
          <a:bodyPr/>
          <a:lstStyle/>
          <a:p>
            <a:pPr marL="0" indent="0">
              <a:buNone/>
            </a:pPr>
            <a:r>
              <a:rPr lang="ru-RU" dirty="0" smtClean="0"/>
              <a:t>Речь </a:t>
            </a:r>
            <a:r>
              <a:rPr lang="ru-RU" dirty="0"/>
              <a:t>пойдет о </a:t>
            </a:r>
            <a:r>
              <a:rPr lang="ru-RU" dirty="0" smtClean="0"/>
              <a:t>жидкостях-проводниках </a:t>
            </a:r>
            <a:r>
              <a:rPr lang="ru-RU" dirty="0"/>
              <a:t>второго рода (растворы и расплавы солей, кислот, оснований). Тип проводимости таких проводников – ионный.</a:t>
            </a:r>
          </a:p>
          <a:p>
            <a:pPr marL="0" indent="0">
              <a:buNone/>
            </a:pPr>
            <a:r>
              <a:rPr lang="ru-RU" b="1" u="sng" dirty="0" smtClean="0"/>
              <a:t>Проводники </a:t>
            </a:r>
            <a:r>
              <a:rPr lang="ru-RU" b="1" u="sng" dirty="0"/>
              <a:t>второго рода </a:t>
            </a:r>
            <a:r>
              <a:rPr lang="ru-RU" dirty="0"/>
              <a:t>– такие проводники, в которых при протекании тока происходят химические процессы</a:t>
            </a:r>
            <a:r>
              <a:rPr lang="ru-RU" dirty="0" smtClean="0"/>
              <a:t>.</a:t>
            </a:r>
          </a:p>
          <a:p>
            <a:pPr marL="0" indent="0">
              <a:buNone/>
            </a:pPr>
            <a:r>
              <a:rPr lang="ru-RU" dirty="0"/>
              <a:t>Для лучшего понимания процесса проводимости тока в жидкостях, можно представить следующий опыт: В ванну с водой поместили два электрода, подключенные к источнику тока, в цепи в качестве индикатора тока можно взять лампочку. Если замкнуть такую цепь, лампа гореть не будет, что означает отсутствие тока, а это значит, что в цепи есть разрыв, и вода сама по себе ток не проводит. Но если в ванную поместить некоторое </a:t>
            </a:r>
            <a:r>
              <a:rPr lang="ru-RU" dirty="0" smtClean="0"/>
              <a:t>количество </a:t>
            </a:r>
            <a:r>
              <a:rPr lang="ru-RU" dirty="0"/>
              <a:t>поваренной соли – и повторить замыкание, то лампочка загорится. Это значит, что в ванной между катодом и анодом начали двигаться свободные носители заряда, в данном случае ионы</a:t>
            </a:r>
          </a:p>
          <a:p>
            <a:pPr marL="0" indent="0">
              <a:buNone/>
            </a:pPr>
            <a:endParaRPr lang="ru-RU" dirty="0"/>
          </a:p>
        </p:txBody>
      </p:sp>
      <p:pic>
        <p:nvPicPr>
          <p:cNvPr id="2052" name="Picture 4" descr="https://static-interneturok.cdnvideo.ru/content/konspekt_image/94597/4d4bff90_73f9_0131_6fa0_12313d221ea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5083" y="2655643"/>
            <a:ext cx="1914525" cy="1781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49965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t>Электролиз</a:t>
            </a:r>
            <a:endParaRPr lang="ru-RU" sz="3200" dirty="0"/>
          </a:p>
        </p:txBody>
      </p:sp>
      <p:sp>
        <p:nvSpPr>
          <p:cNvPr id="3" name="Объект 2"/>
          <p:cNvSpPr>
            <a:spLocks noGrp="1"/>
          </p:cNvSpPr>
          <p:nvPr>
            <p:ph idx="1"/>
          </p:nvPr>
        </p:nvSpPr>
        <p:spPr>
          <a:xfrm>
            <a:off x="685801" y="2142067"/>
            <a:ext cx="8510953" cy="3649133"/>
          </a:xfrm>
        </p:spPr>
        <p:txBody>
          <a:bodyPr/>
          <a:lstStyle/>
          <a:p>
            <a:pPr marL="0" indent="0">
              <a:buNone/>
            </a:pPr>
            <a:r>
              <a:rPr lang="ru-RU" dirty="0" smtClean="0"/>
              <a:t>Так </a:t>
            </a:r>
            <a:r>
              <a:rPr lang="ru-RU" dirty="0"/>
              <a:t>как протекание тока в жидкостях связано с переносом вещества, при таком токе имеет место </a:t>
            </a:r>
            <a:r>
              <a:rPr lang="ru-RU" dirty="0" smtClean="0"/>
              <a:t>процесс </a:t>
            </a:r>
            <a:r>
              <a:rPr lang="ru-RU" dirty="0"/>
              <a:t>электролиза</a:t>
            </a:r>
            <a:r>
              <a:rPr lang="ru-RU" dirty="0" smtClean="0"/>
              <a:t>.</a:t>
            </a:r>
          </a:p>
          <a:p>
            <a:pPr marL="0" indent="0">
              <a:buNone/>
            </a:pPr>
            <a:r>
              <a:rPr lang="ru-RU" b="1" u="sng" dirty="0" smtClean="0"/>
              <a:t>Электролиз</a:t>
            </a:r>
            <a:r>
              <a:rPr lang="ru-RU" dirty="0" smtClean="0"/>
              <a:t> </a:t>
            </a:r>
            <a:r>
              <a:rPr lang="ru-RU" dirty="0"/>
              <a:t>– процесс, связанный с окислительно-восстановительными реакциями, при которых на электродах выделяется вещество.</a:t>
            </a:r>
          </a:p>
          <a:p>
            <a:pPr marL="0" indent="0">
              <a:buNone/>
            </a:pPr>
            <a:r>
              <a:rPr lang="ru-RU" dirty="0"/>
              <a:t>Вещества, которые в результате подобных расщеплений обеспечивают ионную проводимость, называются электролитами. Такое название предложил английский физик Майкл </a:t>
            </a:r>
            <a:r>
              <a:rPr lang="ru-RU" dirty="0" smtClean="0"/>
              <a:t>Фарадей</a:t>
            </a:r>
          </a:p>
          <a:p>
            <a:pPr marL="0" indent="0">
              <a:buNone/>
            </a:pPr>
            <a:r>
              <a:rPr lang="ru-RU" dirty="0"/>
              <a:t>Электролиз позволяет получать из растворов вещества в достаточно чистом виде, поэтому его применяют для получения редких материалов, как натрий, кальций… в чистом виде. Этим занимается так называемая электролитическая металлургия.</a:t>
            </a:r>
            <a:endParaRPr lang="ru-RU" dirty="0"/>
          </a:p>
        </p:txBody>
      </p:sp>
      <p:pic>
        <p:nvPicPr>
          <p:cNvPr id="3076" name="Picture 4" descr="https://static-interneturok.cdnvideo.ru/content/konspekt_image/94600/51f408d0_73f9_0131_6fa3_12313d221ea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0930" y="2672536"/>
            <a:ext cx="1628775" cy="230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1231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a:t>Законы Фарадея</a:t>
            </a:r>
          </a:p>
        </p:txBody>
      </p:sp>
      <p:sp>
        <p:nvSpPr>
          <p:cNvPr id="3" name="Объект 2"/>
          <p:cNvSpPr>
            <a:spLocks noGrp="1"/>
          </p:cNvSpPr>
          <p:nvPr>
            <p:ph idx="1"/>
          </p:nvPr>
        </p:nvSpPr>
        <p:spPr>
          <a:xfrm>
            <a:off x="685800" y="1698599"/>
            <a:ext cx="10131425" cy="4536830"/>
          </a:xfrm>
        </p:spPr>
        <p:txBody>
          <a:bodyPr>
            <a:normAutofit/>
          </a:bodyPr>
          <a:lstStyle/>
          <a:p>
            <a:pPr marL="0" indent="0">
              <a:buNone/>
            </a:pPr>
            <a:r>
              <a:rPr lang="ru-RU" dirty="0"/>
              <a:t>В первой работе по  электролизу 1833 года Фарадей представил свои два закона электролиза. В первом речь шла о массе вещества, выделяющегося на электродах</a:t>
            </a:r>
            <a:r>
              <a:rPr lang="ru-RU" dirty="0" smtClean="0"/>
              <a:t>:</a:t>
            </a:r>
            <a:endParaRPr lang="en-US" dirty="0"/>
          </a:p>
          <a:p>
            <a:pPr marL="0" indent="0">
              <a:buNone/>
            </a:pPr>
            <a:endParaRPr lang="ru-RU" dirty="0" smtClean="0"/>
          </a:p>
          <a:p>
            <a:pPr marL="0" indent="0">
              <a:buNone/>
            </a:pPr>
            <a:r>
              <a:rPr lang="ru-RU" b="1" u="sng" dirty="0"/>
              <a:t>Первый закон Фарадея </a:t>
            </a:r>
            <a:r>
              <a:rPr lang="ru-RU" dirty="0"/>
              <a:t>гласит, что эта масса пропорциональна заряду, прошедшему через электролит</a:t>
            </a:r>
            <a:r>
              <a:rPr lang="ru-RU" dirty="0" smtClean="0"/>
              <a:t>:</a:t>
            </a:r>
            <a:endParaRPr lang="en-US" dirty="0" smtClean="0"/>
          </a:p>
          <a:p>
            <a:pPr marL="0" indent="0">
              <a:buNone/>
            </a:pPr>
            <a:endParaRPr lang="ru-RU" dirty="0" smtClean="0"/>
          </a:p>
          <a:p>
            <a:pPr marL="0" indent="0">
              <a:buNone/>
            </a:pPr>
            <a:r>
              <a:rPr lang="ru-RU" dirty="0"/>
              <a:t>Здесь роль коэффициента пропорциональности играет </a:t>
            </a:r>
            <a:r>
              <a:rPr lang="ru-RU" dirty="0" smtClean="0"/>
              <a:t>величина </a:t>
            </a:r>
            <a:r>
              <a:rPr lang="en-US" dirty="0" smtClean="0"/>
              <a:t>k - </a:t>
            </a:r>
            <a:r>
              <a:rPr lang="ru-RU" dirty="0"/>
              <a:t>электрохимический эквивалент. Это табличная величина, которая уникальна для каждого электролита и является его главной характеристикой</a:t>
            </a:r>
            <a:r>
              <a:rPr lang="ru-RU" dirty="0" smtClean="0"/>
              <a:t>.</a:t>
            </a:r>
            <a:endParaRPr lang="en-US" dirty="0" smtClean="0"/>
          </a:p>
          <a:p>
            <a:pPr marL="0" indent="0">
              <a:buNone/>
            </a:pPr>
            <a:r>
              <a:rPr lang="ru-RU" dirty="0"/>
              <a:t>Физический смысл электрохимического эквивалента – масса, выделившаяся на электроде при прохождении через электролит количества электричества в 1 Кл</a:t>
            </a:r>
            <a:r>
              <a:rPr lang="ru-RU" dirty="0" smtClean="0"/>
              <a:t>.</a:t>
            </a:r>
          </a:p>
        </p:txBody>
      </p:sp>
      <p:pic>
        <p:nvPicPr>
          <p:cNvPr id="4" name="Рисунок 3"/>
          <p:cNvPicPr>
            <a:picLocks noChangeAspect="1"/>
          </p:cNvPicPr>
          <p:nvPr/>
        </p:nvPicPr>
        <p:blipFill>
          <a:blip r:embed="rId2"/>
          <a:stretch>
            <a:fillRect/>
          </a:stretch>
        </p:blipFill>
        <p:spPr>
          <a:xfrm>
            <a:off x="7665854" y="2512665"/>
            <a:ext cx="1591829" cy="436972"/>
          </a:xfrm>
          <a:prstGeom prst="rect">
            <a:avLst/>
          </a:prstGeom>
        </p:spPr>
      </p:pic>
      <p:pic>
        <p:nvPicPr>
          <p:cNvPr id="5" name="Рисунок 4"/>
          <p:cNvPicPr>
            <a:picLocks noChangeAspect="1"/>
          </p:cNvPicPr>
          <p:nvPr/>
        </p:nvPicPr>
        <p:blipFill>
          <a:blip r:embed="rId3"/>
          <a:stretch>
            <a:fillRect/>
          </a:stretch>
        </p:blipFill>
        <p:spPr>
          <a:xfrm>
            <a:off x="2166833" y="3631082"/>
            <a:ext cx="1489421" cy="519566"/>
          </a:xfrm>
          <a:prstGeom prst="rect">
            <a:avLst/>
          </a:prstGeom>
        </p:spPr>
      </p:pic>
    </p:spTree>
    <p:extLst>
      <p:ext uri="{BB962C8B-B14F-4D97-AF65-F5344CB8AC3E}">
        <p14:creationId xmlns:p14="http://schemas.microsoft.com/office/powerpoint/2010/main" val="23528572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a:t>Законы Фарадея</a:t>
            </a:r>
          </a:p>
        </p:txBody>
      </p:sp>
      <p:sp>
        <p:nvSpPr>
          <p:cNvPr id="3" name="Объект 2"/>
          <p:cNvSpPr>
            <a:spLocks noGrp="1"/>
          </p:cNvSpPr>
          <p:nvPr>
            <p:ph idx="1"/>
          </p:nvPr>
        </p:nvSpPr>
        <p:spPr/>
        <p:txBody>
          <a:bodyPr/>
          <a:lstStyle/>
          <a:p>
            <a:pPr marL="0" indent="0">
              <a:buNone/>
            </a:pPr>
            <a:r>
              <a:rPr lang="ru-RU" b="1" u="sng" dirty="0"/>
              <a:t>Второй закон Фарадея </a:t>
            </a:r>
            <a:r>
              <a:rPr lang="ru-RU" dirty="0"/>
              <a:t>непосредственно касается измерения электрохимического эквивалента через другие константы для конкретно взятого электролита</a:t>
            </a:r>
            <a:r>
              <a:rPr lang="ru-RU" dirty="0" smtClean="0"/>
              <a:t>:</a:t>
            </a:r>
            <a:endParaRPr lang="en-US" dirty="0" smtClean="0"/>
          </a:p>
          <a:p>
            <a:pPr marL="0" indent="0">
              <a:buNone/>
            </a:pPr>
            <a:endParaRPr lang="en-US" dirty="0" smtClean="0"/>
          </a:p>
          <a:p>
            <a:pPr marL="0" indent="0">
              <a:buNone/>
            </a:pPr>
            <a:r>
              <a:rPr lang="ru-RU" dirty="0" smtClean="0"/>
              <a:t>Здесь:</a:t>
            </a:r>
            <a:r>
              <a:rPr lang="en-US" dirty="0" smtClean="0"/>
              <a:t> M - </a:t>
            </a:r>
            <a:r>
              <a:rPr lang="ru-RU" dirty="0" smtClean="0"/>
              <a:t>молярная масса электролита;</a:t>
            </a:r>
            <a:r>
              <a:rPr lang="en-US" dirty="0" smtClean="0"/>
              <a:t> e - </a:t>
            </a:r>
            <a:r>
              <a:rPr lang="ru-RU" dirty="0" smtClean="0"/>
              <a:t>элементарный заряд;</a:t>
            </a:r>
            <a:r>
              <a:rPr lang="en-US" dirty="0" smtClean="0"/>
              <a:t> n - </a:t>
            </a:r>
            <a:r>
              <a:rPr lang="ru-RU" dirty="0" smtClean="0"/>
              <a:t>валентность электролита;</a:t>
            </a:r>
            <a:r>
              <a:rPr lang="en-US" dirty="0"/>
              <a:t/>
            </a:r>
            <a:br>
              <a:rPr lang="en-US" dirty="0"/>
            </a:br>
            <a:r>
              <a:rPr lang="en-US" dirty="0" smtClean="0"/>
              <a:t>N</a:t>
            </a:r>
            <a:r>
              <a:rPr lang="en-US" baseline="-25000" dirty="0" smtClean="0"/>
              <a:t>a </a:t>
            </a:r>
            <a:r>
              <a:rPr lang="en-US" dirty="0" smtClean="0"/>
              <a:t> </a:t>
            </a:r>
            <a:r>
              <a:rPr lang="ru-RU" dirty="0" smtClean="0"/>
              <a:t>– число Авогадро. </a:t>
            </a:r>
            <a:r>
              <a:rPr lang="en-US" dirty="0" smtClean="0"/>
              <a:t/>
            </a:r>
            <a:br>
              <a:rPr lang="en-US" dirty="0" smtClean="0"/>
            </a:br>
            <a:r>
              <a:rPr lang="en-US" dirty="0" smtClean="0"/>
              <a:t/>
            </a:r>
            <a:br>
              <a:rPr lang="en-US" dirty="0" smtClean="0"/>
            </a:br>
            <a:r>
              <a:rPr lang="ru-RU" dirty="0" smtClean="0"/>
              <a:t>Величина </a:t>
            </a:r>
            <a:r>
              <a:rPr lang="en-US" dirty="0" smtClean="0"/>
              <a:t>         </a:t>
            </a:r>
            <a:r>
              <a:rPr lang="ru-RU" dirty="0" smtClean="0"/>
              <a:t>называется </a:t>
            </a:r>
            <a:r>
              <a:rPr lang="ru-RU" dirty="0"/>
              <a:t>химическим эквивалентом электролита. То есть, для того чтобы знать </a:t>
            </a:r>
            <a:r>
              <a:rPr lang="en-US" dirty="0" smtClean="0"/>
              <a:t/>
            </a:r>
            <a:br>
              <a:rPr lang="en-US" dirty="0" smtClean="0"/>
            </a:br>
            <a:r>
              <a:rPr lang="en-US" dirty="0" smtClean="0"/>
              <a:t/>
            </a:r>
            <a:br>
              <a:rPr lang="en-US" dirty="0" smtClean="0"/>
            </a:br>
            <a:r>
              <a:rPr lang="ru-RU" dirty="0" smtClean="0"/>
              <a:t>электрохимический </a:t>
            </a:r>
            <a:r>
              <a:rPr lang="ru-RU" dirty="0"/>
              <a:t>эквивалент, достаточно знать химический эквивалент, остальные составляющие формулы являются мировыми константами</a:t>
            </a:r>
            <a:r>
              <a:rPr lang="ru-RU" dirty="0" smtClean="0"/>
              <a:t>.</a:t>
            </a:r>
            <a:endParaRPr lang="en-US" dirty="0" smtClean="0"/>
          </a:p>
          <a:p>
            <a:pPr marL="0" indent="0">
              <a:buNone/>
            </a:pPr>
            <a:r>
              <a:rPr lang="ru-RU" dirty="0"/>
              <a:t>Исходя из второго закона Фарадея, первый закон можно представить в виде</a:t>
            </a:r>
            <a:r>
              <a:rPr lang="ru-RU" dirty="0" smtClean="0"/>
              <a:t>:</a:t>
            </a:r>
            <a:endParaRPr lang="en-US" dirty="0" smtClean="0"/>
          </a:p>
          <a:p>
            <a:pPr marL="0" indent="0">
              <a:buNone/>
            </a:pPr>
            <a:endParaRPr lang="ru-RU" dirty="0"/>
          </a:p>
        </p:txBody>
      </p:sp>
      <p:pic>
        <p:nvPicPr>
          <p:cNvPr id="4" name="Рисунок 3"/>
          <p:cNvPicPr>
            <a:picLocks noChangeAspect="1"/>
          </p:cNvPicPr>
          <p:nvPr/>
        </p:nvPicPr>
        <p:blipFill>
          <a:blip r:embed="rId2"/>
          <a:stretch>
            <a:fillRect/>
          </a:stretch>
        </p:blipFill>
        <p:spPr>
          <a:xfrm>
            <a:off x="6256023" y="2479232"/>
            <a:ext cx="1167234" cy="589283"/>
          </a:xfrm>
          <a:prstGeom prst="rect">
            <a:avLst/>
          </a:prstGeom>
        </p:spPr>
      </p:pic>
      <p:pic>
        <p:nvPicPr>
          <p:cNvPr id="6" name="Рисунок 5"/>
          <p:cNvPicPr>
            <a:picLocks noChangeAspect="1"/>
          </p:cNvPicPr>
          <p:nvPr/>
        </p:nvPicPr>
        <p:blipFill>
          <a:blip r:embed="rId3"/>
          <a:stretch>
            <a:fillRect/>
          </a:stretch>
        </p:blipFill>
        <p:spPr>
          <a:xfrm>
            <a:off x="1792515" y="3899742"/>
            <a:ext cx="370391" cy="483118"/>
          </a:xfrm>
          <a:prstGeom prst="rect">
            <a:avLst/>
          </a:prstGeom>
        </p:spPr>
      </p:pic>
      <p:pic>
        <p:nvPicPr>
          <p:cNvPr id="7" name="Рисунок 6"/>
          <p:cNvPicPr>
            <a:picLocks noChangeAspect="1"/>
          </p:cNvPicPr>
          <p:nvPr/>
        </p:nvPicPr>
        <p:blipFill>
          <a:blip r:embed="rId4"/>
          <a:stretch>
            <a:fillRect/>
          </a:stretch>
        </p:blipFill>
        <p:spPr>
          <a:xfrm>
            <a:off x="8470921" y="5095472"/>
            <a:ext cx="1457528" cy="523948"/>
          </a:xfrm>
          <a:prstGeom prst="rect">
            <a:avLst/>
          </a:prstGeom>
        </p:spPr>
      </p:pic>
    </p:spTree>
    <p:extLst>
      <p:ext uri="{BB962C8B-B14F-4D97-AF65-F5344CB8AC3E}">
        <p14:creationId xmlns:p14="http://schemas.microsoft.com/office/powerpoint/2010/main" val="29772988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t>Законы фарадея</a:t>
            </a:r>
            <a:endParaRPr lang="ru-RU" sz="3200" dirty="0"/>
          </a:p>
        </p:txBody>
      </p:sp>
      <p:sp>
        <p:nvSpPr>
          <p:cNvPr id="3" name="Объект 2"/>
          <p:cNvSpPr>
            <a:spLocks noGrp="1"/>
          </p:cNvSpPr>
          <p:nvPr>
            <p:ph idx="1"/>
          </p:nvPr>
        </p:nvSpPr>
        <p:spPr/>
        <p:txBody>
          <a:bodyPr/>
          <a:lstStyle/>
          <a:p>
            <a:pPr marL="0" indent="0">
              <a:buNone/>
            </a:pPr>
            <a:r>
              <a:rPr lang="ru-RU" dirty="0"/>
              <a:t>Фарадей предложил терминологию этих ионов по признаку того электрода, к которому они движутся. Положительные ионы называются катионами, потому что они движутся к отрицательно заряженному катоду, отрицательные заряды называются анионами как движущиеся к аноду</a:t>
            </a:r>
            <a:r>
              <a:rPr lang="ru-RU" dirty="0" smtClean="0"/>
              <a:t>.</a:t>
            </a:r>
          </a:p>
          <a:p>
            <a:pPr marL="0" indent="0">
              <a:buNone/>
            </a:pPr>
            <a:r>
              <a:rPr lang="ru-RU" dirty="0"/>
              <a:t>Помимо растворов, проводниками второго рода могут быть и расплавы. В этом случае наличие свободных ионов достигается тем, что при высокой температуре начинаются очень активные молекулярные движения и колебания, в результате которых и происходит разрушение молекул на ионы.</a:t>
            </a:r>
            <a:endParaRPr lang="ru-RU" dirty="0"/>
          </a:p>
        </p:txBody>
      </p:sp>
    </p:spTree>
    <p:extLst>
      <p:ext uri="{BB962C8B-B14F-4D97-AF65-F5344CB8AC3E}">
        <p14:creationId xmlns:p14="http://schemas.microsoft.com/office/powerpoint/2010/main" val="22962781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a:t>Практическое применение электролиза</a:t>
            </a:r>
          </a:p>
        </p:txBody>
      </p:sp>
      <p:sp>
        <p:nvSpPr>
          <p:cNvPr id="3" name="Объект 2"/>
          <p:cNvSpPr>
            <a:spLocks noGrp="1"/>
          </p:cNvSpPr>
          <p:nvPr>
            <p:ph idx="1"/>
          </p:nvPr>
        </p:nvSpPr>
        <p:spPr>
          <a:xfrm>
            <a:off x="685801" y="1788908"/>
            <a:ext cx="9495691" cy="4620684"/>
          </a:xfrm>
        </p:spPr>
        <p:txBody>
          <a:bodyPr>
            <a:normAutofit lnSpcReduction="10000"/>
          </a:bodyPr>
          <a:lstStyle/>
          <a:p>
            <a:pPr marL="0" indent="0">
              <a:buNone/>
            </a:pPr>
            <a:r>
              <a:rPr lang="ru-RU" dirty="0"/>
              <a:t>Первое практическое применение электролиза произошло в 1838 году русским ученым Якоби. С помощью электролиза он получил оттиск фигур для Исаакиевского собора. Такое применение электролиза получило название гальванопластика. Другой сферой применения является гальваностегия – покрытие одного металла другим (хромирование, никелирование, золочение и </a:t>
            </a:r>
            <a:r>
              <a:rPr lang="ru-RU" dirty="0" smtClean="0"/>
              <a:t>т.д.)</a:t>
            </a:r>
          </a:p>
          <a:p>
            <a:pPr marL="0" indent="0">
              <a:buNone/>
            </a:pPr>
            <a:endParaRPr lang="ru-RU" dirty="0"/>
          </a:p>
          <a:p>
            <a:pPr marL="0" indent="0">
              <a:buNone/>
            </a:pPr>
            <a:endParaRPr lang="ru-RU" dirty="0" smtClean="0"/>
          </a:p>
          <a:p>
            <a:pPr marL="0" indent="0">
              <a:buNone/>
            </a:pPr>
            <a:endParaRPr lang="ru-RU" dirty="0"/>
          </a:p>
          <a:p>
            <a:pPr marL="0" indent="0">
              <a:buNone/>
            </a:pPr>
            <a:endParaRPr lang="ru-RU" dirty="0" smtClean="0"/>
          </a:p>
          <a:p>
            <a:pPr marL="0" indent="0">
              <a:buNone/>
            </a:pPr>
            <a:endParaRPr lang="ru-RU" dirty="0"/>
          </a:p>
          <a:p>
            <a:pPr marL="0" indent="0">
              <a:buNone/>
            </a:pPr>
            <a:endParaRPr lang="ru-RU" dirty="0" smtClean="0"/>
          </a:p>
          <a:p>
            <a:pPr marL="0" indent="0">
              <a:buNone/>
            </a:pPr>
            <a:r>
              <a:rPr lang="ru-RU" dirty="0"/>
              <a:t>Также электролиз применяется в металлургии для выплавки редких металлов в чистом виде (алюминий, натрий, кальций, магний</a:t>
            </a:r>
            <a:r>
              <a:rPr lang="ru-RU" dirty="0" smtClean="0"/>
              <a:t>).</a:t>
            </a:r>
            <a:r>
              <a:rPr lang="ru-RU" dirty="0"/>
              <a:t/>
            </a:r>
            <a:br>
              <a:rPr lang="ru-RU" dirty="0"/>
            </a:br>
            <a:endParaRPr lang="ru-RU" dirty="0"/>
          </a:p>
        </p:txBody>
      </p:sp>
      <p:pic>
        <p:nvPicPr>
          <p:cNvPr id="6146" name="Picture 2" descr="https://static-interneturok.cdnvideo.ru/content/konspekt_image/94614/6ae695f0_73f9_0131_6fb1_12313d221ea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117" y="3400993"/>
            <a:ext cx="2164247" cy="167347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static-interneturok.cdnvideo.ru/content/konspekt_image/94615/6c701760_73f9_0131_6fb2_12313d221ea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1356" y="3400993"/>
            <a:ext cx="2036582" cy="1673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81496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E84A32-B8C8-490E-94BD-E12526153F6A}"/>
              </a:ext>
            </a:extLst>
          </p:cNvPr>
          <p:cNvSpPr>
            <a:spLocks noGrp="1"/>
          </p:cNvSpPr>
          <p:nvPr>
            <p:ph type="title"/>
          </p:nvPr>
        </p:nvSpPr>
        <p:spPr/>
        <p:txBody>
          <a:bodyPr/>
          <a:lstStyle/>
          <a:p>
            <a:r>
              <a:rPr lang="ru-RU" dirty="0"/>
              <a:t>Список литературы</a:t>
            </a:r>
          </a:p>
        </p:txBody>
      </p:sp>
      <p:sp>
        <p:nvSpPr>
          <p:cNvPr id="3" name="Объект 2">
            <a:extLst>
              <a:ext uri="{FF2B5EF4-FFF2-40B4-BE49-F238E27FC236}">
                <a16:creationId xmlns:a16="http://schemas.microsoft.com/office/drawing/2014/main" id="{2AF9375A-D94D-4675-9409-870D197158F1}"/>
              </a:ext>
            </a:extLst>
          </p:cNvPr>
          <p:cNvSpPr>
            <a:spLocks noGrp="1"/>
          </p:cNvSpPr>
          <p:nvPr>
            <p:ph idx="1"/>
          </p:nvPr>
        </p:nvSpPr>
        <p:spPr/>
        <p:txBody>
          <a:bodyPr/>
          <a:lstStyle/>
          <a:p>
            <a:pPr marL="342900" indent="-342900">
              <a:buFont typeface="+mj-lt"/>
              <a:buAutoNum type="arabicPeriod"/>
            </a:pPr>
            <a:r>
              <a:rPr lang="ru-RU" dirty="0">
                <a:hlinkClick r:id="rId2"/>
              </a:rPr>
              <a:t>Электрический ток в газах. Видеоурок. Физика 10 Класс (interneturok.ru)</a:t>
            </a:r>
            <a:endParaRPr lang="ru-RU" dirty="0"/>
          </a:p>
          <a:p>
            <a:pPr marL="342900" indent="-342900">
              <a:buFont typeface="+mj-lt"/>
              <a:buAutoNum type="arabicPeriod"/>
            </a:pPr>
            <a:r>
              <a:rPr lang="ru-RU" dirty="0">
                <a:hlinkClick r:id="rId3"/>
              </a:rPr>
              <a:t>Электрический ток в полупроводниках. Видеоурок. Физика 10 Класс (interneturok.ru)</a:t>
            </a:r>
            <a:endParaRPr lang="ru-RU" dirty="0"/>
          </a:p>
          <a:p>
            <a:pPr marL="342900" indent="-342900">
              <a:buFont typeface="+mj-lt"/>
              <a:buAutoNum type="arabicPeriod"/>
            </a:pPr>
            <a:r>
              <a:rPr lang="ru-RU" dirty="0">
                <a:hlinkClick r:id="rId4"/>
              </a:rPr>
              <a:t>Электрический ток в жидкостях. Видеоурок. Физика 10 Класс (interneturok.ru)</a:t>
            </a:r>
            <a:endParaRPr lang="ru-RU" dirty="0"/>
          </a:p>
        </p:txBody>
      </p:sp>
    </p:spTree>
    <p:extLst>
      <p:ext uri="{BB962C8B-B14F-4D97-AF65-F5344CB8AC3E}">
        <p14:creationId xmlns:p14="http://schemas.microsoft.com/office/powerpoint/2010/main" val="424052139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Небесная">
  <a:themeElements>
    <a:clrScheme name="Небесная">
      <a:dk1>
        <a:sysClr val="windowText" lastClr="000000"/>
      </a:dk1>
      <a:lt1>
        <a:sysClr val="window" lastClr="FFFFFF"/>
      </a:lt1>
      <a:dk2>
        <a:srgbClr val="104C7E"/>
      </a:dk2>
      <a:lt2>
        <a:srgbClr val="EBEBEB"/>
      </a:lt2>
      <a:accent1>
        <a:srgbClr val="94CE67"/>
      </a:accent1>
      <a:accent2>
        <a:srgbClr val="49D1CD"/>
      </a:accent2>
      <a:accent3>
        <a:srgbClr val="61A5D6"/>
      </a:accent3>
      <a:accent4>
        <a:srgbClr val="9D8CD3"/>
      </a:accent4>
      <a:accent5>
        <a:srgbClr val="E45C8A"/>
      </a:accent5>
      <a:accent6>
        <a:srgbClr val="F98C61"/>
      </a:accent6>
      <a:hlink>
        <a:srgbClr val="AAF172"/>
      </a:hlink>
      <a:folHlink>
        <a:srgbClr val="E7F19A"/>
      </a:folHlink>
    </a:clrScheme>
    <a:fontScheme name="Небес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Небесная">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E44E6A2F-09CD-4BE0-B42D-107FF03CEED6}"/>
    </a:ext>
  </a:extLst>
</a:theme>
</file>

<file path=docProps/app.xml><?xml version="1.0" encoding="utf-8"?>
<Properties xmlns="http://schemas.openxmlformats.org/officeDocument/2006/extended-properties" xmlns:vt="http://schemas.openxmlformats.org/officeDocument/2006/docPropsVTypes">
  <Template>TM03457452[[fn=Небесная]]</Template>
  <TotalTime>101</TotalTime>
  <Words>1439</Words>
  <Application>Microsoft Office PowerPoint</Application>
  <PresentationFormat>Широкоэкранный</PresentationFormat>
  <Paragraphs>110</Paragraphs>
  <Slides>20</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20</vt:i4>
      </vt:variant>
    </vt:vector>
  </HeadingPairs>
  <TitlesOfParts>
    <vt:vector size="27" baseType="lpstr">
      <vt:lpstr>-apple-system</vt:lpstr>
      <vt:lpstr>Arial</vt:lpstr>
      <vt:lpstr>Calibri</vt:lpstr>
      <vt:lpstr>Calibri Light</vt:lpstr>
      <vt:lpstr>Museo Sans Cyrl</vt:lpstr>
      <vt:lpstr>Times New Roman</vt:lpstr>
      <vt:lpstr>Небесная</vt:lpstr>
      <vt:lpstr>Электрический ток в полупроводниках, газах и жидкостях.</vt:lpstr>
      <vt:lpstr>Содержание</vt:lpstr>
      <vt:lpstr>Полупроводники. Зависимость сопротивления полупроводников от температуры</vt:lpstr>
      <vt:lpstr>Тип проводимости полупроводников</vt:lpstr>
      <vt:lpstr>Тип проводимости полупроводников</vt:lpstr>
      <vt:lpstr>p-n переход</vt:lpstr>
      <vt:lpstr>Полупроводниковые приборы</vt:lpstr>
      <vt:lpstr>Электрический ток в газах. Ионизация газа</vt:lpstr>
      <vt:lpstr>Газовый разряд</vt:lpstr>
      <vt:lpstr>Применение газового разряда</vt:lpstr>
      <vt:lpstr>Плазма</vt:lpstr>
      <vt:lpstr>Плазма</vt:lpstr>
      <vt:lpstr>Применение плазмы</vt:lpstr>
      <vt:lpstr>Электрический ток в жидкостях</vt:lpstr>
      <vt:lpstr>Электролиз</vt:lpstr>
      <vt:lpstr>Законы Фарадея</vt:lpstr>
      <vt:lpstr>Законы Фарадея</vt:lpstr>
      <vt:lpstr>Законы фарадея</vt:lpstr>
      <vt:lpstr>Практическое применение электролиза</vt:lpstr>
      <vt:lpstr>Список литературы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Электрический ток в полупроводниках, газах и жидкостях.</dc:title>
  <dc:creator>Student S.S.</dc:creator>
  <cp:lastModifiedBy>Admin</cp:lastModifiedBy>
  <cp:revision>82</cp:revision>
  <dcterms:created xsi:type="dcterms:W3CDTF">2023-02-16T09:10:07Z</dcterms:created>
  <dcterms:modified xsi:type="dcterms:W3CDTF">2023-02-16T15:41:49Z</dcterms:modified>
</cp:coreProperties>
</file>
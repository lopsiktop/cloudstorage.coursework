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udio/unknown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Default Extension="wav" ContentType="audio/wav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8"/>
  </p:notesMasterIdLst>
  <p:sldIdLst>
    <p:sldId id="256" r:id="rId2"/>
    <p:sldId id="273" r:id="rId3"/>
    <p:sldId id="264" r:id="rId4"/>
    <p:sldId id="265" r:id="rId5"/>
    <p:sldId id="257" r:id="rId6"/>
    <p:sldId id="258" r:id="rId7"/>
    <p:sldId id="272" r:id="rId8"/>
    <p:sldId id="274" r:id="rId9"/>
    <p:sldId id="275" r:id="rId10"/>
    <p:sldId id="266" r:id="rId11"/>
    <p:sldId id="267" r:id="rId12"/>
    <p:sldId id="268" r:id="rId13"/>
    <p:sldId id="269" r:id="rId14"/>
    <p:sldId id="270" r:id="rId15"/>
    <p:sldId id="271" r:id="rId16"/>
    <p:sldId id="263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86" autoAdjust="0"/>
  </p:normalViewPr>
  <p:slideViewPr>
    <p:cSldViewPr>
      <p:cViewPr varScale="1">
        <p:scale>
          <a:sx n="65" d="100"/>
          <a:sy n="65" d="100"/>
        </p:scale>
        <p:origin x="-144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9EE3D-CCC7-4713-B80B-6CBDA1C89144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16A28-0FC0-46A4-8395-49E767D12C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48594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16A28-0FC0-46A4-8395-49E767D12C01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3290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Объект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Объект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Объект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Объект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pPr/>
              <a:t>22.12.2015</a:t>
            </a:fld>
            <a:endParaRPr lang="ru-RU"/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audio" Target="../media/audio1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2.bin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14348" y="2500306"/>
            <a:ext cx="8072494" cy="1805330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7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«Чашка чая»</a:t>
            </a:r>
            <a:endParaRPr lang="ru-RU" sz="7200" dirty="0" smtClean="0">
              <a:solidFill>
                <a:schemeClr val="tx1"/>
              </a:solidFill>
            </a:endParaRPr>
          </a:p>
          <a:p>
            <a:endParaRPr lang="ru-RU" dirty="0" smtClean="0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357422" y="4143380"/>
            <a:ext cx="6400800" cy="2071688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36513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6513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57686" y="3286124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513">
              <a:spcBef>
                <a:spcPct val="0"/>
              </a:spcBef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36513">
              <a:spcBef>
                <a:spcPct val="0"/>
              </a:spcBef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36513">
              <a:spcBef>
                <a:spcPct val="0"/>
              </a:spcBef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36513">
              <a:spcBef>
                <a:spcPct val="0"/>
              </a:spcBef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36513">
              <a:spcBef>
                <a:spcPct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Выполнил: ученик  5-А класса</a:t>
            </a:r>
          </a:p>
          <a:p>
            <a:pPr marL="36513">
              <a:spcBef>
                <a:spcPct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МБОУ СОШ №1 ЩМР МО</a:t>
            </a:r>
          </a:p>
          <a:p>
            <a:pPr marL="36513">
              <a:spcBef>
                <a:spcPct val="0"/>
              </a:spcBef>
            </a:pP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Хорьяков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Матвей</a:t>
            </a:r>
          </a:p>
          <a:p>
            <a:pPr marL="36513">
              <a:spcBef>
                <a:spcPct val="0"/>
              </a:spcBef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36513">
              <a:spcBef>
                <a:spcPct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Руководитель: учитель биологии и химии</a:t>
            </a:r>
          </a:p>
          <a:p>
            <a:pPr marL="36513">
              <a:spcBef>
                <a:spcPct val="0"/>
              </a:spcBef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Фатьянова Л.А.</a:t>
            </a:r>
          </a:p>
        </p:txBody>
      </p:sp>
      <p:pic>
        <p:nvPicPr>
          <p:cNvPr id="7" name="Picture 16" descr="G:\P1060680 — копия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214291"/>
            <a:ext cx="2000264" cy="13364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</p:pic>
      <p:pic>
        <p:nvPicPr>
          <p:cNvPr id="8" name="Picture 2" descr="C:\Users\Лилия\Desktop\novyj_risunok_1_200_150_5_80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29454" y="214290"/>
            <a:ext cx="19050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Рисунок 12" descr="http://www.tea.ru/images/material-images/1green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5720" y="5179373"/>
            <a:ext cx="2428892" cy="167862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xmlns="" val="802820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500">
        <p:fade/>
        <p:sndAc>
          <p:stSnd>
            <p:snd r:embed="rId7" name="applause.wav"/>
          </p:stSnd>
        </p:sndAc>
      </p:transition>
    </mc:Choice>
    <mc:Fallback>
      <p:transition spd="slow">
        <p:fade/>
        <p:sndAc>
          <p:stSnd>
            <p:snd r:embed="rId3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142852"/>
            <a:ext cx="8686800" cy="4525963"/>
          </a:xfrm>
        </p:spPr>
        <p:txBody>
          <a:bodyPr/>
          <a:lstStyle/>
          <a:p>
            <a:r>
              <a:rPr lang="ru-RU" dirty="0" smtClean="0"/>
              <a:t>В моей семье очень часто пьют чай. И меня заинтересовал вопрос: почему многие люди с удовольствием пьют этот напиток. Так возникла тема для исследования «Чашка чая».</a:t>
            </a:r>
            <a:endParaRPr lang="ru-RU" dirty="0"/>
          </a:p>
        </p:txBody>
      </p:sp>
      <p:pic>
        <p:nvPicPr>
          <p:cNvPr id="1026" name="Picture 2" descr="C:\Users\Лилия\Desktop\20150130_14391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2132" y="2143116"/>
            <a:ext cx="2743208" cy="4495812"/>
          </a:xfrm>
          <a:prstGeom prst="rect">
            <a:avLst/>
          </a:prstGeom>
          <a:noFill/>
        </p:spPr>
      </p:pic>
      <p:pic>
        <p:nvPicPr>
          <p:cNvPr id="4" name="Picture 2" descr="C:\Documents and Settings\Admin\Рабочий стол\Научная работа\Новая папка\Новая папка (3)\182166_image_larg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25" y="3714752"/>
            <a:ext cx="3088710" cy="259555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88640"/>
            <a:ext cx="8686800" cy="6192687"/>
          </a:xfrm>
        </p:spPr>
        <p:txBody>
          <a:bodyPr>
            <a:normAutofit lnSpcReduction="10000"/>
          </a:bodyPr>
          <a:lstStyle/>
          <a:p>
            <a:endParaRPr lang="ru-RU" dirty="0" smtClean="0">
              <a:solidFill>
                <a:schemeClr val="tx1"/>
              </a:solidFill>
            </a:endParaRPr>
          </a:p>
          <a:p>
            <a:endParaRPr lang="ru-RU" dirty="0" smtClean="0">
              <a:solidFill>
                <a:schemeClr val="tx1"/>
              </a:solidFill>
            </a:endParaRPr>
          </a:p>
          <a:p>
            <a:r>
              <a:rPr lang="ru-RU" dirty="0" smtClean="0">
                <a:solidFill>
                  <a:schemeClr val="tx1"/>
                </a:solidFill>
              </a:rPr>
              <a:t>Цель работы:</a:t>
            </a:r>
            <a:r>
              <a:rPr lang="ru-RU" dirty="0" smtClean="0"/>
              <a:t> выяснить влияние чая на здоровье человека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Задачи:</a:t>
            </a:r>
          </a:p>
          <a:p>
            <a:pPr marL="0" indent="0">
              <a:buNone/>
            </a:pPr>
            <a:r>
              <a:rPr lang="ru-RU" dirty="0" smtClean="0"/>
              <a:t>1.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Узнать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историю появления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чая,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разновидности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чая;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Выяснить влияние чая на организм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человека;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3.Провести опыт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на выявление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кофеина, танина, кислотно-щелочного баланса чая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5. Провести анкетирование среди учащихся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МБОУ СОШ №1 ЩМР МО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680294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Этапы исследования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554163"/>
            <a:ext cx="6981844" cy="3089284"/>
          </a:xfrm>
        </p:spPr>
        <p:txBody>
          <a:bodyPr>
            <a:normAutofit/>
          </a:bodyPr>
          <a:lstStyle/>
          <a:p>
            <a:r>
              <a:rPr lang="ru-RU" dirty="0" smtClean="0"/>
              <a:t>Первый этап – подготовительный</a:t>
            </a:r>
          </a:p>
          <a:p>
            <a:r>
              <a:rPr lang="ru-RU" dirty="0" smtClean="0"/>
              <a:t>Второй этап – исследовательский</a:t>
            </a:r>
          </a:p>
          <a:p>
            <a:r>
              <a:rPr lang="ru-RU" dirty="0" smtClean="0"/>
              <a:t>Третий этап -  обобщение материалов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1027" name="Picture 3" descr="C:\Users\Лилия\Desktop\20150115_0817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9058" y="3429000"/>
            <a:ext cx="4929222" cy="30376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61745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85852" y="357166"/>
            <a:ext cx="6858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Упоминания про чайное растение относят к самым начальным столетиям нашей эры.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0034" y="1928802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/>
              <a:t> 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История чая включает в себя ряд спорным фактов, даже легенд, сохранившихся с того времени, по которым, например, родиной чая считается Китай. 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331640" y="3573016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Некоторые исторические источники утверждают, что в 350 году чайные кусты были введены в культуру Китая, а чуть позже в 805-810 годах они появились в Японии, и приблизительно в такое же время (в 828 годах) – Корее.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43570" y="1571612"/>
            <a:ext cx="3280829" cy="262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705207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42976" y="357166"/>
            <a:ext cx="3024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Свойство чая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42910" y="1071546"/>
            <a:ext cx="457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Чем больше мы любим какой-то продукт, тем больше мифов о нем сочиняем. Не обошло это правило и чай — о его свойствах, полезных и вредных, мы спорим до сих пор. С одной стороны, в нашем арсенале научные исследования, с другой — народные мнения и предрассудки, с третьей, наконец, наш собственный опыт, его ведь тоже не сбросишь со счетов…</a:t>
            </a:r>
            <a:br>
              <a:rPr lang="ru-RU" sz="2400" dirty="0"/>
            </a:br>
            <a:endParaRPr lang="ru-RU" sz="2400" dirty="0"/>
          </a:p>
        </p:txBody>
      </p:sp>
      <p:pic>
        <p:nvPicPr>
          <p:cNvPr id="4" name="Рисунок 3" descr="Зеленый чай защитит от грядущей пандемии свиного гриппа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3636" y="3714752"/>
            <a:ext cx="2379076" cy="164307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xmlns="" val="21271912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Picture 4" descr="C:\Users\Лилия\Desktop\20150115_0915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13686"/>
            <a:ext cx="5214974" cy="2600934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214282" y="1857364"/>
            <a:ext cx="58579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Я  </a:t>
            </a:r>
            <a:r>
              <a:rPr lang="ru-RU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провел анкетирование среди учащихся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МБ</a:t>
            </a:r>
            <a:r>
              <a:rPr lang="ru-RU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ОУ СОШ №1.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28596" y="2643182"/>
            <a:ext cx="507209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анкетировании приняли участие 61 человек. Анкета содержала следующие вопросы:</a:t>
            </a:r>
          </a:p>
          <a:p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Вопрос №1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Любишь ли ты чай?  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Ответы: да-51человек, нет-10человек; </a:t>
            </a:r>
          </a:p>
          <a:p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Вопрос №2</a:t>
            </a:r>
            <a:r>
              <a:rPr lang="ru-RU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Какой чай ты пьёшь? 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Ответы: Чёрный- 43 человека, зелёный-25 человек,  красный-6 человек;</a:t>
            </a:r>
          </a:p>
          <a:p>
            <a:r>
              <a:rPr lang="ru-RU" sz="2000" b="1" i="1" dirty="0" smtClean="0">
                <a:latin typeface="Times New Roman" pitchFamily="18" charset="0"/>
                <a:cs typeface="Times New Roman" pitchFamily="18" charset="0"/>
              </a:rPr>
              <a:t>Вопрос № 3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Как ты считаешь, чай полезен для здоровья? </a:t>
            </a: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Ответы: полезен - 34 человека, не полезен-1 человек, бесполезен – 26 человек.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22" name="Picture 2" descr="C:\Users\Лилия\Desktop\для проекта 6февраля 2015\image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57950" y="1214422"/>
            <a:ext cx="2509845" cy="2953225"/>
          </a:xfrm>
          <a:prstGeom prst="rect">
            <a:avLst/>
          </a:prstGeom>
          <a:noFill/>
        </p:spPr>
      </p:pic>
      <p:pic>
        <p:nvPicPr>
          <p:cNvPr id="30723" name="Picture 3" descr="C:\Users\Лилия\Desktop\20150116_08250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0694" y="4500570"/>
            <a:ext cx="3428992" cy="19288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85786" y="785794"/>
            <a:ext cx="73581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Мы рассмотрели три вида чая. Черный, зеленый и красный. В каждую из чашек мы насыпали по две чайных ложек заварки.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000496" y="3286124"/>
            <a:ext cx="4572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Залили одинаковым количеством кипяченой воды и оставили под крышкой на 7 минут. </a:t>
            </a:r>
          </a:p>
          <a:p>
            <a:endParaRPr lang="ru-RU" dirty="0" smtClean="0"/>
          </a:p>
        </p:txBody>
      </p:sp>
      <p:pic>
        <p:nvPicPr>
          <p:cNvPr id="5" name="Рисунок 4" descr="C:\Users\adm\Desktop\матвей\фото\P1030534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1214414" y="1714488"/>
            <a:ext cx="2839932" cy="15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Прямоугольник 8"/>
          <p:cNvSpPr/>
          <p:nvPr/>
        </p:nvSpPr>
        <p:spPr>
          <a:xfrm>
            <a:off x="4071934" y="4357694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После чего черный чай стал насыщенного черного цвета. Зеленый чай стал изумрудно-зеленого цвета, а красный чай, после прошедшего времени, стал чуть светлее черного.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 descr="C:\Users\adm\Desktop\матвей\фото\P1030535.JPG"/>
          <p:cNvPicPr/>
          <p:nvPr/>
        </p:nvPicPr>
        <p:blipFill>
          <a:blip r:embed="rId3" cstate="print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1000100" y="4714884"/>
            <a:ext cx="2786082" cy="1646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42910" y="428604"/>
            <a:ext cx="750099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вкус все три чая были очень вкусные  и имели приятный запах.  Черный чай имел терпкий  вкус. Зелёный – горчил. А красный вообще  обладал, каким то странным вкусом. Немного отдавал перчиком и кофеем одновременно.  После добавления лимона все три чая значительно посветлели, но вкус был превосходный.</a:t>
            </a:r>
          </a:p>
        </p:txBody>
      </p:sp>
      <p:pic>
        <p:nvPicPr>
          <p:cNvPr id="3" name="Рисунок 2" descr="C:\Users\adm\Desktop\матвей\фото\P1030536.JPG"/>
          <p:cNvPicPr/>
          <p:nvPr/>
        </p:nvPicPr>
        <p:blipFill>
          <a:blip r:embed="rId2" cstate="print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857224" y="2214554"/>
            <a:ext cx="3571900" cy="214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 descr="C:\Users\adm\Desktop\матвей\фото\P1030537.JPG"/>
          <p:cNvPicPr/>
          <p:nvPr/>
        </p:nvPicPr>
        <p:blipFill>
          <a:blip r:embed="rId3" cstate="print">
            <a:extLst>
              <a:ext uri="{28A0092B-C50C-407E-A947-70E740481C1C}">
                <a14:useLocalDpi xmlns="" xmlns:wpc="http://schemas.microsoft.com/office/word/2010/wordprocessingCanvas" xmlns:mc="http://schemas.openxmlformats.org/markup-compatibility/2006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4500562" y="4357694"/>
            <a:ext cx="3970344" cy="2313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85786" y="500042"/>
            <a:ext cx="607223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Анализ чая</a:t>
            </a:r>
            <a:br>
              <a:rPr lang="ru-RU" sz="2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Качественная реакция на кофеин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5720" y="1571612"/>
            <a:ext cx="464347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Ход работы.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На фарфоровую пластину Помещаем 0,1г. чая, добавляем 1 – 3 капли азотной концентрированной  кислоты.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Смесь осторожно выпариваем досуха. В результате окисления кофеина образуется </a:t>
            </a:r>
            <a:r>
              <a:rPr lang="ru-RU" sz="20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тетраметилалоксантин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оранжевого цвета. При реакции с концентрированным раствором аммиака это вещество превращается в </a:t>
            </a:r>
            <a:r>
              <a:rPr lang="ru-RU" sz="20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пурпурат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аммония.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000" u="sng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Вывод.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И черный и зеленый чай содержат кофеин. В зеленом чае кофеина содержится больше, чем в черном.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1200" dirty="0" smtClean="0">
              <a:solidFill>
                <a:schemeClr val="bg1"/>
              </a:solidFill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C:\Users\Лилия\Desktop\20150130_14484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28" y="3286124"/>
            <a:ext cx="3929090" cy="3286148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5357818" y="5786454"/>
            <a:ext cx="1200152" cy="5572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Зеленый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643702" y="4071942"/>
            <a:ext cx="1271590" cy="571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Красный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572396" y="5786454"/>
            <a:ext cx="1200152" cy="571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Черный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5720" y="500042"/>
            <a:ext cx="68580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Кофеин оказывает на организм определенное воздействие. Это воздействие зависит от попавшей в организм дозы данного вещества: в небольших количествах он тонизирует, но в больших – оказывает отрицательное воздействие на организм человека. Поэтому на вопрос, вреден ли кофеин, медики отвечают однозначно: людям с определенными заболеваниями вреден, здоровым – в определенных дозах безвреден и даже полезен.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13 of the Coolest Coffee Mugs Ever Fork Part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6380" y="3857628"/>
            <a:ext cx="3577161" cy="27860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42976" y="500042"/>
            <a:ext cx="508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Определение танина в чае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4282" y="1357298"/>
            <a:ext cx="407196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ru-RU" sz="2400" u="sng" dirty="0" smtClean="0">
                <a:latin typeface="Times New Roman" pitchFamily="18" charset="0"/>
                <a:cs typeface="Times New Roman" pitchFamily="18" charset="0"/>
              </a:rPr>
              <a:t>Ход работы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К 1мл. раствора  чая добавляем 1 – 2 капли хлорида железа(3). При наличие танина в чае наблюдали появление темно-фиолетового окрашивания. Содержание танина в чае определяем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визуально-колометрическим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методом. </a:t>
            </a:r>
            <a:r>
              <a:rPr lang="ru-RU" sz="2400" u="sng" dirty="0" smtClean="0">
                <a:latin typeface="Times New Roman" pitchFamily="18" charset="0"/>
                <a:cs typeface="Times New Roman" pitchFamily="18" charset="0"/>
              </a:rPr>
              <a:t>Выводы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Танин содержится и в черном и в зеленом чае. Танина в чаях больше, чем кофеина.</a:t>
            </a:r>
          </a:p>
        </p:txBody>
      </p:sp>
      <p:pic>
        <p:nvPicPr>
          <p:cNvPr id="27651" name="Picture 3" descr="C:\Users\Лилия\Desktop\20150130_14303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5140" y="285728"/>
            <a:ext cx="2214578" cy="3143272"/>
          </a:xfrm>
          <a:prstGeom prst="rect">
            <a:avLst/>
          </a:prstGeom>
          <a:noFill/>
        </p:spPr>
      </p:pic>
      <p:pic>
        <p:nvPicPr>
          <p:cNvPr id="27652" name="Picture 4" descr="C:\Users\Лилия\Desktop\20150130_14301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7686" y="3429000"/>
            <a:ext cx="2363790" cy="320199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1538" y="642918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Применение танина</a:t>
            </a:r>
            <a:br>
              <a:rPr lang="ru-RU" sz="3200" b="1" dirty="0" smtClean="0">
                <a:latin typeface="Times New Roman" pitchFamily="18" charset="0"/>
                <a:cs typeface="Times New Roman" pitchFamily="18" charset="0"/>
              </a:rPr>
            </a:b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8596" y="1500174"/>
            <a:ext cx="75724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Танин используют для придания различным напиткам терпкого и вяжущего вкуса и как пищевой краситель (E181), как вяжущие лекарственные средства, как антидот (при отравлении солями свинца, ртути и др.).</a:t>
            </a:r>
          </a:p>
        </p:txBody>
      </p:sp>
      <p:pic>
        <p:nvPicPr>
          <p:cNvPr id="28674" name="Picture 2" descr="медицина танин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48" y="3786190"/>
            <a:ext cx="4286250" cy="2857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14348" y="357166"/>
            <a:ext cx="81702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Определение кислотно-щелочного баланса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7158" y="1714488"/>
            <a:ext cx="4572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buNone/>
            </a:pPr>
            <a:r>
              <a:rPr lang="ru-RU" sz="2800" u="sng" dirty="0" smtClean="0">
                <a:latin typeface="Times New Roman" pitchFamily="18" charset="0"/>
                <a:cs typeface="Times New Roman" pitchFamily="18" charset="0"/>
              </a:rPr>
              <a:t>Ход работы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В пробирку с чаем опускаем индикаторную бумажку для определения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pH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а затем сравниваем ее с эталоном.</a:t>
            </a:r>
          </a:p>
          <a:p>
            <a:pPr algn="just">
              <a:buNone/>
            </a:pPr>
            <a:r>
              <a:rPr lang="ru-RU" sz="2800" u="sng" dirty="0" smtClean="0">
                <a:latin typeface="Times New Roman" pitchFamily="18" charset="0"/>
                <a:cs typeface="Times New Roman" pitchFamily="18" charset="0"/>
              </a:rPr>
              <a:t> Вывод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Раствор окрасил индикатор в светло-зеленый цвет. Следовательно у чая слабощелочная реакция среды.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698" name="Picture 2" descr="C:\Users\Лилия\Desktop\20150130_14335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43570" y="3357562"/>
            <a:ext cx="3293852" cy="3292480"/>
          </a:xfrm>
          <a:prstGeom prst="rect">
            <a:avLst/>
          </a:prstGeom>
          <a:noFill/>
        </p:spPr>
      </p:pic>
      <p:pic>
        <p:nvPicPr>
          <p:cNvPr id="29700" name="Picture 4" descr="Химия и Химики 3 2012. Индикаторы и красители - фотографии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1142985"/>
            <a:ext cx="2800300" cy="19288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00166" y="642918"/>
            <a:ext cx="17201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Выводы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4282" y="1500174"/>
            <a:ext cx="578647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результате исследования я обнаружил много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интересного  и  сделал следующие выводы:</a:t>
            </a:r>
          </a:p>
          <a:p>
            <a:pPr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Танин и кофеин содержится и в черном и в зеленом чае. Танина в чаях больше, чем кофеина. </a:t>
            </a:r>
          </a:p>
          <a:p>
            <a:pPr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Зеленый чай содержит танина и кофеина больше, чем черный.</a:t>
            </a:r>
          </a:p>
          <a:p>
            <a:pPr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 чая слабощелочная реакция среды.</a:t>
            </a:r>
          </a:p>
          <a:p>
            <a:pPr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Употребление чая оказывает  благотворное воздействие на самые различные системы органов человека.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Documents and Settings\Admin\Рабочий стол\Научная работа\Новая папка\Новая папка (3)\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60" y="4143380"/>
            <a:ext cx="2714644" cy="20450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 descr="C:\Documents and Settings\Admin\Рабочий стол\Научная работа\Новая папка\Новая папка (3)\d0fd7d3e16a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43570" y="214290"/>
            <a:ext cx="3357586" cy="22006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6096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001813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500">
        <p14:window dir="vert"/>
        <p:sndAc>
          <p:stSnd>
            <p:snd r:embed="rId4" name="chimes.wav"/>
          </p:stSnd>
        </p:sndAc>
      </p:transition>
    </mc:Choice>
    <mc:Fallback>
      <p:transition spd="slow">
        <p:fad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426</TotalTime>
  <Words>788</Words>
  <Application>Microsoft Office PowerPoint</Application>
  <PresentationFormat>Экран (4:3)</PresentationFormat>
  <Paragraphs>66</Paragraphs>
  <Slides>16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Трек</vt:lpstr>
      <vt:lpstr>Слайд 1</vt:lpstr>
      <vt:lpstr>Слайд 2</vt:lpstr>
      <vt:lpstr>Слайд 3</vt:lpstr>
      <vt:lpstr>Этапы исследования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«Чашка чая»</dc:title>
  <dc:creator>adm</dc:creator>
  <cp:lastModifiedBy>Owner</cp:lastModifiedBy>
  <cp:revision>34</cp:revision>
  <dcterms:created xsi:type="dcterms:W3CDTF">2015-01-20T17:52:36Z</dcterms:created>
  <dcterms:modified xsi:type="dcterms:W3CDTF">2015-12-22T09:35:21Z</dcterms:modified>
</cp:coreProperties>
</file>